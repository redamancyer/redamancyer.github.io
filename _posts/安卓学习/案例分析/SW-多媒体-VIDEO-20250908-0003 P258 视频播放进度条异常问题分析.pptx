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7" r:id="rId2"/>
    <p:sldMasterId id="2147483669" r:id="rId3"/>
    <p:sldMasterId id="2147483680" r:id="rId4"/>
  </p:sldMasterIdLst>
  <p:notesMasterIdLst>
    <p:notesMasterId r:id="rId23"/>
  </p:notesMasterIdLst>
  <p:sldIdLst>
    <p:sldId id="6170" r:id="rId5"/>
    <p:sldId id="1394" r:id="rId6"/>
    <p:sldId id="6162" r:id="rId7"/>
    <p:sldId id="1401" r:id="rId8"/>
    <p:sldId id="6171" r:id="rId9"/>
    <p:sldId id="1379" r:id="rId10"/>
    <p:sldId id="6172" r:id="rId11"/>
    <p:sldId id="1389" r:id="rId12"/>
    <p:sldId id="6173" r:id="rId13"/>
    <p:sldId id="1385" r:id="rId14"/>
    <p:sldId id="6194" r:id="rId15"/>
    <p:sldId id="6195" r:id="rId16"/>
    <p:sldId id="6196" r:id="rId17"/>
    <p:sldId id="6174" r:id="rId18"/>
    <p:sldId id="6193" r:id="rId19"/>
    <p:sldId id="6175" r:id="rId20"/>
    <p:sldId id="1380" r:id="rId21"/>
    <p:sldId id="6176"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609"/>
    <a:srgbClr val="CF3138"/>
    <a:srgbClr val="3333FF"/>
    <a:srgbClr val="BA494F"/>
    <a:srgbClr val="FFFFFF"/>
    <a:srgbClr val="C44F3C"/>
    <a:srgbClr val="7CA193"/>
    <a:srgbClr val="1010F0"/>
    <a:srgbClr val="A5B07B"/>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777" autoAdjust="0"/>
    <p:restoredTop sz="93963" autoAdjust="0"/>
  </p:normalViewPr>
  <p:slideViewPr>
    <p:cSldViewPr snapToGrid="0" showGuides="1">
      <p:cViewPr varScale="1">
        <p:scale>
          <a:sx n="127" d="100"/>
          <a:sy n="127" d="100"/>
        </p:scale>
        <p:origin x="328" y="19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800AD-93AD-4C4C-85DD-6086F39F5F44}"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8361D-8C5B-4832-B897-84B74FD7AE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a:xfrm>
            <a:off x="171669" y="6401522"/>
            <a:ext cx="4114800" cy="365125"/>
          </a:xfrm>
        </p:spPr>
        <p:txBody>
          <a:bodyPr/>
          <a:lstStyle>
            <a:lvl1pPr algn="l">
              <a:defRPr sz="1600" i="1">
                <a:solidFill>
                  <a:schemeClr val="bg1">
                    <a:lumMod val="50000"/>
                  </a:schemeClr>
                </a:solidFill>
              </a:defRPr>
            </a:lvl1pPr>
          </a:lstStyle>
          <a:p>
            <a:r>
              <a:rPr lang="en-GB"/>
              <a:t>Company Name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2400" b="0" kern="1200" spc="200" baseline="0">
          <a:ln>
            <a:noFill/>
          </a:ln>
          <a:solidFill>
            <a:srgbClr val="53585B"/>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A2691-C292-4C45-BE27-81DB2E216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标题 4"/>
          <p:cNvSpPr txBox="1"/>
          <p:nvPr/>
        </p:nvSpPr>
        <p:spPr>
          <a:xfrm>
            <a:off x="0" y="2722999"/>
            <a:ext cx="12192022" cy="1243584"/>
          </a:xfrm>
          <a:prstGeom prst="rect">
            <a:avLst/>
          </a:prstGeom>
          <a:effectLst>
            <a:outerShdw blurRad="152400" dist="190500" dir="5400000" algn="t" rotWithShape="0">
              <a:srgbClr val="000000">
                <a:alpha val="37000"/>
              </a:srgbClr>
            </a:outerShdw>
          </a:effectLst>
        </p:spPr>
        <p:txBody>
          <a:bodyPr vert="horz" wrap="square" lIns="91440" tIns="45720" rIns="91440" bIns="45720" rtlCol="0" anchor="ctr">
            <a:noAutofit/>
          </a:bodyPr>
          <a:lstStyle>
            <a:lvl1pPr algn="l" defTabSz="914400" rtl="0" eaLnBrk="1" latinLnBrk="0" hangingPunct="1">
              <a:lnSpc>
                <a:spcPct val="90000"/>
              </a:lnSpc>
              <a:spcBef>
                <a:spcPct val="0"/>
              </a:spcBef>
              <a:buNone/>
              <a:defRPr lang="zh-CN" altLang="en-US" sz="4800" b="1" kern="1200" spc="300">
                <a:ln w="635">
                  <a:noFill/>
                </a:ln>
                <a:solidFill>
                  <a:schemeClr val="bg1"/>
                </a:soli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SW-</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多媒体</a:t>
            </a: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-VIDEO-20250908-0003 P258 MOV</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视频播放进度条异常问题分析</a:t>
            </a:r>
            <a:endParaRPr kumimoji="0" lang="zh-CN" altLang="en-US" sz="1800" b="0" i="0" u="none" strike="noStrike" kern="1200" cap="none" spc="300" normalizeH="0" baseline="0" noProof="0" dirty="0">
              <a:ln w="635">
                <a:noFill/>
              </a:ln>
              <a:solidFill>
                <a:schemeClr val="bg1">
                  <a:lumMod val="6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a:graphicFrameLocks noGrp="1"/>
          </p:cNvGraphicFramePr>
          <p:nvPr>
            <p:extLst>
              <p:ext uri="{D42A27DB-BD31-4B8C-83A1-F6EECF244321}">
                <p14:modId xmlns:p14="http://schemas.microsoft.com/office/powerpoint/2010/main" val="603373940"/>
              </p:ext>
            </p:extLst>
          </p:nvPr>
        </p:nvGraphicFramePr>
        <p:xfrm>
          <a:off x="3731466" y="4650874"/>
          <a:ext cx="6502779" cy="1318335"/>
        </p:xfrm>
        <a:graphic>
          <a:graphicData uri="http://schemas.openxmlformats.org/drawingml/2006/table">
            <a:tbl>
              <a:tblPr/>
              <a:tblGrid>
                <a:gridCol w="1980979">
                  <a:extLst>
                    <a:ext uri="{9D8B030D-6E8A-4147-A177-3AD203B41FA5}">
                      <a16:colId xmlns:a16="http://schemas.microsoft.com/office/drawing/2014/main" val="20000"/>
                    </a:ext>
                  </a:extLst>
                </a:gridCol>
                <a:gridCol w="4521800">
                  <a:extLst>
                    <a:ext uri="{9D8B030D-6E8A-4147-A177-3AD203B41FA5}">
                      <a16:colId xmlns:a16="http://schemas.microsoft.com/office/drawing/2014/main" val="20001"/>
                    </a:ext>
                  </a:extLst>
                </a:gridCol>
              </a:tblGrid>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提交人</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团队</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u="none" strike="noStrike">
                          <a:solidFill>
                            <a:schemeClr val="tx1"/>
                          </a:solidFill>
                          <a:effectLst/>
                          <a:latin typeface="微软雅黑" panose="020B0503020204020204" pitchFamily="34" charset="-122"/>
                          <a:ea typeface="微软雅黑" panose="020B0503020204020204" pitchFamily="34" charset="-122"/>
                        </a:rPr>
                        <a:t>第一事业部</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伍方健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审核人员：</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i="0" u="none" strike="noStrike">
                          <a:solidFill>
                            <a:schemeClr val="tx1"/>
                          </a:solidFill>
                          <a:effectLst/>
                          <a:latin typeface="微软雅黑" panose="020B0503020204020204" pitchFamily="34" charset="-122"/>
                          <a:ea typeface="微软雅黑" panose="020B0503020204020204" pitchFamily="34" charset="-122"/>
                        </a:rPr>
                        <a:t>项俊</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提交日期：</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en-US" sz="1800" b="0" u="none" strike="noStrike">
                          <a:solidFill>
                            <a:schemeClr val="tx1"/>
                          </a:solidFill>
                          <a:effectLst/>
                          <a:latin typeface="微软雅黑" panose="020B0503020204020204" pitchFamily="34" charset="-122"/>
                          <a:ea typeface="微软雅黑" panose="020B0503020204020204" pitchFamily="34" charset="-122"/>
                        </a:rPr>
                        <a:t>2025</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年</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9</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月</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8</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1729835915"/>
              </p:ext>
            </p:extLst>
          </p:nvPr>
        </p:nvGraphicFramePr>
        <p:xfrm>
          <a:off x="175581" y="584352"/>
          <a:ext cx="11840837" cy="782810"/>
        </p:xfrm>
        <a:graphic>
          <a:graphicData uri="http://schemas.openxmlformats.org/drawingml/2006/table">
            <a:tbl>
              <a:tblPr/>
              <a:tblGrid>
                <a:gridCol w="1120079">
                  <a:extLst>
                    <a:ext uri="{9D8B030D-6E8A-4147-A177-3AD203B41FA5}">
                      <a16:colId xmlns:a16="http://schemas.microsoft.com/office/drawing/2014/main" val="20000"/>
                    </a:ext>
                  </a:extLst>
                </a:gridCol>
                <a:gridCol w="1060075">
                  <a:extLst>
                    <a:ext uri="{9D8B030D-6E8A-4147-A177-3AD203B41FA5}">
                      <a16:colId xmlns:a16="http://schemas.microsoft.com/office/drawing/2014/main" val="20001"/>
                    </a:ext>
                  </a:extLst>
                </a:gridCol>
                <a:gridCol w="1060075">
                  <a:extLst>
                    <a:ext uri="{9D8B030D-6E8A-4147-A177-3AD203B41FA5}">
                      <a16:colId xmlns:a16="http://schemas.microsoft.com/office/drawing/2014/main" val="20002"/>
                    </a:ext>
                  </a:extLst>
                </a:gridCol>
                <a:gridCol w="1060075">
                  <a:extLst>
                    <a:ext uri="{9D8B030D-6E8A-4147-A177-3AD203B41FA5}">
                      <a16:colId xmlns:a16="http://schemas.microsoft.com/office/drawing/2014/main" val="20003"/>
                    </a:ext>
                  </a:extLst>
                </a:gridCol>
                <a:gridCol w="1060075">
                  <a:extLst>
                    <a:ext uri="{9D8B030D-6E8A-4147-A177-3AD203B41FA5}">
                      <a16:colId xmlns:a16="http://schemas.microsoft.com/office/drawing/2014/main" val="20004"/>
                    </a:ext>
                  </a:extLst>
                </a:gridCol>
                <a:gridCol w="1060075">
                  <a:extLst>
                    <a:ext uri="{9D8B030D-6E8A-4147-A177-3AD203B41FA5}">
                      <a16:colId xmlns:a16="http://schemas.microsoft.com/office/drawing/2014/main" val="20005"/>
                    </a:ext>
                  </a:extLst>
                </a:gridCol>
                <a:gridCol w="1060075">
                  <a:extLst>
                    <a:ext uri="{9D8B030D-6E8A-4147-A177-3AD203B41FA5}">
                      <a16:colId xmlns:a16="http://schemas.microsoft.com/office/drawing/2014/main" val="20006"/>
                    </a:ext>
                  </a:extLst>
                </a:gridCol>
                <a:gridCol w="1120079">
                  <a:extLst>
                    <a:ext uri="{9D8B030D-6E8A-4147-A177-3AD203B41FA5}">
                      <a16:colId xmlns:a16="http://schemas.microsoft.com/office/drawing/2014/main" val="20007"/>
                    </a:ext>
                  </a:extLst>
                </a:gridCol>
                <a:gridCol w="1060075">
                  <a:extLst>
                    <a:ext uri="{9D8B030D-6E8A-4147-A177-3AD203B41FA5}">
                      <a16:colId xmlns:a16="http://schemas.microsoft.com/office/drawing/2014/main" val="20008"/>
                    </a:ext>
                  </a:extLst>
                </a:gridCol>
                <a:gridCol w="1120079">
                  <a:extLst>
                    <a:ext uri="{9D8B030D-6E8A-4147-A177-3AD203B41FA5}">
                      <a16:colId xmlns:a16="http://schemas.microsoft.com/office/drawing/2014/main" val="20009"/>
                    </a:ext>
                  </a:extLst>
                </a:gridCol>
                <a:gridCol w="1060075">
                  <a:extLst>
                    <a:ext uri="{9D8B030D-6E8A-4147-A177-3AD203B41FA5}">
                      <a16:colId xmlns:a16="http://schemas.microsoft.com/office/drawing/2014/main" val="20010"/>
                    </a:ext>
                  </a:extLst>
                </a:gridCol>
              </a:tblGrid>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文件密级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绝密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机密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秘密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内部公开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外部公开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0"/>
                  </a:ext>
                </a:extLst>
              </a:tr>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分享范围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领域内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en-US" sz="1800" b="0"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部门内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项目内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bl>
          </a:graphicData>
        </a:graphic>
      </p:graphicFrame>
      <p:sp>
        <p:nvSpPr>
          <p:cNvPr id="7" name="文本框 6"/>
          <p:cNvSpPr txBox="1"/>
          <p:nvPr/>
        </p:nvSpPr>
        <p:spPr>
          <a:xfrm>
            <a:off x="175581" y="121614"/>
            <a:ext cx="11840836" cy="369332"/>
          </a:xfrm>
          <a:prstGeom prst="rect">
            <a:avLst/>
          </a:prstGeom>
          <a:noFill/>
        </p:spPr>
        <p:txBody>
          <a:bodyPr wrap="square">
            <a:spAutoFit/>
          </a:bodyPr>
          <a:lstStyle/>
          <a:p>
            <a:pPr algn="l" fontAlgn="ctr"/>
            <a:r>
              <a:rPr lang="en-US" altLang="zh-CN" sz="18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案例信息安全要求与权限分配</a:t>
            </a:r>
            <a:r>
              <a:rPr lang="zh-CN" altLang="en-US" sz="1800" b="1" i="0" u="none" strike="noStrike" dirty="0">
                <a:solidFill>
                  <a:srgbClr val="FF0000"/>
                </a:solidFill>
                <a:effectLst/>
                <a:latin typeface="楷体" panose="02010609060101010101" pitchFamily="49" charset="-122"/>
                <a:ea typeface="楷体" panose="02010609060101010101" pitchFamily="49" charset="-122"/>
              </a:rPr>
              <a:t>（按照文档实际情况对应选项打“√” ）</a:t>
            </a:r>
          </a:p>
        </p:txBody>
      </p:sp>
      <p:graphicFrame>
        <p:nvGraphicFramePr>
          <p:cNvPr id="8" name="表格 7"/>
          <p:cNvGraphicFramePr>
            <a:graphicFrameLocks noGrp="1"/>
          </p:cNvGraphicFramePr>
          <p:nvPr/>
        </p:nvGraphicFramePr>
        <p:xfrm>
          <a:off x="179526" y="1460570"/>
          <a:ext cx="11840836" cy="5301828"/>
        </p:xfrm>
        <a:graphic>
          <a:graphicData uri="http://schemas.openxmlformats.org/drawingml/2006/table">
            <a:tbl>
              <a:tblPr/>
              <a:tblGrid>
                <a:gridCol w="5883923">
                  <a:extLst>
                    <a:ext uri="{9D8B030D-6E8A-4147-A177-3AD203B41FA5}">
                      <a16:colId xmlns:a16="http://schemas.microsoft.com/office/drawing/2014/main" val="20000"/>
                    </a:ext>
                  </a:extLst>
                </a:gridCol>
                <a:gridCol w="5956913">
                  <a:extLst>
                    <a:ext uri="{9D8B030D-6E8A-4147-A177-3AD203B41FA5}">
                      <a16:colId xmlns:a16="http://schemas.microsoft.com/office/drawing/2014/main" val="20001"/>
                    </a:ext>
                  </a:extLst>
                </a:gridCol>
              </a:tblGrid>
              <a:tr h="219673">
                <a:tc gridSpan="2">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的信息安全规范及要求</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219673">
                <a:tc>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说明</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答疑</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72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需要对其进行文件密级（绝密、机密、秘密、内部公开、外部公开）定级并给出使用范围（项目、部门、领域、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文件密级如何认定（绝密、机密、秘密、内部公开、外部公开），认定标准有哪些？</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p>
                      <a:pPr algn="l"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有对应体系文件规范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保密信息等级分类及授权管理办法</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en-US" sz="1200" b="0" i="0" u="sng" strike="noStrike" dirty="0">
                          <a:solidFill>
                            <a:srgbClr val="C00000"/>
                          </a:solidFill>
                          <a:effectLst/>
                          <a:latin typeface="微软雅黑" panose="020B0503020204020204" pitchFamily="34" charset="-122"/>
                          <a:ea typeface="微软雅黑" panose="020B0503020204020204" pitchFamily="34" charset="-122"/>
                        </a:rPr>
                        <a:t>https://epros.longcheer.com:8080/static-web/#/view?p=1&amp;app=false&amp;t=fileContent&amp;f=search&amp;h=0&amp;id=5659</a:t>
                      </a:r>
                      <a:br>
                        <a:rPr 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sz="1200" b="0" i="0" u="none" strike="noStrike" dirty="0">
                          <a:solidFill>
                            <a:srgbClr val="0000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a:t>
                      </a:r>
                      <a:r>
                        <a:rPr lang="en-US"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包含哪些人？</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一般指文档作者本人，建议由文档作者进行脱敏，有文档作者直属领导进行审查并确定分享范围权限</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9444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不应存放绝密、机密、秘密级内容；内部公开、外部公开可适用全员访问；公司鼓励全员对可公开的知识文档上传知识库分享，跨领域全员分享需由领域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KMO/KMC</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评估后决策；</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知识库平台分享属性强烈，要上传密级内容？</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不上传密级以上内容，风险更小。知识也是公司的经验成果，建议依然还是要控制分享范围，勿随意做全员分享，需做一定的保护，确定无关的部门或岗位建议不要对其分享（譬如研发的知识分享给行政），避免内部经验知识被外部轻易复制获取。</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3333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3333FF"/>
                          </a:solidFill>
                          <a:effectLst/>
                          <a:latin typeface="微软雅黑" panose="020B0503020204020204" pitchFamily="34" charset="-122"/>
                          <a:ea typeface="微软雅黑" panose="020B0503020204020204" pitchFamily="34" charset="-122"/>
                        </a:rPr>
                        <a:t>内部公开指领域内部公开，外部公开指公司全员公开。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28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、领域管理</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需对本领域知识进行分类、分级，对不同的人员设置上传、下载、预览等不同的权限，遵循最小授权要求，默认只有预览权限；</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领域管理</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rPr>
                        <a:t>KM</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知识库领域内拥有“管理”权限的知识管理员或部门知识接口人</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153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需对文件名及文件内容进行脱敏，不可出现客户及客户项目、客户型号名称、</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LOGO</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等相关信息，需使用龙旗内部代码及项目名称替代，避免出现价格，重大项目问题等敏感信息；</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避免出现敏感词</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信息安全部规定的为准</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重大项目问题：重大如何理解？</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信安：何为重大应由业务部门做界定，信安可以给出建议譬如给公司带来超过</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万损失的问题，本应获标而丢标的问题等；建议可通过脱敏模糊化进行知识分享。</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项目问题：部分知识案例就是对项目问题进行复盘</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总结并加以改善的。</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信安：做好内容脱敏即可</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2601">
                <a:tc>
                  <a:txBody>
                    <a:bodyPr/>
                    <a:lstStyle/>
                    <a:p>
                      <a:pPr algn="l" fontAlgn="ctr"/>
                      <a:r>
                        <a:rPr lang="en-US" altLang="zh-CN" sz="1380" b="1" i="0" u="none" strike="noStrike">
                          <a:solidFill>
                            <a:srgbClr val="000000"/>
                          </a:solidFill>
                          <a:effectLst/>
                          <a:latin typeface="微软雅黑" panose="020B0503020204020204" pitchFamily="34" charset="-122"/>
                          <a:ea typeface="微软雅黑" panose="020B0503020204020204" pitchFamily="34" charset="-122"/>
                        </a:rPr>
                        <a:t>5</a:t>
                      </a:r>
                      <a:r>
                        <a:rPr lang="zh-CN" altLang="en-US" sz="1380" b="1" i="0" u="none" strike="noStrike">
                          <a:solidFill>
                            <a:srgbClr val="000000"/>
                          </a:solidFill>
                          <a:effectLst/>
                          <a:latin typeface="微软雅黑" panose="020B0503020204020204" pitchFamily="34" charset="-122"/>
                          <a:ea typeface="微软雅黑" panose="020B0503020204020204" pitchFamily="34" charset="-122"/>
                        </a:rPr>
                        <a:t>、知识文档需要注意个人隐私保护，未经授权避免出现他人姓名、肖像、住址、身份证、银行卡号、电话号码等个人隐私内容；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知识文档萃取需要写上流程文档</a:t>
                      </a:r>
                      <a:r>
                        <a:rPr lang="en-US" altLang="zh-CN" sz="1200" b="0" i="0" u="none" strike="noStrike" dirty="0" err="1">
                          <a:solidFill>
                            <a:srgbClr val="0000FF"/>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作者姓名甚至工号，怎么处理？</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信安：流程文档</a:t>
                      </a:r>
                      <a:r>
                        <a:rPr lang="en-US" altLang="zh-CN" sz="1200" b="0" i="0" u="none" strike="noStrike" dirty="0" err="1">
                          <a:solidFill>
                            <a:srgbClr val="000000"/>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作者姓名甚至工号属于个人产出标注，是公司工作的标准要求需遵循的，也可认定是自愿行为并已授权</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en-US" altLang="zh-CN" sz="1200" b="1" i="0" u="none" strike="noStrike" dirty="0" err="1">
                          <a:solidFill>
                            <a:srgbClr val="3333FF"/>
                          </a:solidFill>
                          <a:effectLst/>
                          <a:latin typeface="微软雅黑" panose="020B0503020204020204" pitchFamily="34" charset="-122"/>
                          <a:ea typeface="微软雅黑" panose="020B0503020204020204" pitchFamily="34" charset="-122"/>
                        </a:rPr>
                        <a:t>b.LL</a:t>
                      </a:r>
                      <a:r>
                        <a:rPr lang="zh-CN" altLang="en-US" sz="1200" b="1" i="0" u="none" strike="noStrike" dirty="0">
                          <a:solidFill>
                            <a:srgbClr val="3333FF"/>
                          </a:solidFill>
                          <a:effectLst/>
                          <a:latin typeface="微软雅黑" panose="020B0503020204020204" pitchFamily="34" charset="-122"/>
                          <a:ea typeface="微软雅黑" panose="020B0503020204020204" pitchFamily="34" charset="-122"/>
                        </a:rPr>
                        <a:t>案例属于哪一类文件密级分类？</a:t>
                      </a:r>
                      <a:endParaRPr lang="en-US" altLang="zh-CN" sz="1200" b="1" i="0" u="none" strike="noStrike" dirty="0">
                        <a:solidFill>
                          <a:srgbClr val="3333FF"/>
                        </a:solidFill>
                        <a:effectLst/>
                        <a:latin typeface="微软雅黑" panose="020B0503020204020204" pitchFamily="34" charset="-122"/>
                        <a:ea typeface="微软雅黑" panose="020B0503020204020204" pitchFamily="34" charset="-122"/>
                      </a:endParaRPr>
                    </a:p>
                    <a:p>
                      <a:pPr algn="l"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信安：案例脱敏后一般属于内部公开。如果案例在短期内具有高价值，建议可以定为秘密，限定领域范围分享。秘密的内容经过一段时间也可以经过评估后降级为内部公开。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689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、避免出现法律侵权内容，譬如使用未授权的字体、图片等相关侵权内容；避免上传未经授权的非原创的有版权合规风险的知识内容，譬如，未经授权的著作等；</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vMerge="1">
                  <a:txBody>
                    <a:bodyPr/>
                    <a:lstStyle/>
                    <a:p>
                      <a:endParaRPr lang="zh-CN"/>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1919940454"/>
              </p:ext>
            </p:extLst>
          </p:nvPr>
        </p:nvGraphicFramePr>
        <p:xfrm>
          <a:off x="230819" y="119955"/>
          <a:ext cx="11718526" cy="3601749"/>
        </p:xfrm>
        <a:graphic>
          <a:graphicData uri="http://schemas.openxmlformats.org/drawingml/2006/table">
            <a:tbl>
              <a:tblPr/>
              <a:tblGrid>
                <a:gridCol w="995672">
                  <a:extLst>
                    <a:ext uri="{9D8B030D-6E8A-4147-A177-3AD203B41FA5}">
                      <a16:colId xmlns:a16="http://schemas.microsoft.com/office/drawing/2014/main" val="20000"/>
                    </a:ext>
                  </a:extLst>
                </a:gridCol>
                <a:gridCol w="1100009">
                  <a:extLst>
                    <a:ext uri="{9D8B030D-6E8A-4147-A177-3AD203B41FA5}">
                      <a16:colId xmlns:a16="http://schemas.microsoft.com/office/drawing/2014/main" val="20001"/>
                    </a:ext>
                  </a:extLst>
                </a:gridCol>
                <a:gridCol w="1430906">
                  <a:extLst>
                    <a:ext uri="{9D8B030D-6E8A-4147-A177-3AD203B41FA5}">
                      <a16:colId xmlns:a16="http://schemas.microsoft.com/office/drawing/2014/main" val="20002"/>
                    </a:ext>
                  </a:extLst>
                </a:gridCol>
                <a:gridCol w="1520337">
                  <a:extLst>
                    <a:ext uri="{9D8B030D-6E8A-4147-A177-3AD203B41FA5}">
                      <a16:colId xmlns:a16="http://schemas.microsoft.com/office/drawing/2014/main" val="20003"/>
                    </a:ext>
                  </a:extLst>
                </a:gridCol>
                <a:gridCol w="1525460">
                  <a:extLst>
                    <a:ext uri="{9D8B030D-6E8A-4147-A177-3AD203B41FA5}">
                      <a16:colId xmlns:a16="http://schemas.microsoft.com/office/drawing/2014/main" val="20004"/>
                    </a:ext>
                  </a:extLst>
                </a:gridCol>
                <a:gridCol w="3507804">
                  <a:extLst>
                    <a:ext uri="{9D8B030D-6E8A-4147-A177-3AD203B41FA5}">
                      <a16:colId xmlns:a16="http://schemas.microsoft.com/office/drawing/2014/main" val="20005"/>
                    </a:ext>
                  </a:extLst>
                </a:gridCol>
                <a:gridCol w="1638338">
                  <a:extLst>
                    <a:ext uri="{9D8B030D-6E8A-4147-A177-3AD203B41FA5}">
                      <a16:colId xmlns:a16="http://schemas.microsoft.com/office/drawing/2014/main" val="20006"/>
                    </a:ext>
                  </a:extLst>
                </a:gridCol>
              </a:tblGrid>
              <a:tr h="465971">
                <a:tc gridSpan="7">
                  <a:txBody>
                    <a:bodyPr/>
                    <a:lstStyle/>
                    <a:p>
                      <a:pPr algn="l" fontAlgn="ctr"/>
                      <a:r>
                        <a:rPr lang="en-US" sz="16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标准化行动</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一览表</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56149">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问题阶段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跨领域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checklist/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sop</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操作手册等</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是否需要</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checklist/sop/</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审核结果</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979629">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TR4</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2" name="组合 21"/>
          <p:cNvGrpSpPr/>
          <p:nvPr/>
        </p:nvGrpSpPr>
        <p:grpSpPr>
          <a:xfrm>
            <a:off x="7113786" y="590196"/>
            <a:ext cx="4353926" cy="919401"/>
            <a:chOff x="7187492" y="801429"/>
            <a:chExt cx="4353926" cy="1340742"/>
          </a:xfrm>
        </p:grpSpPr>
        <p:sp>
          <p:nvSpPr>
            <p:cNvPr id="23" name="文本框 22"/>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p>
          </p:txBody>
        </p:sp>
        <p:sp>
          <p:nvSpPr>
            <p:cNvPr id="24" name="文本框 23"/>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关键字</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5" name="组合 24"/>
          <p:cNvGrpSpPr/>
          <p:nvPr/>
        </p:nvGrpSpPr>
        <p:grpSpPr>
          <a:xfrm>
            <a:off x="7113786" y="1769422"/>
            <a:ext cx="4353926" cy="919401"/>
            <a:chOff x="7187492" y="801429"/>
            <a:chExt cx="4353926" cy="1340742"/>
          </a:xfrm>
        </p:grpSpPr>
        <p:sp>
          <p:nvSpPr>
            <p:cNvPr id="26" name="文本框 25"/>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p>
          </p:txBody>
        </p:sp>
        <p:sp>
          <p:nvSpPr>
            <p:cNvPr id="27" name="文本框 26"/>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问题描述</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8" name="组合 27"/>
          <p:cNvGrpSpPr/>
          <p:nvPr/>
        </p:nvGrpSpPr>
        <p:grpSpPr>
          <a:xfrm>
            <a:off x="7113786" y="5307102"/>
            <a:ext cx="4353926" cy="919401"/>
            <a:chOff x="7187492" y="801429"/>
            <a:chExt cx="4353926" cy="1340742"/>
          </a:xfrm>
        </p:grpSpPr>
        <p:sp>
          <p:nvSpPr>
            <p:cNvPr id="29" name="文本框 28"/>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05</a:t>
              </a:r>
            </a:p>
          </p:txBody>
        </p:sp>
        <p:sp>
          <p:nvSpPr>
            <p:cNvPr id="30" name="文本框 29"/>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总结</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1" name="组合 30"/>
          <p:cNvGrpSpPr/>
          <p:nvPr/>
        </p:nvGrpSpPr>
        <p:grpSpPr>
          <a:xfrm>
            <a:off x="7113786" y="2948648"/>
            <a:ext cx="4353926" cy="919401"/>
            <a:chOff x="7187492" y="801429"/>
            <a:chExt cx="4353926" cy="1340742"/>
          </a:xfrm>
        </p:grpSpPr>
        <p:sp>
          <p:nvSpPr>
            <p:cNvPr id="32" name="文本框 31"/>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p>
          </p:txBody>
        </p:sp>
        <p:sp>
          <p:nvSpPr>
            <p:cNvPr id="33" name="文本框 32"/>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分析过程</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4" name="组合 33"/>
          <p:cNvGrpSpPr/>
          <p:nvPr/>
        </p:nvGrpSpPr>
        <p:grpSpPr>
          <a:xfrm>
            <a:off x="7113786" y="4127874"/>
            <a:ext cx="4353926" cy="919401"/>
            <a:chOff x="7187492" y="801429"/>
            <a:chExt cx="4353926" cy="1340742"/>
          </a:xfrm>
        </p:grpSpPr>
        <p:sp>
          <p:nvSpPr>
            <p:cNvPr id="35" name="文本框 34"/>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p>
          </p:txBody>
        </p:sp>
        <p:sp>
          <p:nvSpPr>
            <p:cNvPr id="36" name="文本框 35"/>
            <p:cNvSpPr txBox="1"/>
            <p:nvPr/>
          </p:nvSpPr>
          <p:spPr>
            <a:xfrm>
              <a:off x="8554986" y="1139074"/>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解决方案</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38" name="文本占位符 46"/>
          <p:cNvSpPr txBox="1"/>
          <p:nvPr/>
        </p:nvSpPr>
        <p:spPr>
          <a:xfrm>
            <a:off x="1185243" y="4916945"/>
            <a:ext cx="4113213" cy="841064"/>
          </a:xfrm>
          <a:prstGeom prst="rect">
            <a:avLst/>
          </a:prstGeom>
          <a:solidFill>
            <a:schemeClr val="bg1">
              <a:lumMod val="95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400" b="1" i="0" u="none" strike="noStrike" kern="1200" cap="none" spc="0" normalizeH="0" baseline="0" dirty="0" smtClean="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8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Lesson Learn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案例总结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1464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关键字</a:t>
            </a:r>
          </a:p>
        </p:txBody>
      </p:sp>
      <p:sp>
        <p:nvSpPr>
          <p:cNvPr id="5" name="文本框 4"/>
          <p:cNvSpPr txBox="1"/>
          <p:nvPr/>
        </p:nvSpPr>
        <p:spPr>
          <a:xfrm>
            <a:off x="346229" y="934278"/>
            <a:ext cx="11505460" cy="2186609"/>
          </a:xfrm>
          <a:prstGeom prst="rect">
            <a:avLst/>
          </a:prstGeom>
          <a:noFill/>
        </p:spPr>
        <p:txBody>
          <a:bodyPr wrap="square" rtlCol="0">
            <a:noAutofit/>
          </a:bodyPr>
          <a:lstStyle/>
          <a:p>
            <a:pPr>
              <a:lnSpc>
                <a:spcPct val="150000"/>
              </a:lnSpc>
            </a:pPr>
            <a:r>
              <a:rPr lang="zh-CN" altLang="en-US" sz="1600">
                <a:latin typeface="微软雅黑" panose="020B0503020204020204" pitchFamily="34" charset="-122"/>
                <a:ea typeface="微软雅黑" panose="020B0503020204020204" pitchFamily="34" charset="-122"/>
              </a:rPr>
              <a:t>关键字：</a:t>
            </a:r>
            <a:r>
              <a:rPr lang="zh-CN" altLang="en-US" sz="1600" dirty="0">
                <a:latin typeface="微软雅黑" panose="020B0503020204020204" pitchFamily="34" charset="-122"/>
                <a:ea typeface="微软雅黑" panose="020B0503020204020204" pitchFamily="34" charset="-122"/>
              </a:rPr>
              <a:t>统一</a:t>
            </a:r>
            <a:r>
              <a:rPr lang="zh-CN" altLang="en" sz="1600" dirty="0">
                <a:latin typeface="微软雅黑" panose="020B0503020204020204" pitchFamily="34" charset="-122"/>
                <a:ea typeface="微软雅黑" panose="020B0503020204020204" pitchFamily="34" charset="-122"/>
              </a:rPr>
              <a:t>播放</a:t>
            </a:r>
            <a:r>
              <a:rPr lang="zh-CN" altLang="en-US" sz="1600" dirty="0">
                <a:latin typeface="微软雅黑" panose="020B0503020204020204" pitchFamily="34" charset="-122"/>
                <a:ea typeface="微软雅黑" panose="020B0503020204020204" pitchFamily="34" charset="-122"/>
              </a:rPr>
              <a:t>引擎</a:t>
            </a:r>
            <a:r>
              <a:rPr lang="en-US" altLang="zh-CN" sz="1600">
                <a:latin typeface="微软雅黑" panose="020B0503020204020204" pitchFamily="34" charset="-122"/>
                <a:ea typeface="微软雅黑" panose="020B0503020204020204" pitchFamily="34" charset="-122"/>
              </a:rPr>
              <a:t> MediaCodec</a:t>
            </a:r>
            <a:r>
              <a:rPr lang="zh-CN" altLang="en-US" sz="1600">
                <a:latin typeface="微软雅黑" panose="020B0503020204020204" pitchFamily="34" charset="-122"/>
                <a:ea typeface="微软雅黑" panose="020B0503020204020204" pitchFamily="34" charset="-122"/>
              </a:rPr>
              <a:t> 视频解码</a:t>
            </a:r>
            <a:endParaRPr lang="en-US" altLang="zh-CN" sz="1600">
              <a:latin typeface="微软雅黑" panose="020B0503020204020204" pitchFamily="34" charset="-122"/>
              <a:ea typeface="微软雅黑" panose="020B0503020204020204" pitchFamily="34" charset="-122"/>
            </a:endParaRPr>
          </a:p>
          <a:p>
            <a:pPr>
              <a:lnSpc>
                <a:spcPct val="150000"/>
              </a:lnSpc>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关联领域</a:t>
            </a:r>
            <a:r>
              <a:rPr lang="zh-CN" altLang="en-US" sz="1600">
                <a:latin typeface="微软雅黑" panose="020B0503020204020204" pitchFamily="34" charset="-122"/>
                <a:ea typeface="微软雅黑" panose="020B0503020204020204" pitchFamily="34" charset="-122"/>
              </a:rPr>
              <a:t>： 软件 多媒体 视频框架</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概述</a:t>
            </a:r>
            <a:r>
              <a:rPr lang="zh-CN" altLang="en-US" sz="1600">
                <a:latin typeface="微软雅黑" panose="020B0503020204020204" pitchFamily="34" charset="-122"/>
                <a:ea typeface="微软雅黑" panose="020B0503020204020204" pitchFamily="34" charset="-122"/>
                <a:sym typeface="Wingdings" panose="05000000000000000000" pitchFamily="2" charset="2"/>
              </a:rPr>
              <a:t>：播放引擎在切换软解时由于参数未被初始化传值错误，导致软解时的播放进度异常。</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问题描述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8474" y="712126"/>
            <a:ext cx="11540971" cy="614968"/>
          </a:xfrm>
          <a:prstGeom prst="rect">
            <a:avLst/>
          </a:prstGeom>
        </p:spPr>
        <p:txBody>
          <a:bodyPr wrap="square">
            <a:noAutofit/>
          </a:bodyPr>
          <a:lstStyle/>
          <a:p>
            <a:pPr>
              <a:lnSpc>
                <a:spcPct val="150000"/>
              </a:lnSpc>
            </a:pPr>
            <a:r>
              <a:rPr lang="zh-CN" altLang="en-US" sz="1600" b="1">
                <a:latin typeface="微软雅黑" panose="020B0503020204020204" pitchFamily="34" charset="-122"/>
                <a:ea typeface="微软雅黑" panose="020B0503020204020204" pitchFamily="34" charset="-122"/>
              </a:rPr>
              <a:t>背景</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Situation</a:t>
            </a:r>
            <a:r>
              <a:rPr lang="zh-CN" altLang="en-US" sz="1600" b="1" dirty="0">
                <a:latin typeface="微软雅黑" panose="020B0503020204020204" pitchFamily="34" charset="-122"/>
                <a:ea typeface="微软雅黑" panose="020B0503020204020204" pitchFamily="34" charset="-122"/>
              </a:rPr>
              <a:t>）</a:t>
            </a:r>
          </a:p>
        </p:txBody>
      </p:sp>
      <p:sp>
        <p:nvSpPr>
          <p:cNvPr id="3" name="文本框 2"/>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问题描述</a:t>
            </a:r>
          </a:p>
        </p:txBody>
      </p:sp>
      <p:sp>
        <p:nvSpPr>
          <p:cNvPr id="7" name="文本框 6">
            <a:extLst>
              <a:ext uri="{FF2B5EF4-FFF2-40B4-BE49-F238E27FC236}">
                <a16:creationId xmlns:a16="http://schemas.microsoft.com/office/drawing/2014/main" id="{DB0310FA-2861-4560-A421-6271AB4B671D}"/>
              </a:ext>
            </a:extLst>
          </p:cNvPr>
          <p:cNvSpPr txBox="1"/>
          <p:nvPr/>
        </p:nvSpPr>
        <p:spPr>
          <a:xfrm>
            <a:off x="328474" y="1398651"/>
            <a:ext cx="7804066" cy="458908"/>
          </a:xfrm>
          <a:prstGeom prst="rect">
            <a:avLst/>
          </a:prstGeom>
          <a:noFill/>
        </p:spPr>
        <p:txBody>
          <a:bodyPr wrap="square">
            <a:spAutoFit/>
          </a:bodyPr>
          <a:lstStyle/>
          <a:p>
            <a:pPr>
              <a:lnSpc>
                <a:spcPct val="150000"/>
              </a:lnSpc>
            </a:pPr>
            <a:r>
              <a:rPr lang="zh-CN" altLang="en-US" sz="1800">
                <a:latin typeface="微软雅黑" panose="020B0503020204020204" pitchFamily="34" charset="-122"/>
                <a:ea typeface="微软雅黑" panose="020B0503020204020204" pitchFamily="34" charset="-122"/>
              </a:rPr>
              <a:t>视频播放器在播放</a:t>
            </a:r>
            <a:r>
              <a:rPr lang="en-US" altLang="zh-CN" sz="1800">
                <a:latin typeface="微软雅黑" panose="020B0503020204020204" pitchFamily="34" charset="-122"/>
                <a:ea typeface="微软雅黑" panose="020B0503020204020204" pitchFamily="34" charset="-122"/>
              </a:rPr>
              <a:t>MOV</a:t>
            </a:r>
            <a:r>
              <a:rPr lang="zh-CN" altLang="en-US" sz="1800">
                <a:latin typeface="微软雅黑" panose="020B0503020204020204" pitchFamily="34" charset="-122"/>
                <a:ea typeface="微软雅黑" panose="020B0503020204020204" pitchFamily="34" charset="-122"/>
              </a:rPr>
              <a:t>视频时，进度条直接跳到了最后一秒播放</a:t>
            </a: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lang="en-US" altLang="zh-CN" sz="18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分析过程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4862CE5D-2E6D-E211-1FF7-E40A8514367C}"/>
              </a:ext>
            </a:extLst>
          </p:cNvPr>
          <p:cNvSpPr txBox="1"/>
          <p:nvPr/>
        </p:nvSpPr>
        <p:spPr>
          <a:xfrm>
            <a:off x="305627" y="891353"/>
            <a:ext cx="11622033" cy="875881"/>
          </a:xfrm>
          <a:prstGeom prst="rect">
            <a:avLst/>
          </a:prstGeom>
          <a:noFill/>
        </p:spPr>
        <p:txBody>
          <a:bodyPr wrap="square">
            <a:spAutoFit/>
          </a:bodyPr>
          <a:lstStyle/>
          <a:p>
            <a:pPr>
              <a:lnSpc>
                <a:spcPct val="150000"/>
              </a:lnSpc>
            </a:pPr>
            <a:r>
              <a:rPr lang="zh-CN" altLang="en-US"/>
              <a:t>视频播放问题首先查看文件的格式是否支持。可以看出是Apple QuickTime 编码库进行编码的MOV视频，视频流格式HEVC，视频流分辨率</a:t>
            </a:r>
            <a:r>
              <a:rPr lang="en-US" altLang="zh-CN"/>
              <a:t>1080P</a:t>
            </a:r>
            <a:r>
              <a:rPr lang="zh-CN" altLang="en-US"/>
              <a:t>没问题，但是视频流的Profile为Main10，当前高通硬解和谷歌软解都无法支持。</a:t>
            </a:r>
          </a:p>
        </p:txBody>
      </p:sp>
      <p:pic>
        <p:nvPicPr>
          <p:cNvPr id="24" name="图片 23">
            <a:extLst>
              <a:ext uri="{FF2B5EF4-FFF2-40B4-BE49-F238E27FC236}">
                <a16:creationId xmlns:a16="http://schemas.microsoft.com/office/drawing/2014/main" id="{11061D6B-AD68-23AA-52B5-188F5752F4E0}"/>
              </a:ext>
            </a:extLst>
          </p:cNvPr>
          <p:cNvPicPr>
            <a:picLocks noChangeAspect="1"/>
          </p:cNvPicPr>
          <p:nvPr/>
        </p:nvPicPr>
        <p:blipFill>
          <a:blip r:embed="rId2"/>
          <a:stretch>
            <a:fillRect/>
          </a:stretch>
        </p:blipFill>
        <p:spPr>
          <a:xfrm>
            <a:off x="4268128" y="1909765"/>
            <a:ext cx="3904828" cy="4865485"/>
          </a:xfrm>
          <a:prstGeom prst="rect">
            <a:avLst/>
          </a:prstGeom>
        </p:spPr>
      </p:pic>
      <p:pic>
        <p:nvPicPr>
          <p:cNvPr id="25" name="图片 24">
            <a:extLst>
              <a:ext uri="{FF2B5EF4-FFF2-40B4-BE49-F238E27FC236}">
                <a16:creationId xmlns:a16="http://schemas.microsoft.com/office/drawing/2014/main" id="{F6D9195D-8DE3-2AED-D06F-0EFAA1129D8D}"/>
              </a:ext>
            </a:extLst>
          </p:cNvPr>
          <p:cNvPicPr>
            <a:picLocks noChangeAspect="1"/>
          </p:cNvPicPr>
          <p:nvPr/>
        </p:nvPicPr>
        <p:blipFill>
          <a:blip r:embed="rId3"/>
          <a:stretch>
            <a:fillRect/>
          </a:stretch>
        </p:blipFill>
        <p:spPr>
          <a:xfrm>
            <a:off x="8157971" y="1909765"/>
            <a:ext cx="3645815" cy="4792533"/>
          </a:xfrm>
          <a:prstGeom prst="rect">
            <a:avLst/>
          </a:prstGeom>
        </p:spPr>
      </p:pic>
      <p:pic>
        <p:nvPicPr>
          <p:cNvPr id="3" name="图片 2" descr="图形用户界面, 文本, 应用程序, 电子邮件&#10;&#10;描述已自动生成">
            <a:extLst>
              <a:ext uri="{FF2B5EF4-FFF2-40B4-BE49-F238E27FC236}">
                <a16:creationId xmlns:a16="http://schemas.microsoft.com/office/drawing/2014/main" id="{441BA8DC-20F8-4F43-A2EF-AC9388AAF9D7}"/>
              </a:ext>
            </a:extLst>
          </p:cNvPr>
          <p:cNvPicPr>
            <a:picLocks noChangeAspect="1"/>
          </p:cNvPicPr>
          <p:nvPr/>
        </p:nvPicPr>
        <p:blipFill rotWithShape="1">
          <a:blip r:embed="rId4">
            <a:extLst>
              <a:ext uri="{28A0092B-C50C-407E-A947-70E740481C1C}">
                <a14:useLocalDpi xmlns:a14="http://schemas.microsoft.com/office/drawing/2010/main" val="0"/>
              </a:ext>
            </a:extLst>
          </a:blip>
          <a:srcRect l="42712"/>
          <a:stretch/>
        </p:blipFill>
        <p:spPr>
          <a:xfrm>
            <a:off x="522146" y="2929317"/>
            <a:ext cx="3602122" cy="29473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4862CE5D-2E6D-E211-1FF7-E40A8514367C}"/>
              </a:ext>
            </a:extLst>
          </p:cNvPr>
          <p:cNvSpPr txBox="1"/>
          <p:nvPr/>
        </p:nvSpPr>
        <p:spPr>
          <a:xfrm>
            <a:off x="320122" y="664776"/>
            <a:ext cx="11551755" cy="1291379"/>
          </a:xfrm>
          <a:prstGeom prst="rect">
            <a:avLst/>
          </a:prstGeom>
          <a:noFill/>
        </p:spPr>
        <p:txBody>
          <a:bodyPr wrap="square">
            <a:spAutoFit/>
          </a:bodyPr>
          <a:lstStyle/>
          <a:p>
            <a:pPr>
              <a:lnSpc>
                <a:spcPct val="150000"/>
              </a:lnSpc>
            </a:pPr>
            <a:r>
              <a:rPr lang="zh-CN" altLang="en-US"/>
              <a:t>当前虽然播放异常，但确实播放了画面，因此只能是应用的自身软解实现（FFmpeg）。因为视频播放器和图库现象一致，而对接两个应用的播放实现为项目自身实现的本地统一播放引擎，播放引擎通过封装</a:t>
            </a:r>
            <a:r>
              <a:rPr lang="en" altLang="zh-CN"/>
              <a:t>MediaCodec</a:t>
            </a:r>
            <a:r>
              <a:rPr lang="zh-CN" altLang="en"/>
              <a:t>或者</a:t>
            </a:r>
            <a:r>
              <a:rPr lang="en-US" altLang="zh-CN"/>
              <a:t>FFmpeg</a:t>
            </a:r>
            <a:r>
              <a:rPr lang="zh-CN" altLang="en-US"/>
              <a:t>为上层提供播放调用接口。因此我们这里来查看日志中的应用播放进程的打印：</a:t>
            </a:r>
          </a:p>
        </p:txBody>
      </p:sp>
      <p:grpSp>
        <p:nvGrpSpPr>
          <p:cNvPr id="53" name="组合 52">
            <a:extLst>
              <a:ext uri="{FF2B5EF4-FFF2-40B4-BE49-F238E27FC236}">
                <a16:creationId xmlns:a16="http://schemas.microsoft.com/office/drawing/2014/main" id="{8B5784E9-64BA-A721-91EE-6F2EE915548F}"/>
              </a:ext>
            </a:extLst>
          </p:cNvPr>
          <p:cNvGrpSpPr/>
          <p:nvPr/>
        </p:nvGrpSpPr>
        <p:grpSpPr>
          <a:xfrm>
            <a:off x="914401" y="2767859"/>
            <a:ext cx="3148641" cy="3003213"/>
            <a:chOff x="923027" y="2664342"/>
            <a:chExt cx="3347050" cy="3287874"/>
          </a:xfrm>
        </p:grpSpPr>
        <p:sp>
          <p:nvSpPr>
            <p:cNvPr id="14" name="流程 13">
              <a:extLst>
                <a:ext uri="{FF2B5EF4-FFF2-40B4-BE49-F238E27FC236}">
                  <a16:creationId xmlns:a16="http://schemas.microsoft.com/office/drawing/2014/main" id="{CFD3126B-FE20-FBF2-CA77-29EE999FED12}"/>
                </a:ext>
              </a:extLst>
            </p:cNvPr>
            <p:cNvSpPr/>
            <p:nvPr/>
          </p:nvSpPr>
          <p:spPr>
            <a:xfrm>
              <a:off x="974784" y="2664362"/>
              <a:ext cx="992038" cy="366623"/>
            </a:xfrm>
            <a:prstGeom prst="flowChartProcess">
              <a:avLst/>
            </a:prstGeom>
            <a:solidFill>
              <a:schemeClr val="accent6">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a:solidFill>
                    <a:schemeClr val="tx1"/>
                  </a:solidFill>
                </a:rPr>
                <a:t>videoplayer</a:t>
              </a:r>
              <a:endParaRPr kumimoji="1" lang="zh-CN" altLang="en-US" sz="1200">
                <a:solidFill>
                  <a:schemeClr val="tx1"/>
                </a:solidFill>
              </a:endParaRPr>
            </a:p>
          </p:txBody>
        </p:sp>
        <p:sp>
          <p:nvSpPr>
            <p:cNvPr id="15" name="流程 14">
              <a:extLst>
                <a:ext uri="{FF2B5EF4-FFF2-40B4-BE49-F238E27FC236}">
                  <a16:creationId xmlns:a16="http://schemas.microsoft.com/office/drawing/2014/main" id="{A9DB941F-7726-29CC-7A07-3293B55DC29B}"/>
                </a:ext>
              </a:extLst>
            </p:cNvPr>
            <p:cNvSpPr/>
            <p:nvPr/>
          </p:nvSpPr>
          <p:spPr>
            <a:xfrm>
              <a:off x="974782" y="3265341"/>
              <a:ext cx="3217654" cy="366623"/>
            </a:xfrm>
            <a:prstGeom prst="flowChartProcess">
              <a:avLst/>
            </a:prstGeom>
            <a:solidFill>
              <a:schemeClr val="accent6">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a:solidFill>
                    <a:schemeClr val="tx1"/>
                  </a:solidFill>
                </a:rPr>
                <a:t>AV_ENGINE</a:t>
              </a:r>
              <a:endParaRPr kumimoji="1" lang="zh-CN" altLang="en-US" sz="1200">
                <a:solidFill>
                  <a:schemeClr val="tx1"/>
                </a:solidFill>
              </a:endParaRPr>
            </a:p>
          </p:txBody>
        </p:sp>
        <p:sp>
          <p:nvSpPr>
            <p:cNvPr id="16" name="流程 15">
              <a:extLst>
                <a:ext uri="{FF2B5EF4-FFF2-40B4-BE49-F238E27FC236}">
                  <a16:creationId xmlns:a16="http://schemas.microsoft.com/office/drawing/2014/main" id="{B6014AE0-415C-2F30-54DF-6EB1827E32C5}"/>
                </a:ext>
              </a:extLst>
            </p:cNvPr>
            <p:cNvSpPr/>
            <p:nvPr/>
          </p:nvSpPr>
          <p:spPr>
            <a:xfrm>
              <a:off x="3200400" y="2664362"/>
              <a:ext cx="992038" cy="366623"/>
            </a:xfrm>
            <a:prstGeom prst="flowChartProcess">
              <a:avLst/>
            </a:prstGeom>
            <a:solidFill>
              <a:schemeClr val="accent6">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a:solidFill>
                    <a:schemeClr val="tx1"/>
                  </a:solidFill>
                </a:rPr>
                <a:t>musicplayer</a:t>
              </a:r>
              <a:endParaRPr kumimoji="1" lang="zh-CN" altLang="en-US" sz="1200">
                <a:solidFill>
                  <a:schemeClr val="tx1"/>
                </a:solidFill>
              </a:endParaRPr>
            </a:p>
          </p:txBody>
        </p:sp>
        <p:sp>
          <p:nvSpPr>
            <p:cNvPr id="17" name="圆角矩形 16">
              <a:extLst>
                <a:ext uri="{FF2B5EF4-FFF2-40B4-BE49-F238E27FC236}">
                  <a16:creationId xmlns:a16="http://schemas.microsoft.com/office/drawing/2014/main" id="{D9995C81-0D8D-65AA-8B22-178E270A722A}"/>
                </a:ext>
              </a:extLst>
            </p:cNvPr>
            <p:cNvSpPr/>
            <p:nvPr/>
          </p:nvSpPr>
          <p:spPr>
            <a:xfrm>
              <a:off x="974783" y="4713371"/>
              <a:ext cx="1542003" cy="1238845"/>
            </a:xfrm>
            <a:prstGeom prst="roundRect">
              <a:avLst>
                <a:gd name="adj" fmla="val 7053"/>
              </a:avLst>
            </a:prstGeom>
            <a:solidFill>
              <a:srgbClr val="FB0609">
                <a:alpha val="50196"/>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solidFill>
                  <a:schemeClr val="tx1"/>
                </a:solidFill>
              </a:endParaRPr>
            </a:p>
          </p:txBody>
        </p:sp>
        <p:sp>
          <p:nvSpPr>
            <p:cNvPr id="22" name="流程 21">
              <a:extLst>
                <a:ext uri="{FF2B5EF4-FFF2-40B4-BE49-F238E27FC236}">
                  <a16:creationId xmlns:a16="http://schemas.microsoft.com/office/drawing/2014/main" id="{8972AD61-ED1A-FED3-9284-36165815D0AA}"/>
                </a:ext>
              </a:extLst>
            </p:cNvPr>
            <p:cNvSpPr/>
            <p:nvPr/>
          </p:nvSpPr>
          <p:spPr>
            <a:xfrm>
              <a:off x="974784" y="4029367"/>
              <a:ext cx="1542003" cy="366623"/>
            </a:xfrm>
            <a:prstGeom prst="flowChartProcess">
              <a:avLst/>
            </a:prstGeom>
            <a:solidFill>
              <a:schemeClr val="bg2">
                <a:lumMod val="9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a:solidFill>
                    <a:schemeClr val="tx1"/>
                  </a:solidFill>
                </a:rPr>
                <a:t>CCodec2</a:t>
              </a:r>
              <a:endParaRPr kumimoji="1" lang="zh-CN" altLang="en-US" sz="1200">
                <a:solidFill>
                  <a:schemeClr val="tx1"/>
                </a:solidFill>
              </a:endParaRPr>
            </a:p>
          </p:txBody>
        </p:sp>
        <p:sp>
          <p:nvSpPr>
            <p:cNvPr id="23" name="流程 22">
              <a:extLst>
                <a:ext uri="{FF2B5EF4-FFF2-40B4-BE49-F238E27FC236}">
                  <a16:creationId xmlns:a16="http://schemas.microsoft.com/office/drawing/2014/main" id="{55C2EA0F-7BE3-B742-F110-6603066AFDDC}"/>
                </a:ext>
              </a:extLst>
            </p:cNvPr>
            <p:cNvSpPr/>
            <p:nvPr/>
          </p:nvSpPr>
          <p:spPr>
            <a:xfrm>
              <a:off x="2650435" y="4029132"/>
              <a:ext cx="1542002" cy="366623"/>
            </a:xfrm>
            <a:prstGeom prst="flowChartProcess">
              <a:avLst/>
            </a:prstGeom>
            <a:solidFill>
              <a:schemeClr val="bg2">
                <a:lumMod val="9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a:solidFill>
                    <a:schemeClr val="tx1"/>
                  </a:solidFill>
                </a:rPr>
                <a:t>FFmpeg</a:t>
              </a:r>
              <a:endParaRPr kumimoji="1" lang="zh-CN" altLang="en-US" sz="1200">
                <a:solidFill>
                  <a:schemeClr val="tx1"/>
                </a:solidFill>
              </a:endParaRPr>
            </a:p>
          </p:txBody>
        </p:sp>
        <p:sp>
          <p:nvSpPr>
            <p:cNvPr id="24" name="圆角矩形 23">
              <a:extLst>
                <a:ext uri="{FF2B5EF4-FFF2-40B4-BE49-F238E27FC236}">
                  <a16:creationId xmlns:a16="http://schemas.microsoft.com/office/drawing/2014/main" id="{76A53D36-E167-391C-4B9D-654C9E2141CF}"/>
                </a:ext>
              </a:extLst>
            </p:cNvPr>
            <p:cNvSpPr/>
            <p:nvPr/>
          </p:nvSpPr>
          <p:spPr>
            <a:xfrm>
              <a:off x="2650435" y="4713372"/>
              <a:ext cx="1542003" cy="866598"/>
            </a:xfrm>
            <a:prstGeom prst="roundRect">
              <a:avLst>
                <a:gd name="adj" fmla="val 7053"/>
              </a:avLst>
            </a:prstGeom>
            <a:solidFill>
              <a:srgbClr val="FB0609">
                <a:alpha val="50196"/>
              </a:srgb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sz="1200">
                <a:solidFill>
                  <a:schemeClr val="tx1"/>
                </a:solidFill>
              </a:endParaRPr>
            </a:p>
          </p:txBody>
        </p:sp>
        <p:sp>
          <p:nvSpPr>
            <p:cNvPr id="25" name="流程 24">
              <a:extLst>
                <a:ext uri="{FF2B5EF4-FFF2-40B4-BE49-F238E27FC236}">
                  <a16:creationId xmlns:a16="http://schemas.microsoft.com/office/drawing/2014/main" id="{BD70EB38-5226-1C7F-9615-ADFCA0738873}"/>
                </a:ext>
              </a:extLst>
            </p:cNvPr>
            <p:cNvSpPr/>
            <p:nvPr/>
          </p:nvSpPr>
          <p:spPr>
            <a:xfrm>
              <a:off x="1109556" y="4792372"/>
              <a:ext cx="1272456" cy="286776"/>
            </a:xfrm>
            <a:prstGeom prst="flowChartProcess">
              <a:avLst/>
            </a:prstGeom>
            <a:solidFill>
              <a:schemeClr val="accent2">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 altLang="zh-CN" sz="1200">
                  <a:solidFill>
                    <a:schemeClr val="tx1"/>
                  </a:solidFill>
                </a:rPr>
                <a:t>Qualcomm</a:t>
              </a:r>
            </a:p>
          </p:txBody>
        </p:sp>
        <p:sp>
          <p:nvSpPr>
            <p:cNvPr id="27" name="流程 26">
              <a:extLst>
                <a:ext uri="{FF2B5EF4-FFF2-40B4-BE49-F238E27FC236}">
                  <a16:creationId xmlns:a16="http://schemas.microsoft.com/office/drawing/2014/main" id="{6BBEDFBA-139D-0F2B-488F-EEEC2F0E2251}"/>
                </a:ext>
              </a:extLst>
            </p:cNvPr>
            <p:cNvSpPr/>
            <p:nvPr/>
          </p:nvSpPr>
          <p:spPr>
            <a:xfrm>
              <a:off x="1109556" y="5189405"/>
              <a:ext cx="1272456" cy="286776"/>
            </a:xfrm>
            <a:prstGeom prst="flowChartProcess">
              <a:avLst/>
            </a:prstGeom>
            <a:solidFill>
              <a:schemeClr val="accent2">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 altLang="zh-CN" sz="1200">
                  <a:solidFill>
                    <a:schemeClr val="tx1"/>
                  </a:solidFill>
                </a:rPr>
                <a:t>MTK</a:t>
              </a:r>
            </a:p>
          </p:txBody>
        </p:sp>
        <p:sp>
          <p:nvSpPr>
            <p:cNvPr id="28" name="流程 27">
              <a:extLst>
                <a:ext uri="{FF2B5EF4-FFF2-40B4-BE49-F238E27FC236}">
                  <a16:creationId xmlns:a16="http://schemas.microsoft.com/office/drawing/2014/main" id="{97DCE1D5-05EF-3957-F525-C10852ECDBB2}"/>
                </a:ext>
              </a:extLst>
            </p:cNvPr>
            <p:cNvSpPr/>
            <p:nvPr/>
          </p:nvSpPr>
          <p:spPr>
            <a:xfrm>
              <a:off x="1109556" y="5579970"/>
              <a:ext cx="1272456" cy="286776"/>
            </a:xfrm>
            <a:prstGeom prst="flowChartProcess">
              <a:avLst/>
            </a:prstGeom>
            <a:solidFill>
              <a:schemeClr val="accent2">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 altLang="zh-CN" sz="1200">
                  <a:solidFill>
                    <a:schemeClr val="tx1"/>
                  </a:solidFill>
                </a:rPr>
                <a:t>Google</a:t>
              </a:r>
            </a:p>
          </p:txBody>
        </p:sp>
        <p:sp>
          <p:nvSpPr>
            <p:cNvPr id="29" name="流程 28">
              <a:extLst>
                <a:ext uri="{FF2B5EF4-FFF2-40B4-BE49-F238E27FC236}">
                  <a16:creationId xmlns:a16="http://schemas.microsoft.com/office/drawing/2014/main" id="{35773B4B-38E8-E41C-9C7B-3D533CFA254A}"/>
                </a:ext>
              </a:extLst>
            </p:cNvPr>
            <p:cNvSpPr/>
            <p:nvPr/>
          </p:nvSpPr>
          <p:spPr>
            <a:xfrm>
              <a:off x="2754326" y="4805362"/>
              <a:ext cx="1272456" cy="286776"/>
            </a:xfrm>
            <a:prstGeom prst="flowChartProcess">
              <a:avLst/>
            </a:prstGeom>
            <a:solidFill>
              <a:schemeClr val="accent1">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 altLang="zh-CN" sz="1200">
                  <a:solidFill>
                    <a:schemeClr val="tx1"/>
                  </a:solidFill>
                </a:rPr>
                <a:t>libavcodec</a:t>
              </a:r>
            </a:p>
          </p:txBody>
        </p:sp>
        <p:sp>
          <p:nvSpPr>
            <p:cNvPr id="30" name="流程 29">
              <a:extLst>
                <a:ext uri="{FF2B5EF4-FFF2-40B4-BE49-F238E27FC236}">
                  <a16:creationId xmlns:a16="http://schemas.microsoft.com/office/drawing/2014/main" id="{CD4809BC-DE72-7F31-676C-B35DC3E8A30F}"/>
                </a:ext>
              </a:extLst>
            </p:cNvPr>
            <p:cNvSpPr/>
            <p:nvPr/>
          </p:nvSpPr>
          <p:spPr>
            <a:xfrm>
              <a:off x="2754326" y="5202395"/>
              <a:ext cx="1272456" cy="286776"/>
            </a:xfrm>
            <a:prstGeom prst="flowChartProcess">
              <a:avLst/>
            </a:prstGeom>
            <a:solidFill>
              <a:schemeClr val="accent1">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 altLang="zh-CN" sz="1200">
                  <a:solidFill>
                    <a:schemeClr val="tx1"/>
                  </a:solidFill>
                </a:rPr>
                <a:t>libavformat</a:t>
              </a:r>
            </a:p>
          </p:txBody>
        </p:sp>
        <p:cxnSp>
          <p:nvCxnSpPr>
            <p:cNvPr id="34" name="直线连接符 33">
              <a:extLst>
                <a:ext uri="{FF2B5EF4-FFF2-40B4-BE49-F238E27FC236}">
                  <a16:creationId xmlns:a16="http://schemas.microsoft.com/office/drawing/2014/main" id="{CFCCCC16-F801-AD96-BD11-338CB4634E2D}"/>
                </a:ext>
              </a:extLst>
            </p:cNvPr>
            <p:cNvCxnSpPr>
              <a:cxnSpLocks/>
            </p:cNvCxnSpPr>
            <p:nvPr/>
          </p:nvCxnSpPr>
          <p:spPr>
            <a:xfrm>
              <a:off x="2583610" y="3821829"/>
              <a:ext cx="0" cy="210450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6" name="直线连接符 35">
              <a:extLst>
                <a:ext uri="{FF2B5EF4-FFF2-40B4-BE49-F238E27FC236}">
                  <a16:creationId xmlns:a16="http://schemas.microsoft.com/office/drawing/2014/main" id="{BF251BE7-15A5-8982-A8B8-E8DF9F17E193}"/>
                </a:ext>
              </a:extLst>
            </p:cNvPr>
            <p:cNvCxnSpPr>
              <a:cxnSpLocks/>
            </p:cNvCxnSpPr>
            <p:nvPr/>
          </p:nvCxnSpPr>
          <p:spPr>
            <a:xfrm>
              <a:off x="923027" y="3804574"/>
              <a:ext cx="3347050" cy="23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E38C9AFD-AEF5-642D-631E-947736DD11BC}"/>
                </a:ext>
              </a:extLst>
            </p:cNvPr>
            <p:cNvCxnSpPr>
              <a:cxnSpLocks/>
            </p:cNvCxnSpPr>
            <p:nvPr/>
          </p:nvCxnSpPr>
          <p:spPr>
            <a:xfrm>
              <a:off x="923027" y="4574021"/>
              <a:ext cx="3347050" cy="1135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9" name="流程 48">
              <a:extLst>
                <a:ext uri="{FF2B5EF4-FFF2-40B4-BE49-F238E27FC236}">
                  <a16:creationId xmlns:a16="http://schemas.microsoft.com/office/drawing/2014/main" id="{0C79BC47-59F1-BC9F-100A-CA1002DC56C0}"/>
                </a:ext>
              </a:extLst>
            </p:cNvPr>
            <p:cNvSpPr/>
            <p:nvPr/>
          </p:nvSpPr>
          <p:spPr>
            <a:xfrm>
              <a:off x="2087591" y="2664342"/>
              <a:ext cx="992038" cy="366623"/>
            </a:xfrm>
            <a:prstGeom prst="flowChartProcess">
              <a:avLst/>
            </a:prstGeom>
            <a:solidFill>
              <a:schemeClr val="accent6">
                <a:lumMod val="40000"/>
                <a:lumOff val="6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200">
                  <a:solidFill>
                    <a:schemeClr val="tx1"/>
                  </a:solidFill>
                </a:rPr>
                <a:t>photo</a:t>
              </a:r>
              <a:endParaRPr kumimoji="1" lang="zh-CN" altLang="en-US" sz="1200">
                <a:solidFill>
                  <a:schemeClr val="tx1"/>
                </a:solidFill>
              </a:endParaRPr>
            </a:p>
          </p:txBody>
        </p:sp>
      </p:grpSp>
      <p:pic>
        <p:nvPicPr>
          <p:cNvPr id="54" name="图片 53">
            <a:extLst>
              <a:ext uri="{FF2B5EF4-FFF2-40B4-BE49-F238E27FC236}">
                <a16:creationId xmlns:a16="http://schemas.microsoft.com/office/drawing/2014/main" id="{C158F6DA-D386-FB16-47E1-21C1B63E4510}"/>
              </a:ext>
            </a:extLst>
          </p:cNvPr>
          <p:cNvPicPr>
            <a:picLocks noChangeAspect="1"/>
          </p:cNvPicPr>
          <p:nvPr/>
        </p:nvPicPr>
        <p:blipFill>
          <a:blip r:embed="rId2"/>
          <a:stretch>
            <a:fillRect/>
          </a:stretch>
        </p:blipFill>
        <p:spPr>
          <a:xfrm>
            <a:off x="4729888" y="1980362"/>
            <a:ext cx="7141989" cy="4716280"/>
          </a:xfrm>
          <a:prstGeom prst="rect">
            <a:avLst/>
          </a:prstGeom>
        </p:spPr>
      </p:pic>
    </p:spTree>
    <p:extLst>
      <p:ext uri="{BB962C8B-B14F-4D97-AF65-F5344CB8AC3E}">
        <p14:creationId xmlns:p14="http://schemas.microsoft.com/office/powerpoint/2010/main" val="2611597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4862CE5D-2E6D-E211-1FF7-E40A8514367C}"/>
              </a:ext>
            </a:extLst>
          </p:cNvPr>
          <p:cNvSpPr txBox="1"/>
          <p:nvPr/>
        </p:nvSpPr>
        <p:spPr>
          <a:xfrm>
            <a:off x="253869" y="744704"/>
            <a:ext cx="11551755" cy="369332"/>
          </a:xfrm>
          <a:prstGeom prst="rect">
            <a:avLst/>
          </a:prstGeom>
          <a:noFill/>
        </p:spPr>
        <p:txBody>
          <a:bodyPr wrap="square">
            <a:spAutoFit/>
          </a:bodyPr>
          <a:lstStyle/>
          <a:p>
            <a:r>
              <a:rPr lang="zh-CN" altLang="en-US"/>
              <a:t>切换软解后，播放的起始位置可能是有问题，接着重点查找</a:t>
            </a:r>
            <a:r>
              <a:rPr lang="en-US" altLang="zh-CN"/>
              <a:t>seek</a:t>
            </a:r>
            <a:r>
              <a:rPr lang="zh-CN" altLang="en-US"/>
              <a:t>相关的日志：</a:t>
            </a:r>
          </a:p>
        </p:txBody>
      </p:sp>
      <p:sp>
        <p:nvSpPr>
          <p:cNvPr id="3" name="文本框 2">
            <a:extLst>
              <a:ext uri="{FF2B5EF4-FFF2-40B4-BE49-F238E27FC236}">
                <a16:creationId xmlns:a16="http://schemas.microsoft.com/office/drawing/2014/main" id="{72900D5A-8086-1691-33A1-3EED1ADF9073}"/>
              </a:ext>
            </a:extLst>
          </p:cNvPr>
          <p:cNvSpPr txBox="1"/>
          <p:nvPr/>
        </p:nvSpPr>
        <p:spPr>
          <a:xfrm>
            <a:off x="3046563" y="1163394"/>
            <a:ext cx="6098874" cy="369332"/>
          </a:xfrm>
          <a:prstGeom prst="rect">
            <a:avLst/>
          </a:prstGeom>
          <a:noFill/>
        </p:spPr>
        <p:txBody>
          <a:bodyPr wrap="square">
            <a:spAutoFit/>
          </a:bodyPr>
          <a:lstStyle/>
          <a:p>
            <a:r>
              <a:rPr lang="zh-CN" altLang="en-US"/>
              <a:t>AV_ENGINE: REQ_SEEK pos is 1511828489, mode is 2</a:t>
            </a:r>
          </a:p>
        </p:txBody>
      </p:sp>
      <p:pic>
        <p:nvPicPr>
          <p:cNvPr id="6" name="图片 5">
            <a:extLst>
              <a:ext uri="{FF2B5EF4-FFF2-40B4-BE49-F238E27FC236}">
                <a16:creationId xmlns:a16="http://schemas.microsoft.com/office/drawing/2014/main" id="{8594951E-6E03-29A4-554A-FD754D08FB6A}"/>
              </a:ext>
            </a:extLst>
          </p:cNvPr>
          <p:cNvPicPr>
            <a:picLocks noChangeAspect="1"/>
          </p:cNvPicPr>
          <p:nvPr/>
        </p:nvPicPr>
        <p:blipFill>
          <a:blip r:embed="rId2"/>
          <a:stretch>
            <a:fillRect/>
          </a:stretch>
        </p:blipFill>
        <p:spPr>
          <a:xfrm>
            <a:off x="6096000" y="1636705"/>
            <a:ext cx="5575556" cy="3659579"/>
          </a:xfrm>
          <a:prstGeom prst="rect">
            <a:avLst/>
          </a:prstGeom>
        </p:spPr>
      </p:pic>
      <p:pic>
        <p:nvPicPr>
          <p:cNvPr id="8" name="图片 7" descr="日程表&#10;&#10;描述已自动生成">
            <a:extLst>
              <a:ext uri="{FF2B5EF4-FFF2-40B4-BE49-F238E27FC236}">
                <a16:creationId xmlns:a16="http://schemas.microsoft.com/office/drawing/2014/main" id="{34575AEF-7949-8DAE-4A2F-9F7D0FE69E6F}"/>
              </a:ext>
            </a:extLst>
          </p:cNvPr>
          <p:cNvPicPr>
            <a:picLocks noChangeAspect="1"/>
          </p:cNvPicPr>
          <p:nvPr/>
        </p:nvPicPr>
        <p:blipFill rotWithShape="1">
          <a:blip r:embed="rId3">
            <a:extLst>
              <a:ext uri="{28A0092B-C50C-407E-A947-70E740481C1C}">
                <a14:useLocalDpi xmlns:a14="http://schemas.microsoft.com/office/drawing/2010/main" val="0"/>
              </a:ext>
            </a:extLst>
          </a:blip>
          <a:srcRect t="4266" b="5116"/>
          <a:stretch/>
        </p:blipFill>
        <p:spPr>
          <a:xfrm>
            <a:off x="190679" y="1544854"/>
            <a:ext cx="5842070" cy="4902397"/>
          </a:xfrm>
          <a:prstGeom prst="rect">
            <a:avLst/>
          </a:prstGeom>
        </p:spPr>
      </p:pic>
      <p:sp>
        <p:nvSpPr>
          <p:cNvPr id="9" name="文本框 8">
            <a:extLst>
              <a:ext uri="{FF2B5EF4-FFF2-40B4-BE49-F238E27FC236}">
                <a16:creationId xmlns:a16="http://schemas.microsoft.com/office/drawing/2014/main" id="{F428DA3D-681B-53F7-5E52-BAE593F16AD1}"/>
              </a:ext>
            </a:extLst>
          </p:cNvPr>
          <p:cNvSpPr txBox="1"/>
          <p:nvPr/>
        </p:nvSpPr>
        <p:spPr>
          <a:xfrm>
            <a:off x="6150634" y="5571370"/>
            <a:ext cx="5654990" cy="875881"/>
          </a:xfrm>
          <a:prstGeom prst="rect">
            <a:avLst/>
          </a:prstGeom>
          <a:noFill/>
        </p:spPr>
        <p:txBody>
          <a:bodyPr wrap="square" rtlCol="0">
            <a:spAutoFit/>
          </a:bodyPr>
          <a:lstStyle/>
          <a:p>
            <a:pPr>
              <a:lnSpc>
                <a:spcPct val="150000"/>
              </a:lnSpc>
            </a:pPr>
            <a:r>
              <a:rPr kumimoji="1" lang="zh-CN" altLang="en-US"/>
              <a:t>在切换软解时，消息机制将硬解上一帧解码输出的时间点传递给软解继续解码。</a:t>
            </a:r>
          </a:p>
        </p:txBody>
      </p:sp>
    </p:spTree>
    <p:extLst>
      <p:ext uri="{BB962C8B-B14F-4D97-AF65-F5344CB8AC3E}">
        <p14:creationId xmlns:p14="http://schemas.microsoft.com/office/powerpoint/2010/main" val="2809167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4862CE5D-2E6D-E211-1FF7-E40A8514367C}"/>
              </a:ext>
            </a:extLst>
          </p:cNvPr>
          <p:cNvSpPr txBox="1"/>
          <p:nvPr/>
        </p:nvSpPr>
        <p:spPr>
          <a:xfrm>
            <a:off x="320122" y="830393"/>
            <a:ext cx="11551755" cy="461665"/>
          </a:xfrm>
          <a:prstGeom prst="rect">
            <a:avLst/>
          </a:prstGeom>
          <a:noFill/>
        </p:spPr>
        <p:txBody>
          <a:bodyPr wrap="square">
            <a:spAutoFit/>
          </a:bodyPr>
          <a:lstStyle/>
          <a:p>
            <a:r>
              <a:rPr lang="zh-CN" altLang="en-US" sz="2400" b="1"/>
              <a:t>为什么会是1511828489？</a:t>
            </a:r>
          </a:p>
        </p:txBody>
      </p:sp>
      <p:sp>
        <p:nvSpPr>
          <p:cNvPr id="8" name="文本框 7">
            <a:extLst>
              <a:ext uri="{FF2B5EF4-FFF2-40B4-BE49-F238E27FC236}">
                <a16:creationId xmlns:a16="http://schemas.microsoft.com/office/drawing/2014/main" id="{4B586DCC-3A1E-709A-7E3F-64607BF6AB40}"/>
              </a:ext>
            </a:extLst>
          </p:cNvPr>
          <p:cNvSpPr txBox="1"/>
          <p:nvPr/>
        </p:nvSpPr>
        <p:spPr>
          <a:xfrm>
            <a:off x="320122" y="1248154"/>
            <a:ext cx="11551755" cy="875881"/>
          </a:xfrm>
          <a:prstGeom prst="rect">
            <a:avLst/>
          </a:prstGeom>
          <a:noFill/>
        </p:spPr>
        <p:txBody>
          <a:bodyPr wrap="square" rtlCol="0">
            <a:spAutoFit/>
          </a:bodyPr>
          <a:lstStyle/>
          <a:p>
            <a:pPr>
              <a:lnSpc>
                <a:spcPct val="150000"/>
              </a:lnSpc>
            </a:pPr>
            <a:r>
              <a:rPr kumimoji="1" lang="zh-CN" altLang="en-US"/>
              <a:t>由于</a:t>
            </a:r>
            <a:r>
              <a:rPr kumimoji="1" lang="en-US" altLang="zh-CN"/>
              <a:t>sendMessage</a:t>
            </a:r>
            <a:r>
              <a:rPr kumimoji="1" lang="zh-CN" altLang="en-US"/>
              <a:t>接收的是</a:t>
            </a:r>
            <a:r>
              <a:rPr kumimoji="1" lang="en-US" altLang="zh-CN"/>
              <a:t>int</a:t>
            </a:r>
            <a:r>
              <a:rPr kumimoji="1" lang="zh-CN" altLang="en-US"/>
              <a:t>型参数，使用</a:t>
            </a:r>
            <a:r>
              <a:rPr kumimoji="1" lang="en-US" altLang="zh-CN"/>
              <a:t>%d</a:t>
            </a:r>
            <a:r>
              <a:rPr kumimoji="1" lang="zh-CN" altLang="en-US"/>
              <a:t>打印，结果怎么是</a:t>
            </a:r>
            <a:r>
              <a:rPr kumimoji="1" lang="en-US" altLang="zh-CN"/>
              <a:t>0</a:t>
            </a:r>
            <a:r>
              <a:rPr kumimoji="1" lang="zh-CN" altLang="en-US"/>
              <a:t>？继续打印该变量数据类型，发现是“</a:t>
            </a:r>
            <a:r>
              <a:rPr kumimoji="1" lang="en-US" altLang="zh-CN"/>
              <a:t>Long</a:t>
            </a:r>
            <a:r>
              <a:rPr kumimoji="1" lang="zh-CN" altLang="en-US"/>
              <a:t>”。重新使用“</a:t>
            </a:r>
            <a:r>
              <a:rPr kumimoji="1" lang="en-US" altLang="zh-CN"/>
              <a:t>%ld</a:t>
            </a:r>
            <a:r>
              <a:rPr kumimoji="1" lang="zh-CN" altLang="en-US"/>
              <a:t>”打印为</a:t>
            </a:r>
            <a:r>
              <a:rPr lang="en-US" altLang="zh-CN"/>
              <a:t>-9223372036854775808</a:t>
            </a:r>
            <a:r>
              <a:rPr lang="zh-CN" altLang="en-US"/>
              <a:t>，该值的初始化为</a:t>
            </a:r>
            <a:r>
              <a:rPr lang="en-US" altLang="zh-CN"/>
              <a:t>INT64_MIN</a:t>
            </a:r>
            <a:r>
              <a:rPr lang="zh-CN" altLang="en-US"/>
              <a:t>，</a:t>
            </a:r>
            <a:r>
              <a:rPr lang="zh-CN" altLang="en-US" b="0" i="0">
                <a:solidFill>
                  <a:srgbClr val="404040"/>
                </a:solidFill>
                <a:effectLst/>
                <a:latin typeface="DeepSeek-CJK-patch"/>
              </a:rPr>
              <a:t>是</a:t>
            </a:r>
            <a:r>
              <a:rPr lang="en-US" altLang="zh-CN" b="0" i="0">
                <a:solidFill>
                  <a:srgbClr val="404040"/>
                </a:solidFill>
                <a:effectLst/>
                <a:latin typeface="DeepSeek-CJK-patch"/>
              </a:rPr>
              <a:t>64</a:t>
            </a:r>
            <a:r>
              <a:rPr lang="zh-CN" altLang="en-US" b="0" i="0">
                <a:solidFill>
                  <a:srgbClr val="404040"/>
                </a:solidFill>
                <a:effectLst/>
                <a:latin typeface="DeepSeek-CJK-patch"/>
              </a:rPr>
              <a:t>位有符号整数的最小值 </a:t>
            </a:r>
            <a:r>
              <a:rPr lang="zh-CN" altLang="en-US"/>
              <a:t>。</a:t>
            </a:r>
            <a:endParaRPr kumimoji="1" lang="zh-CN" altLang="en-US"/>
          </a:p>
        </p:txBody>
      </p:sp>
      <p:sp>
        <p:nvSpPr>
          <p:cNvPr id="10" name="文本框 9">
            <a:extLst>
              <a:ext uri="{FF2B5EF4-FFF2-40B4-BE49-F238E27FC236}">
                <a16:creationId xmlns:a16="http://schemas.microsoft.com/office/drawing/2014/main" id="{6851D7DD-8E8F-4957-4C45-12E07041E19A}"/>
              </a:ext>
            </a:extLst>
          </p:cNvPr>
          <p:cNvSpPr txBox="1"/>
          <p:nvPr/>
        </p:nvSpPr>
        <p:spPr>
          <a:xfrm>
            <a:off x="320122" y="2252469"/>
            <a:ext cx="7672594" cy="1061829"/>
          </a:xfrm>
          <a:prstGeom prst="rect">
            <a:avLst/>
          </a:prstGeom>
          <a:noFill/>
        </p:spPr>
        <p:txBody>
          <a:bodyPr wrap="square">
            <a:spAutoFit/>
          </a:bodyPr>
          <a:lstStyle/>
          <a:p>
            <a:r>
              <a:rPr lang="zh-CN" altLang="en-US"/>
              <a:t>ALOGI(</a:t>
            </a:r>
            <a:r>
              <a:rPr lang="en-US" altLang="zh-CN"/>
              <a:t>“</a:t>
            </a:r>
            <a:r>
              <a:rPr lang="zh-CN" altLang="en-US"/>
              <a:t>Wuge _lastOutputPts:%d</a:t>
            </a:r>
            <a:r>
              <a:rPr lang="en-US" altLang="zh-CN"/>
              <a:t>”</a:t>
            </a:r>
            <a:r>
              <a:rPr lang="zh-CN" altLang="en-US"/>
              <a:t>, _lastOutputPts);</a:t>
            </a:r>
            <a:r>
              <a:rPr lang="en-US" altLang="zh-CN"/>
              <a:t>//</a:t>
            </a:r>
            <a:r>
              <a:rPr lang="zh-CN" altLang="en-US"/>
              <a:t> </a:t>
            </a:r>
            <a:r>
              <a:rPr lang="en-US" altLang="zh-CN"/>
              <a:t>0</a:t>
            </a:r>
          </a:p>
          <a:p>
            <a:pPr>
              <a:lnSpc>
                <a:spcPct val="150000"/>
              </a:lnSpc>
            </a:pPr>
            <a:r>
              <a:rPr lang="en" altLang="zh-CN"/>
              <a:t>ALOGI(“Wuge Variable type: %s”, typeid(_lastOutputPts).name());</a:t>
            </a:r>
            <a:r>
              <a:rPr lang="en-US" altLang="zh-CN"/>
              <a:t>//</a:t>
            </a:r>
            <a:r>
              <a:rPr lang="zh-CN" altLang="en-US"/>
              <a:t> </a:t>
            </a:r>
            <a:r>
              <a:rPr lang="en-US" altLang="zh-CN"/>
              <a:t>l</a:t>
            </a:r>
            <a:r>
              <a:rPr lang="en" altLang="zh-CN"/>
              <a:t> </a:t>
            </a:r>
          </a:p>
          <a:p>
            <a:r>
              <a:rPr lang="en" altLang="zh-CN"/>
              <a:t>ALOGI(“Wuge _lastOutputPts: %ld”, _lastOutputPts);</a:t>
            </a:r>
            <a:r>
              <a:rPr lang="zh-CN" altLang="en-US"/>
              <a:t> </a:t>
            </a:r>
            <a:r>
              <a:rPr lang="en-US" altLang="zh-CN"/>
              <a:t>//</a:t>
            </a:r>
            <a:r>
              <a:rPr lang="zh-CN" altLang="en-US"/>
              <a:t> </a:t>
            </a:r>
            <a:r>
              <a:rPr lang="en-US" altLang="zh-CN"/>
              <a:t>-9223372036854775808</a:t>
            </a:r>
            <a:endParaRPr lang="zh-CN" altLang="en-US"/>
          </a:p>
        </p:txBody>
      </p:sp>
      <p:sp>
        <p:nvSpPr>
          <p:cNvPr id="13" name="文本框 12">
            <a:extLst>
              <a:ext uri="{FF2B5EF4-FFF2-40B4-BE49-F238E27FC236}">
                <a16:creationId xmlns:a16="http://schemas.microsoft.com/office/drawing/2014/main" id="{B96732BC-3EA4-FFCC-8585-5BD5281ADCB3}"/>
              </a:ext>
            </a:extLst>
          </p:cNvPr>
          <p:cNvSpPr txBox="1"/>
          <p:nvPr/>
        </p:nvSpPr>
        <p:spPr>
          <a:xfrm>
            <a:off x="320122" y="3507022"/>
            <a:ext cx="1694759" cy="369332"/>
          </a:xfrm>
          <a:prstGeom prst="rect">
            <a:avLst/>
          </a:prstGeom>
          <a:noFill/>
        </p:spPr>
        <p:txBody>
          <a:bodyPr wrap="none" rtlCol="0">
            <a:spAutoFit/>
          </a:bodyPr>
          <a:lstStyle/>
          <a:p>
            <a:r>
              <a:rPr kumimoji="1" lang="en-US" altLang="zh-CN"/>
              <a:t>C++</a:t>
            </a:r>
            <a:r>
              <a:rPr kumimoji="1" lang="zh-CN" altLang="en-US"/>
              <a:t>计算步骤：</a:t>
            </a:r>
          </a:p>
        </p:txBody>
      </p:sp>
      <p:pic>
        <p:nvPicPr>
          <p:cNvPr id="26" name="图片 25" descr="图片包含 图形用户界面&#10;&#10;描述已自动生成">
            <a:extLst>
              <a:ext uri="{FF2B5EF4-FFF2-40B4-BE49-F238E27FC236}">
                <a16:creationId xmlns:a16="http://schemas.microsoft.com/office/drawing/2014/main" id="{0B1B765E-5F90-90B1-FD85-5A7186651170}"/>
              </a:ext>
            </a:extLst>
          </p:cNvPr>
          <p:cNvPicPr>
            <a:picLocks noChangeAspect="1"/>
          </p:cNvPicPr>
          <p:nvPr/>
        </p:nvPicPr>
        <p:blipFill rotWithShape="1">
          <a:blip r:embed="rId2">
            <a:extLst>
              <a:ext uri="{28A0092B-C50C-407E-A947-70E740481C1C}">
                <a14:useLocalDpi xmlns:a14="http://schemas.microsoft.com/office/drawing/2010/main" val="0"/>
              </a:ext>
            </a:extLst>
          </a:blip>
          <a:srcRect t="38809" b="39150"/>
          <a:stretch/>
        </p:blipFill>
        <p:spPr>
          <a:xfrm>
            <a:off x="1196013" y="3795290"/>
            <a:ext cx="9799972" cy="1877352"/>
          </a:xfrm>
          <a:prstGeom prst="rect">
            <a:avLst/>
          </a:prstGeom>
        </p:spPr>
      </p:pic>
      <p:sp>
        <p:nvSpPr>
          <p:cNvPr id="27" name="文本框 26">
            <a:extLst>
              <a:ext uri="{FF2B5EF4-FFF2-40B4-BE49-F238E27FC236}">
                <a16:creationId xmlns:a16="http://schemas.microsoft.com/office/drawing/2014/main" id="{C1D83399-3D55-BA42-3189-42EA02B7BA95}"/>
              </a:ext>
            </a:extLst>
          </p:cNvPr>
          <p:cNvSpPr txBox="1"/>
          <p:nvPr/>
        </p:nvSpPr>
        <p:spPr>
          <a:xfrm>
            <a:off x="320122" y="5676525"/>
            <a:ext cx="10545451" cy="369332"/>
          </a:xfrm>
          <a:prstGeom prst="rect">
            <a:avLst/>
          </a:prstGeom>
          <a:noFill/>
        </p:spPr>
        <p:txBody>
          <a:bodyPr wrap="none" rtlCol="0">
            <a:spAutoFit/>
          </a:bodyPr>
          <a:lstStyle/>
          <a:p>
            <a:r>
              <a:rPr kumimoji="1" lang="zh-CN" altLang="en-US"/>
              <a:t>由于定义是</a:t>
            </a:r>
            <a:r>
              <a:rPr lang="en-US" altLang="zh-CN"/>
              <a:t>INT64_MIN</a:t>
            </a:r>
            <a:r>
              <a:rPr lang="zh-CN" altLang="en-US"/>
              <a:t>，形参为</a:t>
            </a:r>
            <a:r>
              <a:rPr lang="en-US" altLang="zh-CN"/>
              <a:t>int(int_32)</a:t>
            </a:r>
            <a:r>
              <a:rPr lang="zh-CN" altLang="en-US"/>
              <a:t>，导致传参时会被截断导致错误的参数传递，应避免使用。</a:t>
            </a:r>
            <a:endParaRPr kumimoji="1" lang="zh-CN" altLang="en-US"/>
          </a:p>
        </p:txBody>
      </p:sp>
    </p:spTree>
    <p:extLst>
      <p:ext uri="{BB962C8B-B14F-4D97-AF65-F5344CB8AC3E}">
        <p14:creationId xmlns:p14="http://schemas.microsoft.com/office/powerpoint/2010/main" val="1328158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解决方案</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8F43E74-18D3-DB52-02FC-A0CA73273B49}"/>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sp>
        <p:nvSpPr>
          <p:cNvPr id="3" name="文本框 2">
            <a:extLst>
              <a:ext uri="{FF2B5EF4-FFF2-40B4-BE49-F238E27FC236}">
                <a16:creationId xmlns:a16="http://schemas.microsoft.com/office/drawing/2014/main" id="{5E8D5024-3B18-3B66-FE32-02F9DCBAE244}"/>
              </a:ext>
            </a:extLst>
          </p:cNvPr>
          <p:cNvSpPr txBox="1"/>
          <p:nvPr/>
        </p:nvSpPr>
        <p:spPr>
          <a:xfrm>
            <a:off x="393107" y="846781"/>
            <a:ext cx="11534553" cy="1291379"/>
          </a:xfrm>
          <a:prstGeom prst="rect">
            <a:avLst/>
          </a:prstGeom>
          <a:noFill/>
        </p:spPr>
        <p:txBody>
          <a:bodyPr wrap="square" rtlCol="0">
            <a:spAutoFit/>
          </a:bodyPr>
          <a:lstStyle/>
          <a:p>
            <a:pPr>
              <a:lnSpc>
                <a:spcPct val="150000"/>
              </a:lnSpc>
            </a:pPr>
            <a:r>
              <a:rPr kumimoji="1" lang="zh-CN" altLang="en-US" b="1"/>
              <a:t>问题的根因：视频播放器在最近的一次修改中，将</a:t>
            </a:r>
            <a:r>
              <a:rPr kumimoji="1" lang="en" altLang="zh-CN" b="1"/>
              <a:t>_lastOutputPts </a:t>
            </a:r>
            <a:r>
              <a:rPr kumimoji="1" lang="zh-CN" altLang="en" b="1"/>
              <a:t>初始化</a:t>
            </a:r>
            <a:r>
              <a:rPr kumimoji="1" lang="zh-CN" altLang="en-US" b="1"/>
              <a:t>为</a:t>
            </a:r>
            <a:r>
              <a:rPr kumimoji="1" lang="en" altLang="zh-CN" b="1"/>
              <a:t>INT</a:t>
            </a:r>
            <a:r>
              <a:rPr kumimoji="1" lang="en-US" altLang="zh-CN" b="1"/>
              <a:t>64</a:t>
            </a:r>
            <a:r>
              <a:rPr kumimoji="1" lang="en" altLang="zh-CN" b="1"/>
              <a:t>_MIN</a:t>
            </a:r>
            <a:r>
              <a:rPr kumimoji="1" lang="zh-CN" altLang="en-US" b="1"/>
              <a:t>，数值上为</a:t>
            </a:r>
            <a:r>
              <a:rPr kumimoji="1" lang="en-US" altLang="zh-CN" b="1"/>
              <a:t>64</a:t>
            </a:r>
            <a:r>
              <a:rPr kumimoji="1" lang="zh-CN" altLang="en-US" b="1"/>
              <a:t>位有符号整数的最小值 ，含义为未初始化的变量。（这就是为什么开始不赋值</a:t>
            </a:r>
            <a:r>
              <a:rPr kumimoji="1" lang="en-US" altLang="zh-CN" b="1"/>
              <a:t>0</a:t>
            </a:r>
            <a:r>
              <a:rPr kumimoji="1" lang="zh-CN" altLang="en-US" b="1"/>
              <a:t>，因为</a:t>
            </a:r>
            <a:r>
              <a:rPr kumimoji="1" lang="en-US" altLang="zh-CN" b="1"/>
              <a:t>0</a:t>
            </a:r>
            <a:r>
              <a:rPr kumimoji="1" lang="zh-CN" altLang="en-US" b="1"/>
              <a:t>是有意义的）。而在硬解切换软解时该变量由于硬解没有解码未被初始化就被传递到软解中进行</a:t>
            </a:r>
            <a:r>
              <a:rPr kumimoji="1" lang="en-US" altLang="zh-CN" b="1"/>
              <a:t>seek</a:t>
            </a:r>
            <a:r>
              <a:rPr kumimoji="1" lang="zh-CN" altLang="en-US" b="1"/>
              <a:t>操作。</a:t>
            </a:r>
            <a:endParaRPr kumimoji="1" lang="en-US" altLang="zh-CN" b="1"/>
          </a:p>
        </p:txBody>
      </p:sp>
      <p:sp>
        <p:nvSpPr>
          <p:cNvPr id="7" name="文本框 6">
            <a:extLst>
              <a:ext uri="{FF2B5EF4-FFF2-40B4-BE49-F238E27FC236}">
                <a16:creationId xmlns:a16="http://schemas.microsoft.com/office/drawing/2014/main" id="{3D3F5C12-8FE1-B9C8-FC59-DDAC4213AD47}"/>
              </a:ext>
            </a:extLst>
          </p:cNvPr>
          <p:cNvSpPr txBox="1"/>
          <p:nvPr/>
        </p:nvSpPr>
        <p:spPr>
          <a:xfrm>
            <a:off x="482120" y="2644073"/>
            <a:ext cx="8241094" cy="2957861"/>
          </a:xfrm>
          <a:prstGeom prst="rect">
            <a:avLst/>
          </a:prstGeom>
          <a:noFill/>
        </p:spPr>
        <p:txBody>
          <a:bodyPr wrap="square">
            <a:spAutoFit/>
          </a:bodyPr>
          <a:lstStyle/>
          <a:p>
            <a:pPr>
              <a:lnSpc>
                <a:spcPct val="150000"/>
              </a:lnSpc>
              <a:defRPr/>
            </a:pPr>
            <a:r>
              <a:rPr kumimoji="1" lang="en" altLang="zh-CN"/>
              <a:t>ALOGE("HW decoder: dequeueInputBuffer Err:%d", inputIndex);</a:t>
            </a:r>
          </a:p>
          <a:p>
            <a:pPr>
              <a:lnSpc>
                <a:spcPct val="150000"/>
              </a:lnSpc>
              <a:defRPr/>
            </a:pPr>
            <a:r>
              <a:rPr kumimoji="1" lang="en" altLang="zh-CN"/>
              <a:t>If(_lastOutputPts == INT</a:t>
            </a:r>
            <a:r>
              <a:rPr kumimoji="1" lang="en-US" altLang="zh-CN"/>
              <a:t>64</a:t>
            </a:r>
            <a:r>
              <a:rPr kumimoji="1" lang="en" altLang="zh-CN"/>
              <a:t>_MIN){</a:t>
            </a:r>
          </a:p>
          <a:p>
            <a:pPr>
              <a:lnSpc>
                <a:spcPct val="150000"/>
              </a:lnSpc>
              <a:defRPr/>
            </a:pPr>
            <a:r>
              <a:rPr kumimoji="1" lang="en" altLang="zh-CN"/>
              <a:t>	_lastOutputPts  =  0;</a:t>
            </a:r>
            <a:br>
              <a:rPr kumimoji="1" lang="en" altLang="zh-CN"/>
            </a:br>
            <a:r>
              <a:rPr kumimoji="1" lang="en" altLang="zh-CN"/>
              <a:t>}</a:t>
            </a:r>
          </a:p>
          <a:p>
            <a:pPr>
              <a:lnSpc>
                <a:spcPct val="150000"/>
              </a:lnSpc>
              <a:defRPr/>
            </a:pPr>
            <a:r>
              <a:rPr kumimoji="1" lang="en" altLang="zh-CN"/>
              <a:t>sendMessage(MSG_AV_CODEC_VIDEO_HW_DECODE_ERROR, _lastOutputPts / 1000);</a:t>
            </a:r>
          </a:p>
          <a:p>
            <a:pPr>
              <a:lnSpc>
                <a:spcPct val="150000"/>
              </a:lnSpc>
              <a:defRPr/>
            </a:pPr>
            <a:r>
              <a:rPr kumimoji="1" lang="en" altLang="zh-CN"/>
              <a:t>av_packet_unref(pkt);</a:t>
            </a:r>
          </a:p>
          <a:p>
            <a:pPr>
              <a:lnSpc>
                <a:spcPct val="150000"/>
              </a:lnSpc>
              <a:defRPr/>
            </a:pPr>
            <a:r>
              <a:rPr kumimoji="1" lang="en" altLang="zh-CN"/>
              <a:t>SDL_UnlockMutex(_mutex);</a:t>
            </a:r>
          </a:p>
        </p:txBody>
      </p:sp>
      <p:sp>
        <p:nvSpPr>
          <p:cNvPr id="9" name="文本框 8">
            <a:extLst>
              <a:ext uri="{FF2B5EF4-FFF2-40B4-BE49-F238E27FC236}">
                <a16:creationId xmlns:a16="http://schemas.microsoft.com/office/drawing/2014/main" id="{B2694CEF-C4F3-858D-8257-37B472A1D7AE}"/>
              </a:ext>
            </a:extLst>
          </p:cNvPr>
          <p:cNvSpPr txBox="1"/>
          <p:nvPr/>
        </p:nvSpPr>
        <p:spPr>
          <a:xfrm>
            <a:off x="6546457" y="3247122"/>
            <a:ext cx="5163423" cy="875881"/>
          </a:xfrm>
          <a:prstGeom prst="rect">
            <a:avLst/>
          </a:prstGeom>
          <a:noFill/>
        </p:spPr>
        <p:txBody>
          <a:bodyPr wrap="square">
            <a:spAutoFit/>
          </a:bodyPr>
          <a:lstStyle/>
          <a:p>
            <a:pPr>
              <a:lnSpc>
                <a:spcPct val="150000"/>
              </a:lnSpc>
            </a:pPr>
            <a:r>
              <a:rPr kumimoji="1" lang="zh-CN" altLang="en-US">
                <a:solidFill>
                  <a:srgbClr val="404040"/>
                </a:solidFill>
                <a:latin typeface="DeepSeek-CJK-patch"/>
              </a:rPr>
              <a:t>在该值被传递前进行检查，若没有初始化则赋值</a:t>
            </a:r>
            <a:r>
              <a:rPr kumimoji="1" lang="en-US" altLang="zh-CN">
                <a:solidFill>
                  <a:srgbClr val="404040"/>
                </a:solidFill>
                <a:latin typeface="DeepSeek-CJK-patch"/>
              </a:rPr>
              <a:t>0</a:t>
            </a:r>
            <a:r>
              <a:rPr kumimoji="1" lang="zh-CN" altLang="en-US">
                <a:solidFill>
                  <a:srgbClr val="404040"/>
                </a:solidFill>
                <a:latin typeface="DeepSeek-CJK-patch"/>
              </a:rPr>
              <a:t>。说明硬解没有解码，软解将从第一帧开始解码。</a:t>
            </a:r>
            <a:endParaRPr kumimoji="1" lang="en-US" altLang="zh-CN" b="1"/>
          </a:p>
        </p:txBody>
      </p:sp>
      <p:sp>
        <p:nvSpPr>
          <p:cNvPr id="10" name="右箭头 9">
            <a:extLst>
              <a:ext uri="{FF2B5EF4-FFF2-40B4-BE49-F238E27FC236}">
                <a16:creationId xmlns:a16="http://schemas.microsoft.com/office/drawing/2014/main" id="{406753F0-0245-19EB-EE42-7A1A31287757}"/>
              </a:ext>
            </a:extLst>
          </p:cNvPr>
          <p:cNvSpPr/>
          <p:nvPr/>
        </p:nvSpPr>
        <p:spPr>
          <a:xfrm>
            <a:off x="4577395" y="3429000"/>
            <a:ext cx="1518605" cy="627312"/>
          </a:xfrm>
          <a:prstGeom prst="rightArrow">
            <a:avLst/>
          </a:prstGeom>
          <a:solidFill>
            <a:schemeClr val="accent1">
              <a:lumMod val="60000"/>
              <a:lumOff val="4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146682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总结</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7443" y="486248"/>
            <a:ext cx="11342908" cy="790833"/>
          </a:xfrm>
          <a:prstGeom prst="rect">
            <a:avLst/>
          </a:prstGeom>
        </p:spPr>
        <p:txBody>
          <a:bodyPr wrap="none">
            <a:noAutofit/>
          </a:bodyPr>
          <a:lstStyle/>
          <a:p>
            <a:pPr>
              <a:lnSpc>
                <a:spcPct val="250000"/>
              </a:lnSpc>
            </a:pPr>
            <a:r>
              <a:rPr lang="zh-CN" altLang="en-US" sz="2200" b="1">
                <a:latin typeface="微软雅黑" panose="020B0503020204020204" pitchFamily="34" charset="-122"/>
                <a:ea typeface="微软雅黑" panose="020B0503020204020204" pitchFamily="34" charset="-122"/>
              </a:rPr>
              <a:t>方法论</a:t>
            </a:r>
            <a:r>
              <a:rPr lang="en-US" altLang="zh-CN" sz="2200" b="1">
                <a:latin typeface="微软雅黑" panose="020B0503020204020204" pitchFamily="34" charset="-122"/>
                <a:ea typeface="微软雅黑" panose="020B0503020204020204" pitchFamily="34" charset="-122"/>
              </a:rPr>
              <a:t>——</a:t>
            </a:r>
            <a:r>
              <a:rPr kumimoji="1" lang="zh-CN" altLang="en-US" sz="2200" b="1">
                <a:latin typeface="微软雅黑" panose="020B0503020204020204" pitchFamily="34" charset="-122"/>
                <a:ea typeface="微软雅黑" panose="020B0503020204020204" pitchFamily="34" charset="-122"/>
              </a:rPr>
              <a:t>视频播放失败或者花屏问题的一般分析流程</a:t>
            </a:r>
            <a:endParaRPr lang="en-US" altLang="zh-CN" sz="2200" b="1">
              <a:latin typeface="微软雅黑" panose="020B0503020204020204" pitchFamily="34" charset="-122"/>
              <a:ea typeface="微软雅黑" panose="020B0503020204020204" pitchFamily="34" charset="-122"/>
            </a:endParaRPr>
          </a:p>
        </p:txBody>
      </p:sp>
      <p:sp>
        <p:nvSpPr>
          <p:cNvPr id="5" name="文本框 4"/>
          <p:cNvSpPr txBox="1"/>
          <p:nvPr/>
        </p:nvSpPr>
        <p:spPr>
          <a:xfrm>
            <a:off x="417443" y="178904"/>
            <a:ext cx="825867"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总结</a:t>
            </a:r>
          </a:p>
        </p:txBody>
      </p:sp>
      <p:sp>
        <p:nvSpPr>
          <p:cNvPr id="3" name="文本框 2">
            <a:extLst>
              <a:ext uri="{FF2B5EF4-FFF2-40B4-BE49-F238E27FC236}">
                <a16:creationId xmlns:a16="http://schemas.microsoft.com/office/drawing/2014/main" id="{03E070B8-7569-16C1-7B50-C600D13B281F}"/>
              </a:ext>
            </a:extLst>
          </p:cNvPr>
          <p:cNvSpPr txBox="1"/>
          <p:nvPr/>
        </p:nvSpPr>
        <p:spPr>
          <a:xfrm>
            <a:off x="645239" y="1349332"/>
            <a:ext cx="11129318" cy="879087"/>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1.</a:t>
            </a:r>
            <a:r>
              <a:rPr kumimoji="1" lang="zh-CN" altLang="en-US">
                <a:latin typeface="微软雅黑" panose="020B0503020204020204" pitchFamily="34" charset="-122"/>
                <a:ea typeface="微软雅黑" panose="020B0503020204020204" pitchFamily="34" charset="-122"/>
              </a:rPr>
              <a:t> 若是可以拿到视频源，通过</a:t>
            </a:r>
            <a:r>
              <a:rPr kumimoji="1" lang="en-US" altLang="zh-CN">
                <a:latin typeface="微软雅黑" panose="020B0503020204020204" pitchFamily="34" charset="-122"/>
                <a:ea typeface="微软雅黑" panose="020B0503020204020204" pitchFamily="34" charset="-122"/>
              </a:rPr>
              <a:t>MediaInfo</a:t>
            </a:r>
            <a:r>
              <a:rPr kumimoji="1" lang="zh-CN" altLang="en-US">
                <a:latin typeface="微软雅黑" panose="020B0503020204020204" pitchFamily="34" charset="-122"/>
                <a:ea typeface="微软雅黑" panose="020B0503020204020204" pitchFamily="34" charset="-122"/>
              </a:rPr>
              <a:t>或者其他相似功能软件来查询该视频源中的音视频流的基本格式以及使用</a:t>
            </a:r>
            <a:r>
              <a:rPr kumimoji="1" lang="en-US" altLang="zh-CN">
                <a:latin typeface="微软雅黑" panose="020B0503020204020204" pitchFamily="34" charset="-122"/>
                <a:ea typeface="微软雅黑" panose="020B0503020204020204" pitchFamily="34" charset="-122"/>
              </a:rPr>
              <a:t>adb</a:t>
            </a:r>
            <a:r>
              <a:rPr kumimoji="1" lang="zh-CN" altLang="en-US">
                <a:latin typeface="微软雅黑" panose="020B0503020204020204" pitchFamily="34" charset="-122"/>
                <a:ea typeface="微软雅黑" panose="020B0503020204020204" pitchFamily="34" charset="-122"/>
              </a:rPr>
              <a:t>命令查询设备的视频解码器的支持规格，对比后确认是否支持源视频基本的格式播放。</a:t>
            </a:r>
            <a:endParaRPr kumimoji="1" lang="zh-CN" altLang="en-US"/>
          </a:p>
        </p:txBody>
      </p:sp>
      <p:sp>
        <p:nvSpPr>
          <p:cNvPr id="7" name="文本框 6">
            <a:extLst>
              <a:ext uri="{FF2B5EF4-FFF2-40B4-BE49-F238E27FC236}">
                <a16:creationId xmlns:a16="http://schemas.microsoft.com/office/drawing/2014/main" id="{77447DDE-AEBE-94A2-5EB0-8DE4284B03A1}"/>
              </a:ext>
            </a:extLst>
          </p:cNvPr>
          <p:cNvSpPr txBox="1"/>
          <p:nvPr/>
        </p:nvSpPr>
        <p:spPr>
          <a:xfrm>
            <a:off x="664885" y="2372921"/>
            <a:ext cx="11109672" cy="874407"/>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2.</a:t>
            </a:r>
            <a:r>
              <a:rPr kumimoji="1" lang="zh-CN" altLang="en-US">
                <a:latin typeface="微软雅黑" panose="020B0503020204020204" pitchFamily="34" charset="-122"/>
                <a:ea typeface="微软雅黑" panose="020B0503020204020204" pitchFamily="34" charset="-122"/>
              </a:rPr>
              <a:t> 若无视频源可以查询，可以通过查看或调试日志中</a:t>
            </a:r>
            <a:r>
              <a:rPr kumimoji="1" lang="en-US" altLang="zh-CN">
                <a:latin typeface="微软雅黑" panose="020B0503020204020204" pitchFamily="34" charset="-122"/>
                <a:ea typeface="微软雅黑" panose="020B0503020204020204" pitchFamily="34" charset="-122"/>
              </a:rPr>
              <a:t>Codec</a:t>
            </a:r>
            <a:r>
              <a:rPr kumimoji="1" lang="zh-CN" altLang="en-US">
                <a:latin typeface="微软雅黑" panose="020B0503020204020204" pitchFamily="34" charset="-122"/>
                <a:ea typeface="微软雅黑" panose="020B0503020204020204" pitchFamily="34" charset="-122"/>
              </a:rPr>
              <a:t>的相关日志打印来确定。若基本格式可以支持，则通过日志进一步跟踪</a:t>
            </a:r>
            <a:r>
              <a:rPr kumimoji="1" lang="en-US" altLang="zh-CN">
                <a:latin typeface="微软雅黑" panose="020B0503020204020204" pitchFamily="34" charset="-122"/>
                <a:ea typeface="微软雅黑" panose="020B0503020204020204" pitchFamily="34" charset="-122"/>
              </a:rPr>
              <a:t>Nuplayer/MediaCodec/Codec</a:t>
            </a:r>
            <a:r>
              <a:rPr kumimoji="1" lang="zh-CN" altLang="en-US">
                <a:latin typeface="微软雅黑" panose="020B0503020204020204" pitchFamily="34" charset="-122"/>
                <a:ea typeface="微软雅黑" panose="020B0503020204020204" pitchFamily="34" charset="-122"/>
              </a:rPr>
              <a:t>的生命周期来调试分析问题原因。</a:t>
            </a:r>
          </a:p>
        </p:txBody>
      </p:sp>
      <p:sp>
        <p:nvSpPr>
          <p:cNvPr id="8" name="文本框 7">
            <a:extLst>
              <a:ext uri="{FF2B5EF4-FFF2-40B4-BE49-F238E27FC236}">
                <a16:creationId xmlns:a16="http://schemas.microsoft.com/office/drawing/2014/main" id="{F29C98A3-4533-E4C3-CF05-DE7105049E1E}"/>
              </a:ext>
            </a:extLst>
          </p:cNvPr>
          <p:cNvSpPr txBox="1"/>
          <p:nvPr/>
        </p:nvSpPr>
        <p:spPr>
          <a:xfrm>
            <a:off x="664885" y="3391830"/>
            <a:ext cx="11000200" cy="874407"/>
          </a:xfrm>
          <a:prstGeom prst="rect">
            <a:avLst/>
          </a:prstGeom>
          <a:noFill/>
        </p:spPr>
        <p:txBody>
          <a:bodyPr wrap="square" rtlCol="0">
            <a:spAutoFit/>
          </a:bodyPr>
          <a:lstStyle/>
          <a:p>
            <a:pPr>
              <a:lnSpc>
                <a:spcPct val="150000"/>
              </a:lnSpc>
            </a:pPr>
            <a:r>
              <a:rPr kumimoji="1" lang="en-US" altLang="zh-CN">
                <a:latin typeface="微软雅黑" panose="020B0503020204020204" pitchFamily="34" charset="-122"/>
                <a:ea typeface="微软雅黑" panose="020B0503020204020204" pitchFamily="34" charset="-122"/>
              </a:rPr>
              <a:t>3.</a:t>
            </a:r>
            <a:r>
              <a:rPr kumimoji="1" lang="zh-CN" altLang="en-US">
                <a:latin typeface="微软雅黑" panose="020B0503020204020204" pitchFamily="34" charset="-122"/>
                <a:ea typeface="微软雅黑" panose="020B0503020204020204" pitchFamily="34" charset="-122"/>
              </a:rPr>
              <a:t> 在处理花屏问题时，若非软解播放，可以通过</a:t>
            </a:r>
            <a:r>
              <a:rPr kumimoji="1" lang="en-US" altLang="zh-CN">
                <a:latin typeface="微软雅黑" panose="020B0503020204020204" pitchFamily="34" charset="-122"/>
                <a:ea typeface="微软雅黑" panose="020B0503020204020204" pitchFamily="34" charset="-122"/>
              </a:rPr>
              <a:t>dump</a:t>
            </a:r>
            <a:r>
              <a:rPr kumimoji="1" lang="zh-CN" altLang="en-US">
                <a:latin typeface="微软雅黑" panose="020B0503020204020204" pitchFamily="34" charset="-122"/>
                <a:ea typeface="微软雅黑" panose="020B0503020204020204" pitchFamily="34" charset="-122"/>
              </a:rPr>
              <a:t>方法获取视频应用的送帧和解码后的</a:t>
            </a:r>
            <a:r>
              <a:rPr kumimoji="1" lang="en-US" altLang="zh-CN">
                <a:latin typeface="微软雅黑" panose="020B0503020204020204" pitchFamily="34" charset="-122"/>
                <a:ea typeface="微软雅黑" panose="020B0503020204020204" pitchFamily="34" charset="-122"/>
              </a:rPr>
              <a:t>YUV</a:t>
            </a:r>
            <a:r>
              <a:rPr kumimoji="1" lang="zh-CN" altLang="en-US">
                <a:latin typeface="微软雅黑" panose="020B0503020204020204" pitchFamily="34" charset="-122"/>
                <a:ea typeface="微软雅黑" panose="020B0503020204020204" pitchFamily="34" charset="-122"/>
              </a:rPr>
              <a:t>数据来快速界定是否为视频的硬解码问题。</a:t>
            </a:r>
          </a:p>
        </p:txBody>
      </p:sp>
      <p:sp>
        <p:nvSpPr>
          <p:cNvPr id="9" name="文本框 8">
            <a:extLst>
              <a:ext uri="{FF2B5EF4-FFF2-40B4-BE49-F238E27FC236}">
                <a16:creationId xmlns:a16="http://schemas.microsoft.com/office/drawing/2014/main" id="{275C8F04-D2B4-F323-C1B5-AE963B68AC2C}"/>
              </a:ext>
            </a:extLst>
          </p:cNvPr>
          <p:cNvSpPr txBox="1"/>
          <p:nvPr/>
        </p:nvSpPr>
        <p:spPr>
          <a:xfrm>
            <a:off x="417443" y="4731641"/>
            <a:ext cx="11129318" cy="874407"/>
          </a:xfrm>
          <a:prstGeom prst="rect">
            <a:avLst/>
          </a:prstGeom>
          <a:noFill/>
        </p:spPr>
        <p:txBody>
          <a:bodyPr wrap="square" rtlCol="0">
            <a:spAutoFit/>
          </a:bodyPr>
          <a:lstStyle/>
          <a:p>
            <a:pPr>
              <a:lnSpc>
                <a:spcPct val="150000"/>
              </a:lnSpc>
            </a:pPr>
            <a:r>
              <a:rPr kumimoji="1" lang="zh-CN" altLang="en-US" b="1">
                <a:latin typeface="微软雅黑" panose="020B0503020204020204" pitchFamily="34" charset="-122"/>
                <a:ea typeface="微软雅黑" panose="020B0503020204020204" pitchFamily="34" charset="-122"/>
              </a:rPr>
              <a:t>应用软件在下发视频解码业务前，应提前查询设备对视频解码的支持规格来做好不同的播放策略或者逻辑实现，增强应用在不同设备上的兼容性，提高用户的使用体验。</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4219827" y="2572068"/>
            <a:ext cx="6552730" cy="922020"/>
          </a:xfrm>
          <a:prstGeom prst="rect">
            <a:avLst/>
          </a:prstGeom>
          <a:noFill/>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愿景</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成为领先的智能产品和服务提供商</a:t>
            </a:r>
          </a:p>
        </p:txBody>
      </p:sp>
      <p:sp>
        <p:nvSpPr>
          <p:cNvPr id="8" name="矩形 7"/>
          <p:cNvSpPr/>
          <p:nvPr/>
        </p:nvSpPr>
        <p:spPr>
          <a:xfrm>
            <a:off x="4219827" y="1593273"/>
            <a:ext cx="6552730" cy="922020"/>
          </a:xfrm>
          <a:prstGeom prst="rect">
            <a:avLst/>
          </a:prstGeom>
          <a:noFill/>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使命</a:t>
            </a:r>
            <a:br>
              <a:rPr kumimoji="0" lang="en-US" altLang="zh-CN" sz="16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用科技为社会创造新价值</a:t>
            </a:r>
          </a:p>
        </p:txBody>
      </p:sp>
      <p:sp>
        <p:nvSpPr>
          <p:cNvPr id="9" name="矩形 8"/>
          <p:cNvSpPr/>
          <p:nvPr/>
        </p:nvSpPr>
        <p:spPr>
          <a:xfrm>
            <a:off x="4208735" y="3556261"/>
            <a:ext cx="3320619" cy="1660525"/>
          </a:xfrm>
          <a:prstGeom prst="rect">
            <a:avLst/>
          </a:prstGeom>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核心价值观</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以客户为中心</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以贡献者为本</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长期主义</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4743de0-5e1a-441d-be10-301dd693b907"/>
  <p:tag name="COMMONDATA" val="eyJoZGlkIjoiMGRmYjFhMjIwNDUzYWFiMGEwYTJlN2M1MTIxYjZmYTI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2cf2efd-bf1c-49fc-87d7-9106375ae1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rgbClr val="FF0000"/>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1774</Words>
  <Application>Microsoft Macintosh PowerPoint</Application>
  <PresentationFormat>宽屏</PresentationFormat>
  <Paragraphs>138</Paragraphs>
  <Slides>18</Slides>
  <Notes>0</Notes>
  <HiddenSlides>0</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18</vt:i4>
      </vt:variant>
    </vt:vector>
  </HeadingPairs>
  <TitlesOfParts>
    <vt:vector size="30" baseType="lpstr">
      <vt:lpstr>等线</vt:lpstr>
      <vt:lpstr>等线 Light</vt:lpstr>
      <vt:lpstr>楷体</vt:lpstr>
      <vt:lpstr>微软雅黑</vt:lpstr>
      <vt:lpstr>DeepSeek-CJK-patch</vt:lpstr>
      <vt:lpstr>Arial</vt:lpstr>
      <vt:lpstr>Arial Black</vt:lpstr>
      <vt:lpstr>Calibri</vt:lpstr>
      <vt:lpstr>Office 主题</vt:lpstr>
      <vt:lpstr>1_Office 主题​​</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2025-02-28T01:38:42Z</dcterms:created>
  <dcterms:modified xsi:type="dcterms:W3CDTF">2025-09-07T14:16:20Z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13D70385650B408FAEB72BEBD79E2F81</vt:lpwstr>
  </property>
  <property fmtid="{D5CDD505-2E9C-101B-9397-08002B2CF9AE}" pid="3" name="KSOProductBuildVer">
    <vt:lpwstr>2052-0.0.0.0</vt:lpwstr>
  </property>
</Properties>
</file>