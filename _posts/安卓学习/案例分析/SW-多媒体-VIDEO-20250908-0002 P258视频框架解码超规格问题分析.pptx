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29"/>
  </p:notesMasterIdLst>
  <p:sldIdLst>
    <p:sldId id="6170" r:id="rId5"/>
    <p:sldId id="1394" r:id="rId6"/>
    <p:sldId id="6162" r:id="rId7"/>
    <p:sldId id="1401" r:id="rId8"/>
    <p:sldId id="6171" r:id="rId9"/>
    <p:sldId id="1379" r:id="rId10"/>
    <p:sldId id="6172" r:id="rId11"/>
    <p:sldId id="1389" r:id="rId12"/>
    <p:sldId id="6173" r:id="rId13"/>
    <p:sldId id="1385" r:id="rId14"/>
    <p:sldId id="6195" r:id="rId15"/>
    <p:sldId id="6187" r:id="rId16"/>
    <p:sldId id="6188" r:id="rId17"/>
    <p:sldId id="6189" r:id="rId18"/>
    <p:sldId id="6190" r:id="rId19"/>
    <p:sldId id="6196" r:id="rId20"/>
    <p:sldId id="6191" r:id="rId21"/>
    <p:sldId id="6192" r:id="rId22"/>
    <p:sldId id="6174" r:id="rId23"/>
    <p:sldId id="6193" r:id="rId24"/>
    <p:sldId id="6194" r:id="rId25"/>
    <p:sldId id="6175" r:id="rId26"/>
    <p:sldId id="1380" r:id="rId27"/>
    <p:sldId id="6176"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CF3138"/>
    <a:srgbClr val="BA494F"/>
    <a:srgbClr val="FFFFFF"/>
    <a:srgbClr val="C44F3C"/>
    <a:srgbClr val="7CA193"/>
    <a:srgbClr val="1010F0"/>
    <a:srgbClr val="A5B07B"/>
    <a:srgbClr val="F1F1F1"/>
    <a:srgbClr val="C77D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6" autoAdjust="0"/>
    <p:restoredTop sz="93963" autoAdjust="0"/>
  </p:normalViewPr>
  <p:slideViewPr>
    <p:cSldViewPr snapToGrid="0" showGuides="1">
      <p:cViewPr varScale="1">
        <p:scale>
          <a:sx n="127" d="100"/>
          <a:sy n="127" d="100"/>
        </p:scale>
        <p:origin x="720"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-VIDEO-20250908-0002 P258</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视频框架解码超规格问题分析</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1768671850"/>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a:solidFill>
                            <a:schemeClr val="tx1"/>
                          </a:solidFill>
                          <a:effectLst/>
                          <a:latin typeface="微软雅黑" panose="020B0503020204020204" pitchFamily="34" charset="-122"/>
                          <a:ea typeface="微软雅黑" panose="020B0503020204020204" pitchFamily="34" charset="-122"/>
                        </a:rPr>
                        <a:t>项俊</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3651188697"/>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8"/>
            <a:ext cx="11505460" cy="2186609"/>
          </a:xfrm>
          <a:prstGeom prst="rect">
            <a:avLst/>
          </a:prstGeom>
          <a:noFill/>
        </p:spPr>
        <p:txBody>
          <a:bodyPr wrap="square" rtlCol="0">
            <a:noAutofit/>
          </a:bodyPr>
          <a:lstStyle/>
          <a:p>
            <a:pPr>
              <a:lnSpc>
                <a:spcPct val="150000"/>
              </a:lnSpc>
            </a:pPr>
            <a:r>
              <a:rPr lang="zh-CN" altLang="en-US" sz="1600">
                <a:latin typeface="微软雅黑" panose="020B0503020204020204" pitchFamily="34" charset="-122"/>
                <a:ea typeface="微软雅黑" panose="020B0503020204020204" pitchFamily="34" charset="-122"/>
              </a:rPr>
              <a:t>关键字：</a:t>
            </a:r>
            <a:r>
              <a:rPr lang="en" altLang="zh-CN" sz="1600" b="0" i="0" dirty="0">
                <a:solidFill>
                  <a:srgbClr val="404040"/>
                </a:solidFill>
                <a:effectLst/>
                <a:latin typeface="DeepSeek-CJK-patch"/>
              </a:rPr>
              <a:t> </a:t>
            </a:r>
            <a:r>
              <a:rPr lang="en" altLang="zh-CN" sz="1600" dirty="0">
                <a:latin typeface="微软雅黑" panose="020B0503020204020204" pitchFamily="34" charset="-122"/>
                <a:ea typeface="微软雅黑" panose="020B0503020204020204" pitchFamily="34" charset="-122"/>
              </a:rPr>
              <a:t>NuPlayer</a:t>
            </a:r>
            <a:r>
              <a:rPr lang="en-US" altLang="zh-CN" sz="1600">
                <a:latin typeface="微软雅黑" panose="020B0503020204020204" pitchFamily="34" charset="-122"/>
                <a:ea typeface="微软雅黑" panose="020B0503020204020204" pitchFamily="34" charset="-122"/>
              </a:rPr>
              <a:t> MediaCodec</a:t>
            </a:r>
            <a:r>
              <a:rPr lang="zh-CN" altLang="en-US" sz="1600">
                <a:latin typeface="微软雅黑" panose="020B0503020204020204" pitchFamily="34" charset="-122"/>
                <a:ea typeface="微软雅黑" panose="020B0503020204020204" pitchFamily="34" charset="-122"/>
              </a:rPr>
              <a:t> 视频解码</a:t>
            </a:r>
            <a:endParaRPr lang="en-US" altLang="zh-CN" sz="1600">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a:t>
            </a:r>
            <a:r>
              <a:rPr lang="zh-CN" altLang="en-US" sz="1600">
                <a:latin typeface="微软雅黑" panose="020B0503020204020204" pitchFamily="34" charset="-122"/>
                <a:ea typeface="微软雅黑" panose="020B0503020204020204" pitchFamily="34" charset="-122"/>
              </a:rPr>
              <a:t>： 软件 多媒体 视频框架</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a:t>
            </a:r>
            <a:r>
              <a:rPr lang="zh-CN" altLang="en-US" sz="1600">
                <a:latin typeface="微软雅黑" panose="020B0503020204020204" pitchFamily="34" charset="-122"/>
                <a:ea typeface="微软雅黑" panose="020B0503020204020204" pitchFamily="34" charset="-122"/>
                <a:sym typeface="Wingdings" panose="05000000000000000000" pitchFamily="2" charset="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由于三方软件</a:t>
            </a:r>
            <a:r>
              <a:rPr lang="zh-CN" altLang="en-US" sz="1600" dirty="0">
                <a:solidFill>
                  <a:prstClr val="black"/>
                </a:solidFill>
                <a:latin typeface="微软雅黑" panose="020B0503020204020204" pitchFamily="34" charset="-122"/>
                <a:ea typeface="微软雅黑" panose="020B0503020204020204" pitchFamily="34" charset="-122"/>
                <a:sym typeface="Wingdings" panose="05000000000000000000" pitchFamily="2" charset="2"/>
              </a:rPr>
              <a:t>在未考虑设备支持的解码规格的情况下发起了超出设备解码分辨率规格的解码业务，导致视频播放失败。</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8474" y="712126"/>
            <a:ext cx="11540971" cy="1106736"/>
          </a:xfrm>
          <a:prstGeom prst="rect">
            <a:avLst/>
          </a:prstGeom>
        </p:spPr>
        <p:txBody>
          <a:bodyPr wrap="square">
            <a:noAutofit/>
          </a:bodyPr>
          <a:lstStyle/>
          <a:p>
            <a:pPr>
              <a:lnSpc>
                <a:spcPct val="150000"/>
              </a:lnSpc>
            </a:pPr>
            <a:r>
              <a:rPr lang="zh-CN" altLang="en-US" sz="1600" b="1">
                <a:latin typeface="微软雅黑" panose="020B0503020204020204" pitchFamily="34" charset="-122"/>
                <a:ea typeface="微软雅黑" panose="020B0503020204020204" pitchFamily="34" charset="-122"/>
              </a:rPr>
              <a:t>背景</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a:p>
            <a:pPr>
              <a:lnSpc>
                <a:spcPct val="150000"/>
              </a:lnSpc>
            </a:pPr>
            <a:r>
              <a:rPr lang="en-US" altLang="zh-CN" sz="1600">
                <a:latin typeface="微软雅黑" panose="020B0503020204020204" pitchFamily="34" charset="-122"/>
                <a:ea typeface="微软雅黑" panose="020B0503020204020204" pitchFamily="34" charset="-122"/>
              </a:rPr>
              <a:t>P258</a:t>
            </a:r>
            <a:r>
              <a:rPr lang="zh-CN" altLang="en-US" sz="1600">
                <a:latin typeface="微软雅黑" panose="020B0503020204020204" pitchFamily="34" charset="-122"/>
                <a:ea typeface="微软雅黑" panose="020B0503020204020204" pitchFamily="34" charset="-122"/>
              </a:rPr>
              <a:t>项目在使用</a:t>
            </a:r>
            <a:r>
              <a:rPr kumimoji="0" lang="zh-CN" altLang="en-US" sz="16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红果免费短剧应用时，登陆页面弹出“无法播放此视频”。</a:t>
            </a:r>
            <a:endParaRPr lang="en-US" altLang="zh-CN" sz="1600">
              <a:latin typeface="微软雅黑" panose="020B0503020204020204" pitchFamily="34" charset="-122"/>
              <a:ea typeface="微软雅黑" panose="020B0503020204020204" pitchFamily="34" charset="-122"/>
            </a:endParaRP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pic>
        <p:nvPicPr>
          <p:cNvPr id="4" name="图片 3" descr="图形用户界面, 文本, 应用程序&#10;&#10;描述已自动生成">
            <a:extLst>
              <a:ext uri="{FF2B5EF4-FFF2-40B4-BE49-F238E27FC236}">
                <a16:creationId xmlns:a16="http://schemas.microsoft.com/office/drawing/2014/main" id="{41C113C3-143A-0325-9CC6-4968BCA88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7576" y="1738897"/>
            <a:ext cx="2816848" cy="46781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椭圆 45">
            <a:extLst>
              <a:ext uri="{FF2B5EF4-FFF2-40B4-BE49-F238E27FC236}">
                <a16:creationId xmlns:a16="http://schemas.microsoft.com/office/drawing/2014/main" id="{7FCDE3D1-0434-BA7A-AD82-F67FEA3280A6}"/>
              </a:ext>
            </a:extLst>
          </p:cNvPr>
          <p:cNvSpPr/>
          <p:nvPr/>
        </p:nvSpPr>
        <p:spPr>
          <a:xfrm>
            <a:off x="207379" y="5765300"/>
            <a:ext cx="2448316" cy="81530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5E1A5A8-9165-EDCF-50B1-65D7B6FC130E}"/>
              </a:ext>
            </a:extLst>
          </p:cNvPr>
          <p:cNvSpPr/>
          <p:nvPr/>
        </p:nvSpPr>
        <p:spPr>
          <a:xfrm>
            <a:off x="265862" y="4414649"/>
            <a:ext cx="5599479" cy="163965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750DDFA3-F0F9-8ECA-02B5-6CCD8B3E6785}"/>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7310D09B-1C79-6556-0653-DDE76C1FF70F}"/>
              </a:ext>
            </a:extLst>
          </p:cNvPr>
          <p:cNvSpPr txBox="1"/>
          <p:nvPr/>
        </p:nvSpPr>
        <p:spPr>
          <a:xfrm>
            <a:off x="322555" y="825388"/>
            <a:ext cx="11630548" cy="875881"/>
          </a:xfrm>
          <a:prstGeom prst="rect">
            <a:avLst/>
          </a:prstGeom>
          <a:noFill/>
        </p:spPr>
        <p:txBody>
          <a:bodyPr wrap="square" rtlCol="0">
            <a:spAutoFit/>
          </a:bodyPr>
          <a:lstStyle/>
          <a:p>
            <a:pPr>
              <a:lnSpc>
                <a:spcPct val="150000"/>
              </a:lnSpc>
            </a:pPr>
            <a:r>
              <a:rPr kumimoji="1" lang="zh-CN" altLang="en-US" dirty="0"/>
              <a:t>当遇到视频播放失败时首先要先去查看视频源的格式是否支持，对于本地的视频可以使用</a:t>
            </a:r>
            <a:r>
              <a:rPr kumimoji="1" lang="en-US" altLang="zh-CN" dirty="0"/>
              <a:t>MediaInfo</a:t>
            </a:r>
            <a:r>
              <a:rPr kumimoji="1" lang="zh-CN" altLang="en-US" dirty="0"/>
              <a:t>软件来查看视频文件中的音视频流的详细格式。</a:t>
            </a:r>
            <a:endParaRPr kumimoji="1" lang="en-US" altLang="zh-CN" dirty="0"/>
          </a:p>
        </p:txBody>
      </p:sp>
      <p:pic>
        <p:nvPicPr>
          <p:cNvPr id="11" name="图片 10" descr="图形用户界面, 文本, 应用程序, 电子邮件&#10;&#10;描述已自动生成">
            <a:extLst>
              <a:ext uri="{FF2B5EF4-FFF2-40B4-BE49-F238E27FC236}">
                <a16:creationId xmlns:a16="http://schemas.microsoft.com/office/drawing/2014/main" id="{42E0809B-7D4A-B8EC-2806-7CFFD88CE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443" y="1668110"/>
            <a:ext cx="5021637" cy="2736148"/>
          </a:xfrm>
          <a:prstGeom prst="rect">
            <a:avLst/>
          </a:prstGeom>
        </p:spPr>
      </p:pic>
      <p:cxnSp>
        <p:nvCxnSpPr>
          <p:cNvPr id="16" name="直线箭头连接符 15">
            <a:extLst>
              <a:ext uri="{FF2B5EF4-FFF2-40B4-BE49-F238E27FC236}">
                <a16:creationId xmlns:a16="http://schemas.microsoft.com/office/drawing/2014/main" id="{798F131D-8EEB-52EA-C1D5-BF3F8419C3D6}"/>
              </a:ext>
            </a:extLst>
          </p:cNvPr>
          <p:cNvCxnSpPr>
            <a:cxnSpLocks/>
            <a:stCxn id="17" idx="0"/>
          </p:cNvCxnSpPr>
          <p:nvPr/>
        </p:nvCxnSpPr>
        <p:spPr>
          <a:xfrm flipV="1">
            <a:off x="1263574" y="3491346"/>
            <a:ext cx="919563" cy="1252243"/>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400ED3BF-6A40-8CC4-5BD0-8FD7EF062B18}"/>
              </a:ext>
            </a:extLst>
          </p:cNvPr>
          <p:cNvSpPr txBox="1"/>
          <p:nvPr/>
        </p:nvSpPr>
        <p:spPr>
          <a:xfrm>
            <a:off x="363327" y="4743589"/>
            <a:ext cx="1800493" cy="369332"/>
          </a:xfrm>
          <a:prstGeom prst="rect">
            <a:avLst/>
          </a:prstGeom>
          <a:noFill/>
        </p:spPr>
        <p:txBody>
          <a:bodyPr wrap="none" rtlCol="0">
            <a:spAutoFit/>
          </a:bodyPr>
          <a:lstStyle/>
          <a:p>
            <a:r>
              <a:rPr kumimoji="1" lang="zh-CN" altLang="en-US"/>
              <a:t>视频画面分辨率</a:t>
            </a:r>
          </a:p>
        </p:txBody>
      </p:sp>
      <p:cxnSp>
        <p:nvCxnSpPr>
          <p:cNvPr id="29" name="直线箭头连接符 28">
            <a:extLst>
              <a:ext uri="{FF2B5EF4-FFF2-40B4-BE49-F238E27FC236}">
                <a16:creationId xmlns:a16="http://schemas.microsoft.com/office/drawing/2014/main" id="{06FE8B7C-0A57-FC1A-AB19-CB18D5AC1E34}"/>
              </a:ext>
            </a:extLst>
          </p:cNvPr>
          <p:cNvCxnSpPr>
            <a:cxnSpLocks/>
          </p:cNvCxnSpPr>
          <p:nvPr/>
        </p:nvCxnSpPr>
        <p:spPr>
          <a:xfrm flipV="1">
            <a:off x="2184859" y="3429000"/>
            <a:ext cx="755514" cy="1808053"/>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9E0AFD33-91B9-74E7-FEA3-3C6F5F02D3F7}"/>
              </a:ext>
            </a:extLst>
          </p:cNvPr>
          <p:cNvSpPr txBox="1"/>
          <p:nvPr/>
        </p:nvSpPr>
        <p:spPr>
          <a:xfrm>
            <a:off x="1609822" y="5237053"/>
            <a:ext cx="1107996" cy="369332"/>
          </a:xfrm>
          <a:prstGeom prst="rect">
            <a:avLst/>
          </a:prstGeom>
          <a:noFill/>
        </p:spPr>
        <p:txBody>
          <a:bodyPr wrap="none" rtlCol="0">
            <a:spAutoFit/>
          </a:bodyPr>
          <a:lstStyle/>
          <a:p>
            <a:r>
              <a:rPr kumimoji="1" lang="zh-CN" altLang="en-US"/>
              <a:t>视频帧率</a:t>
            </a:r>
          </a:p>
        </p:txBody>
      </p:sp>
      <p:sp>
        <p:nvSpPr>
          <p:cNvPr id="32" name="文本框 31">
            <a:extLst>
              <a:ext uri="{FF2B5EF4-FFF2-40B4-BE49-F238E27FC236}">
                <a16:creationId xmlns:a16="http://schemas.microsoft.com/office/drawing/2014/main" id="{CD56D0CA-6945-AB36-AFB4-21D1FC035A67}"/>
              </a:ext>
            </a:extLst>
          </p:cNvPr>
          <p:cNvSpPr txBox="1"/>
          <p:nvPr/>
        </p:nvSpPr>
        <p:spPr>
          <a:xfrm>
            <a:off x="2695377" y="4777946"/>
            <a:ext cx="1569660" cy="369332"/>
          </a:xfrm>
          <a:prstGeom prst="rect">
            <a:avLst/>
          </a:prstGeom>
          <a:noFill/>
        </p:spPr>
        <p:txBody>
          <a:bodyPr wrap="none" rtlCol="0">
            <a:spAutoFit/>
          </a:bodyPr>
          <a:lstStyle/>
          <a:p>
            <a:r>
              <a:rPr kumimoji="1" lang="zh-CN" altLang="en-US"/>
              <a:t>视频编码格式</a:t>
            </a:r>
          </a:p>
        </p:txBody>
      </p:sp>
      <p:cxnSp>
        <p:nvCxnSpPr>
          <p:cNvPr id="34" name="直线箭头连接符 33">
            <a:extLst>
              <a:ext uri="{FF2B5EF4-FFF2-40B4-BE49-F238E27FC236}">
                <a16:creationId xmlns:a16="http://schemas.microsoft.com/office/drawing/2014/main" id="{65E5DD86-F3D1-2F5B-E155-CB278908272D}"/>
              </a:ext>
            </a:extLst>
          </p:cNvPr>
          <p:cNvCxnSpPr>
            <a:cxnSpLocks/>
            <a:stCxn id="32" idx="0"/>
          </p:cNvCxnSpPr>
          <p:nvPr/>
        </p:nvCxnSpPr>
        <p:spPr>
          <a:xfrm flipV="1">
            <a:off x="3480207" y="3429000"/>
            <a:ext cx="35203" cy="1348946"/>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E159DA82-481B-2874-9582-4D07B29E2A51}"/>
              </a:ext>
            </a:extLst>
          </p:cNvPr>
          <p:cNvSpPr txBox="1"/>
          <p:nvPr/>
        </p:nvSpPr>
        <p:spPr>
          <a:xfrm>
            <a:off x="4180915" y="5228888"/>
            <a:ext cx="1258165" cy="369332"/>
          </a:xfrm>
          <a:prstGeom prst="rect">
            <a:avLst/>
          </a:prstGeom>
          <a:noFill/>
        </p:spPr>
        <p:txBody>
          <a:bodyPr wrap="none" rtlCol="0">
            <a:spAutoFit/>
          </a:bodyPr>
          <a:lstStyle/>
          <a:p>
            <a:r>
              <a:rPr kumimoji="1" lang="zh-CN" altLang="en-US"/>
              <a:t>视频</a:t>
            </a:r>
            <a:r>
              <a:rPr kumimoji="1" lang="en-US" altLang="zh-CN"/>
              <a:t>profile</a:t>
            </a:r>
            <a:endParaRPr kumimoji="1" lang="zh-CN" altLang="en-US"/>
          </a:p>
        </p:txBody>
      </p:sp>
      <p:cxnSp>
        <p:nvCxnSpPr>
          <p:cNvPr id="41" name="直线箭头连接符 40">
            <a:extLst>
              <a:ext uri="{FF2B5EF4-FFF2-40B4-BE49-F238E27FC236}">
                <a16:creationId xmlns:a16="http://schemas.microsoft.com/office/drawing/2014/main" id="{46B83EB0-17CE-AEC3-C40E-C082651A74DE}"/>
              </a:ext>
            </a:extLst>
          </p:cNvPr>
          <p:cNvCxnSpPr>
            <a:cxnSpLocks/>
            <a:stCxn id="40" idx="0"/>
          </p:cNvCxnSpPr>
          <p:nvPr/>
        </p:nvCxnSpPr>
        <p:spPr>
          <a:xfrm flipH="1" flipV="1">
            <a:off x="3805881" y="3429000"/>
            <a:ext cx="1004117" cy="1799888"/>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4565BDB-EBF6-7B90-3328-651E91C50396}"/>
              </a:ext>
            </a:extLst>
          </p:cNvPr>
          <p:cNvSpPr txBox="1"/>
          <p:nvPr/>
        </p:nvSpPr>
        <p:spPr>
          <a:xfrm>
            <a:off x="300458" y="5998676"/>
            <a:ext cx="2262158" cy="369332"/>
          </a:xfrm>
          <a:prstGeom prst="rect">
            <a:avLst/>
          </a:prstGeom>
          <a:noFill/>
        </p:spPr>
        <p:txBody>
          <a:bodyPr wrap="none" rtlCol="0">
            <a:spAutoFit/>
          </a:bodyPr>
          <a:lstStyle/>
          <a:p>
            <a:r>
              <a:rPr kumimoji="1" lang="zh-CN" altLang="en-US"/>
              <a:t>主要关注的格式参数</a:t>
            </a:r>
          </a:p>
        </p:txBody>
      </p:sp>
      <p:sp>
        <p:nvSpPr>
          <p:cNvPr id="47" name="文本框 46">
            <a:extLst>
              <a:ext uri="{FF2B5EF4-FFF2-40B4-BE49-F238E27FC236}">
                <a16:creationId xmlns:a16="http://schemas.microsoft.com/office/drawing/2014/main" id="{569DD2E5-D4EB-46E6-55B9-566880648BFA}"/>
              </a:ext>
            </a:extLst>
          </p:cNvPr>
          <p:cNvSpPr txBox="1"/>
          <p:nvPr/>
        </p:nvSpPr>
        <p:spPr>
          <a:xfrm>
            <a:off x="5964382" y="1501073"/>
            <a:ext cx="5988721" cy="875881"/>
          </a:xfrm>
          <a:prstGeom prst="rect">
            <a:avLst/>
          </a:prstGeom>
          <a:noFill/>
        </p:spPr>
        <p:txBody>
          <a:bodyPr wrap="square" rtlCol="0">
            <a:spAutoFit/>
          </a:bodyPr>
          <a:lstStyle/>
          <a:p>
            <a:pPr>
              <a:lnSpc>
                <a:spcPct val="150000"/>
              </a:lnSpc>
            </a:pPr>
            <a:r>
              <a:rPr kumimoji="1" lang="zh-CN" altLang="en-US"/>
              <a:t>可通过</a:t>
            </a:r>
            <a:r>
              <a:rPr kumimoji="1" lang="en-US" altLang="zh-CN"/>
              <a:t>adb shell dumpsys media.player</a:t>
            </a:r>
            <a:r>
              <a:rPr kumimoji="1" lang="zh-CN" altLang="en-US"/>
              <a:t>查看设备视频解码器的支持规格：</a:t>
            </a:r>
          </a:p>
        </p:txBody>
      </p:sp>
      <p:pic>
        <p:nvPicPr>
          <p:cNvPr id="7" name="图片 6">
            <a:extLst>
              <a:ext uri="{FF2B5EF4-FFF2-40B4-BE49-F238E27FC236}">
                <a16:creationId xmlns:a16="http://schemas.microsoft.com/office/drawing/2014/main" id="{1BF63AB9-9D5D-06C3-58BE-DA14C3635BAB}"/>
              </a:ext>
            </a:extLst>
          </p:cNvPr>
          <p:cNvPicPr>
            <a:picLocks noChangeAspect="1"/>
          </p:cNvPicPr>
          <p:nvPr/>
        </p:nvPicPr>
        <p:blipFill rotWithShape="1">
          <a:blip r:embed="rId3"/>
          <a:srcRect b="39351"/>
          <a:stretch/>
        </p:blipFill>
        <p:spPr>
          <a:xfrm>
            <a:off x="6050540" y="2401393"/>
            <a:ext cx="3601736" cy="4159306"/>
          </a:xfrm>
          <a:prstGeom prst="rect">
            <a:avLst/>
          </a:prstGeom>
        </p:spPr>
      </p:pic>
      <p:pic>
        <p:nvPicPr>
          <p:cNvPr id="8" name="图片 7">
            <a:extLst>
              <a:ext uri="{FF2B5EF4-FFF2-40B4-BE49-F238E27FC236}">
                <a16:creationId xmlns:a16="http://schemas.microsoft.com/office/drawing/2014/main" id="{0547562F-8B4E-9B5B-2561-23B1F5E084C6}"/>
              </a:ext>
            </a:extLst>
          </p:cNvPr>
          <p:cNvPicPr>
            <a:picLocks noChangeAspect="1"/>
          </p:cNvPicPr>
          <p:nvPr/>
        </p:nvPicPr>
        <p:blipFill rotWithShape="1">
          <a:blip r:embed="rId3"/>
          <a:srcRect t="60103"/>
          <a:stretch/>
        </p:blipFill>
        <p:spPr>
          <a:xfrm>
            <a:off x="8519512" y="2960869"/>
            <a:ext cx="3601736" cy="27361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50DDFA3-F0F9-8ECA-02B5-6CCD8B3E6785}"/>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3B391A05-CC24-B8BE-4E1B-3F9FCFED0CB6}"/>
              </a:ext>
            </a:extLst>
          </p:cNvPr>
          <p:cNvSpPr txBox="1"/>
          <p:nvPr/>
        </p:nvSpPr>
        <p:spPr>
          <a:xfrm>
            <a:off x="316636" y="708831"/>
            <a:ext cx="11546890" cy="1706878"/>
          </a:xfrm>
          <a:prstGeom prst="rect">
            <a:avLst/>
          </a:prstGeom>
          <a:noFill/>
        </p:spPr>
        <p:txBody>
          <a:bodyPr wrap="square">
            <a:spAutoFit/>
          </a:bodyPr>
          <a:lstStyle/>
          <a:p>
            <a:pPr>
              <a:lnSpc>
                <a:spcPct val="150000"/>
              </a:lnSpc>
            </a:pPr>
            <a:r>
              <a:rPr kumimoji="1" lang="zh-CN" altLang="en-US" dirty="0"/>
              <a:t>本场景中的应用播放的视频来自于应用内部或者是应用的下载，无法直接查看播放的视频的格式。</a:t>
            </a:r>
            <a:r>
              <a:rPr kumimoji="1" lang="en-US" altLang="zh-CN" dirty="0"/>
              <a:t>MediaCodec</a:t>
            </a:r>
            <a:r>
              <a:rPr kumimoji="1" lang="zh-CN" altLang="en-US" dirty="0"/>
              <a:t>是安卓系统提供给应用的编解码器</a:t>
            </a:r>
            <a:r>
              <a:rPr kumimoji="1" lang="en-US" altLang="zh-CN" dirty="0"/>
              <a:t>API</a:t>
            </a:r>
            <a:r>
              <a:rPr kumimoji="1" lang="zh-CN" altLang="en-US" dirty="0"/>
              <a:t>，应用通过直接或者间接的方式调用</a:t>
            </a:r>
            <a:r>
              <a:rPr kumimoji="1" lang="en-US" altLang="zh-CN" dirty="0"/>
              <a:t>MediaCodec</a:t>
            </a:r>
            <a:r>
              <a:rPr kumimoji="1" lang="zh-CN" altLang="en-US" dirty="0"/>
              <a:t>完成视频的编解码业务逻辑。这个时候就可以从日志上下手，查看问题发生时间点的</a:t>
            </a:r>
            <a:r>
              <a:rPr kumimoji="1" lang="en-US" altLang="zh-CN" dirty="0"/>
              <a:t>MediaCodec</a:t>
            </a:r>
            <a:r>
              <a:rPr kumimoji="1" lang="zh-CN" altLang="en-US" dirty="0"/>
              <a:t>的状态和应用进程的相关日志打印。从日志中可以看到</a:t>
            </a:r>
            <a:r>
              <a:rPr kumimoji="1" lang="en-US" altLang="zh-CN" dirty="0"/>
              <a:t>NuPlayerDecoder</a:t>
            </a:r>
            <a:r>
              <a:rPr kumimoji="1" lang="zh-CN" altLang="en-US" dirty="0"/>
              <a:t>报错视频解码器创建失败了。</a:t>
            </a:r>
            <a:endParaRPr kumimoji="1" lang="en-US" altLang="zh-CN" dirty="0"/>
          </a:p>
        </p:txBody>
      </p:sp>
      <p:pic>
        <p:nvPicPr>
          <p:cNvPr id="2" name="图片 1">
            <a:extLst>
              <a:ext uri="{FF2B5EF4-FFF2-40B4-BE49-F238E27FC236}">
                <a16:creationId xmlns:a16="http://schemas.microsoft.com/office/drawing/2014/main" id="{04A0E338-53A0-4A4B-EC52-62ED28E80983}"/>
              </a:ext>
            </a:extLst>
          </p:cNvPr>
          <p:cNvPicPr>
            <a:picLocks noChangeAspect="1"/>
          </p:cNvPicPr>
          <p:nvPr/>
        </p:nvPicPr>
        <p:blipFill>
          <a:blip r:embed="rId2"/>
          <a:stretch>
            <a:fillRect/>
          </a:stretch>
        </p:blipFill>
        <p:spPr>
          <a:xfrm>
            <a:off x="417443" y="2538198"/>
            <a:ext cx="9657173" cy="3808187"/>
          </a:xfrm>
          <a:prstGeom prst="rect">
            <a:avLst/>
          </a:prstGeom>
        </p:spPr>
      </p:pic>
    </p:spTree>
    <p:extLst>
      <p:ext uri="{BB962C8B-B14F-4D97-AF65-F5344CB8AC3E}">
        <p14:creationId xmlns:p14="http://schemas.microsoft.com/office/powerpoint/2010/main" val="1825612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BF26EA3-9822-2E79-9078-BC1462E429E7}"/>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4C5655B-60E5-DEC5-7ECA-09698128D15C}"/>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68B64F06-078C-F080-889F-2D47AA13B4BD}"/>
              </a:ext>
            </a:extLst>
          </p:cNvPr>
          <p:cNvSpPr txBox="1"/>
          <p:nvPr/>
        </p:nvSpPr>
        <p:spPr>
          <a:xfrm>
            <a:off x="322555" y="825388"/>
            <a:ext cx="2859857" cy="5446363"/>
          </a:xfrm>
          <a:prstGeom prst="rect">
            <a:avLst/>
          </a:prstGeom>
          <a:noFill/>
        </p:spPr>
        <p:txBody>
          <a:bodyPr wrap="square" rtlCol="0">
            <a:spAutoFit/>
          </a:bodyPr>
          <a:lstStyle/>
          <a:p>
            <a:pPr algn="just">
              <a:lnSpc>
                <a:spcPct val="150000"/>
              </a:lnSpc>
            </a:pPr>
            <a:r>
              <a:rPr lang="en" altLang="zh-CN" b="0" i="0" dirty="0">
                <a:solidFill>
                  <a:srgbClr val="404040"/>
                </a:solidFill>
                <a:effectLst/>
                <a:latin typeface="DeepSeek-CJK-patch"/>
              </a:rPr>
              <a:t>NuPlayer</a:t>
            </a:r>
            <a:r>
              <a:rPr lang="zh-CN" altLang="en-US" b="0" i="0" dirty="0">
                <a:solidFill>
                  <a:srgbClr val="404040"/>
                </a:solidFill>
                <a:effectLst/>
                <a:latin typeface="DeepSeek-CJK-patch"/>
              </a:rPr>
              <a:t>是</a:t>
            </a:r>
            <a:r>
              <a:rPr lang="en" altLang="zh-CN" b="0" i="0" dirty="0">
                <a:solidFill>
                  <a:srgbClr val="404040"/>
                </a:solidFill>
                <a:effectLst/>
                <a:latin typeface="DeepSeek-CJK-patch"/>
              </a:rPr>
              <a:t>Android</a:t>
            </a:r>
            <a:r>
              <a:rPr lang="zh-CN" altLang="en-US" b="0" i="0" dirty="0">
                <a:solidFill>
                  <a:srgbClr val="404040"/>
                </a:solidFill>
                <a:effectLst/>
                <a:latin typeface="DeepSeek-CJK-patch"/>
              </a:rPr>
              <a:t>多媒体框架中的一种高级媒体播放器实现，自</a:t>
            </a:r>
            <a:r>
              <a:rPr lang="en" altLang="zh-CN" b="0" i="0" dirty="0">
                <a:solidFill>
                  <a:srgbClr val="404040"/>
                </a:solidFill>
                <a:effectLst/>
                <a:latin typeface="DeepSeek-CJK-patch"/>
              </a:rPr>
              <a:t>Android 4.0</a:t>
            </a:r>
            <a:r>
              <a:rPr lang="zh-CN" altLang="en" b="0" i="0" dirty="0">
                <a:solidFill>
                  <a:srgbClr val="404040"/>
                </a:solidFill>
                <a:effectLst/>
                <a:latin typeface="DeepSeek-CJK-patch"/>
              </a:rPr>
              <a:t>（</a:t>
            </a:r>
            <a:r>
              <a:rPr lang="en" altLang="zh-CN" b="0" i="0" dirty="0">
                <a:solidFill>
                  <a:srgbClr val="404040"/>
                </a:solidFill>
                <a:effectLst/>
                <a:latin typeface="DeepSeek-CJK-patch"/>
              </a:rPr>
              <a:t>Ice Cream Sandwich</a:t>
            </a:r>
            <a:r>
              <a:rPr lang="zh-CN" altLang="en" b="0" i="0" dirty="0">
                <a:solidFill>
                  <a:srgbClr val="404040"/>
                </a:solidFill>
                <a:effectLst/>
                <a:latin typeface="DeepSeek-CJK-patch"/>
              </a:rPr>
              <a:t>）</a:t>
            </a:r>
            <a:r>
              <a:rPr lang="zh-CN" altLang="en-US" b="0" i="0" dirty="0">
                <a:solidFill>
                  <a:srgbClr val="404040"/>
                </a:solidFill>
                <a:effectLst/>
                <a:latin typeface="DeepSeek-CJK-patch"/>
              </a:rPr>
              <a:t>引入，逐渐成为</a:t>
            </a:r>
            <a:r>
              <a:rPr lang="en" altLang="zh-CN" b="0" i="0" dirty="0">
                <a:solidFill>
                  <a:srgbClr val="404040"/>
                </a:solidFill>
                <a:effectLst/>
                <a:latin typeface="DeepSeek-CJK-patch"/>
              </a:rPr>
              <a:t>Android</a:t>
            </a:r>
            <a:r>
              <a:rPr lang="zh-CN" altLang="en-US" b="0" i="0" dirty="0">
                <a:solidFill>
                  <a:srgbClr val="404040"/>
                </a:solidFill>
                <a:effectLst/>
                <a:latin typeface="DeepSeek-CJK-patch"/>
              </a:rPr>
              <a:t>系统的默认媒体播放引擎，通过调用</a:t>
            </a:r>
            <a:r>
              <a:rPr lang="en-US" altLang="zh-CN" dirty="0">
                <a:solidFill>
                  <a:srgbClr val="404040"/>
                </a:solidFill>
                <a:latin typeface="DeepSeek-CJK-patch"/>
              </a:rPr>
              <a:t>M</a:t>
            </a:r>
            <a:r>
              <a:rPr lang="en-US" altLang="zh-CN" b="0" i="0" dirty="0">
                <a:solidFill>
                  <a:srgbClr val="404040"/>
                </a:solidFill>
                <a:effectLst/>
                <a:latin typeface="DeepSeek-CJK-patch"/>
              </a:rPr>
              <a:t>ediaCodec</a:t>
            </a:r>
            <a:r>
              <a:rPr lang="zh-CN" altLang="en-US" b="0" i="0" dirty="0">
                <a:solidFill>
                  <a:srgbClr val="404040"/>
                </a:solidFill>
                <a:effectLst/>
                <a:latin typeface="DeepSeek-CJK-patch"/>
              </a:rPr>
              <a:t>来实现自身的编解码逻辑。</a:t>
            </a:r>
            <a:r>
              <a:rPr lang="en" altLang="zh-CN" b="0" i="0" dirty="0">
                <a:solidFill>
                  <a:srgbClr val="404040"/>
                </a:solidFill>
                <a:effectLst/>
                <a:latin typeface="DeepSeek-CJK-patch"/>
              </a:rPr>
              <a:t> </a:t>
            </a:r>
            <a:r>
              <a:rPr lang="zh-CN" altLang="en" b="0" i="0" dirty="0">
                <a:solidFill>
                  <a:srgbClr val="404040"/>
                </a:solidFill>
                <a:effectLst/>
                <a:latin typeface="DeepSeek-CJK-patch"/>
              </a:rPr>
              <a:t>当</a:t>
            </a:r>
            <a:r>
              <a:rPr lang="zh-CN" altLang="en-US" b="0" i="0" dirty="0">
                <a:solidFill>
                  <a:srgbClr val="404040"/>
                </a:solidFill>
                <a:effectLst/>
                <a:latin typeface="DeepSeek-CJK-patch"/>
              </a:rPr>
              <a:t>使用</a:t>
            </a:r>
            <a:r>
              <a:rPr lang="en" altLang="zh-CN" b="0" i="0" dirty="0">
                <a:solidFill>
                  <a:srgbClr val="404040"/>
                </a:solidFill>
                <a:effectLst/>
                <a:latin typeface="DeepSeek-CJK-patch"/>
              </a:rPr>
              <a:t>MediaPlayer</a:t>
            </a:r>
            <a:r>
              <a:rPr lang="zh-CN" altLang="en-US" dirty="0">
                <a:solidFill>
                  <a:srgbClr val="404040"/>
                </a:solidFill>
                <a:latin typeface="DeepSeek-CJK-patch"/>
              </a:rPr>
              <a:t> </a:t>
            </a:r>
            <a:r>
              <a:rPr lang="en" altLang="zh-CN" b="0" i="0" dirty="0">
                <a:solidFill>
                  <a:srgbClr val="404040"/>
                </a:solidFill>
                <a:effectLst/>
                <a:latin typeface="DeepSeek-CJK-patch"/>
              </a:rPr>
              <a:t>API</a:t>
            </a:r>
            <a:r>
              <a:rPr lang="zh-CN" altLang="en-US" b="0" i="0" dirty="0">
                <a:solidFill>
                  <a:srgbClr val="404040"/>
                </a:solidFill>
                <a:effectLst/>
                <a:latin typeface="DeepSeek-CJK-patch"/>
              </a:rPr>
              <a:t> 来播放视频时，</a:t>
            </a:r>
            <a:r>
              <a:rPr lang="en" altLang="zh-CN" b="0" i="0" dirty="0">
                <a:solidFill>
                  <a:srgbClr val="404040"/>
                </a:solidFill>
                <a:effectLst/>
                <a:latin typeface="DeepSeek-CJK-patch"/>
              </a:rPr>
              <a:t> Android</a:t>
            </a:r>
            <a:r>
              <a:rPr lang="zh-CN" altLang="en-US" b="0" i="0" dirty="0">
                <a:solidFill>
                  <a:srgbClr val="404040"/>
                </a:solidFill>
                <a:effectLst/>
                <a:latin typeface="DeepSeek-CJK-patch"/>
              </a:rPr>
              <a:t>会根据系统配置自动选择</a:t>
            </a:r>
            <a:r>
              <a:rPr lang="en" altLang="zh-CN" b="0" i="0" dirty="0">
                <a:solidFill>
                  <a:srgbClr val="404040"/>
                </a:solidFill>
                <a:effectLst/>
                <a:latin typeface="DeepSeek-CJK-patch"/>
              </a:rPr>
              <a:t>NuPlayer</a:t>
            </a:r>
            <a:r>
              <a:rPr lang="zh-CN" altLang="en" b="0" i="0" dirty="0">
                <a:solidFill>
                  <a:srgbClr val="404040"/>
                </a:solidFill>
                <a:effectLst/>
                <a:latin typeface="DeepSeek-CJK-patch"/>
              </a:rPr>
              <a:t>来</a:t>
            </a:r>
            <a:r>
              <a:rPr lang="zh-CN" altLang="en-US" b="0" i="0" dirty="0">
                <a:solidFill>
                  <a:srgbClr val="404040"/>
                </a:solidFill>
                <a:effectLst/>
                <a:latin typeface="DeepSeek-CJK-patch"/>
              </a:rPr>
              <a:t>作为视频的默认播放器，创建</a:t>
            </a:r>
            <a:r>
              <a:rPr lang="en" altLang="zh-CN" b="0" i="0" dirty="0">
                <a:solidFill>
                  <a:srgbClr val="404040"/>
                </a:solidFill>
                <a:effectLst/>
                <a:latin typeface="DeepSeek-CJK-patch"/>
              </a:rPr>
              <a:t>NuPlayer</a:t>
            </a:r>
            <a:r>
              <a:rPr lang="zh-CN" altLang="en-US" b="0" i="0" dirty="0">
                <a:solidFill>
                  <a:srgbClr val="404040"/>
                </a:solidFill>
                <a:effectLst/>
                <a:latin typeface="DeepSeek-CJK-patch"/>
              </a:rPr>
              <a:t>流程如图。</a:t>
            </a:r>
            <a:endParaRPr lang="en-US" altLang="zh-CN" b="0" i="0" dirty="0">
              <a:solidFill>
                <a:srgbClr val="404040"/>
              </a:solidFill>
              <a:effectLst/>
              <a:latin typeface="DeepSeek-CJK-patch"/>
            </a:endParaRPr>
          </a:p>
        </p:txBody>
      </p:sp>
      <p:pic>
        <p:nvPicPr>
          <p:cNvPr id="5" name="图片 4">
            <a:extLst>
              <a:ext uri="{FF2B5EF4-FFF2-40B4-BE49-F238E27FC236}">
                <a16:creationId xmlns:a16="http://schemas.microsoft.com/office/drawing/2014/main" id="{13EC88BD-F19D-53D7-DD0B-1403077C729F}"/>
              </a:ext>
            </a:extLst>
          </p:cNvPr>
          <p:cNvPicPr>
            <a:picLocks noChangeAspect="1"/>
          </p:cNvPicPr>
          <p:nvPr/>
        </p:nvPicPr>
        <p:blipFill>
          <a:blip r:embed="rId2"/>
          <a:stretch>
            <a:fillRect/>
          </a:stretch>
        </p:blipFill>
        <p:spPr>
          <a:xfrm>
            <a:off x="3182412" y="924791"/>
            <a:ext cx="8786493" cy="5812809"/>
          </a:xfrm>
          <a:prstGeom prst="rect">
            <a:avLst/>
          </a:prstGeom>
        </p:spPr>
      </p:pic>
    </p:spTree>
    <p:extLst>
      <p:ext uri="{BB962C8B-B14F-4D97-AF65-F5344CB8AC3E}">
        <p14:creationId xmlns:p14="http://schemas.microsoft.com/office/powerpoint/2010/main" val="1180391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AFBD85B-6AB9-94BB-D0A6-DD40E0009F44}"/>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B0AC101C-FB36-C05F-1E73-117EDD4D8A43}"/>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751088DE-BE35-0BAD-D2CA-31E1CBF2413D}"/>
              </a:ext>
            </a:extLst>
          </p:cNvPr>
          <p:cNvSpPr txBox="1"/>
          <p:nvPr/>
        </p:nvSpPr>
        <p:spPr>
          <a:xfrm>
            <a:off x="322555" y="784198"/>
            <a:ext cx="11540971" cy="875881"/>
          </a:xfrm>
          <a:prstGeom prst="rect">
            <a:avLst/>
          </a:prstGeom>
          <a:noFill/>
        </p:spPr>
        <p:txBody>
          <a:bodyPr wrap="square" rtlCol="0">
            <a:spAutoFit/>
          </a:bodyPr>
          <a:lstStyle/>
          <a:p>
            <a:pPr>
              <a:lnSpc>
                <a:spcPct val="150000"/>
              </a:lnSpc>
            </a:pPr>
            <a:r>
              <a:rPr kumimoji="1" lang="zh-CN" altLang="en-US" dirty="0"/>
              <a:t>通过报错的日志内容我们定位到报错的位置，在</a:t>
            </a:r>
            <a:r>
              <a:rPr kumimoji="1" lang="en-US" altLang="zh-CN" dirty="0"/>
              <a:t>NuPlayer</a:t>
            </a:r>
            <a:r>
              <a:rPr kumimoji="1" lang="zh-CN" altLang="en-US" dirty="0"/>
              <a:t>中的</a:t>
            </a:r>
            <a:r>
              <a:rPr kumimoji="1" lang="en-US" altLang="zh-CN" dirty="0"/>
              <a:t>Decoder</a:t>
            </a:r>
            <a:r>
              <a:rPr kumimoji="1" lang="zh-CN" altLang="en-US" dirty="0"/>
              <a:t>配置的时候发生的错误，从代码可以看出是</a:t>
            </a:r>
            <a:r>
              <a:rPr kumimoji="1" lang="en-US" altLang="zh-CN" dirty="0"/>
              <a:t>codec</a:t>
            </a:r>
            <a:r>
              <a:rPr kumimoji="1" lang="zh-CN" altLang="en-US" dirty="0"/>
              <a:t>没有被创建成功。开始追溯</a:t>
            </a:r>
            <a:r>
              <a:rPr kumimoji="1" lang="en-US" altLang="zh-CN" dirty="0"/>
              <a:t>MediaCodec::CreateByType</a:t>
            </a:r>
            <a:r>
              <a:rPr kumimoji="1" lang="zh-CN" altLang="en-US" dirty="0"/>
              <a:t>。</a:t>
            </a:r>
            <a:endParaRPr kumimoji="1" lang="en-US" altLang="zh-CN" dirty="0"/>
          </a:p>
        </p:txBody>
      </p:sp>
      <p:pic>
        <p:nvPicPr>
          <p:cNvPr id="5" name="图片 4">
            <a:extLst>
              <a:ext uri="{FF2B5EF4-FFF2-40B4-BE49-F238E27FC236}">
                <a16:creationId xmlns:a16="http://schemas.microsoft.com/office/drawing/2014/main" id="{9BE7DD2F-4642-5EC3-1405-93627B8BA2DF}"/>
              </a:ext>
            </a:extLst>
          </p:cNvPr>
          <p:cNvPicPr>
            <a:picLocks noChangeAspect="1"/>
          </p:cNvPicPr>
          <p:nvPr/>
        </p:nvPicPr>
        <p:blipFill>
          <a:blip r:embed="rId2"/>
          <a:stretch>
            <a:fillRect/>
          </a:stretch>
        </p:blipFill>
        <p:spPr>
          <a:xfrm>
            <a:off x="417443" y="1752365"/>
            <a:ext cx="5838836" cy="4837892"/>
          </a:xfrm>
          <a:prstGeom prst="rect">
            <a:avLst/>
          </a:prstGeom>
        </p:spPr>
      </p:pic>
      <p:pic>
        <p:nvPicPr>
          <p:cNvPr id="6" name="图片 5">
            <a:extLst>
              <a:ext uri="{FF2B5EF4-FFF2-40B4-BE49-F238E27FC236}">
                <a16:creationId xmlns:a16="http://schemas.microsoft.com/office/drawing/2014/main" id="{F20292C0-13B3-6059-1C9D-A350BE92E6AC}"/>
              </a:ext>
            </a:extLst>
          </p:cNvPr>
          <p:cNvPicPr>
            <a:picLocks noChangeAspect="1"/>
          </p:cNvPicPr>
          <p:nvPr/>
        </p:nvPicPr>
        <p:blipFill>
          <a:blip r:embed="rId3"/>
          <a:stretch>
            <a:fillRect/>
          </a:stretch>
        </p:blipFill>
        <p:spPr>
          <a:xfrm>
            <a:off x="6345248" y="1752365"/>
            <a:ext cx="4942388" cy="3249162"/>
          </a:xfrm>
          <a:prstGeom prst="rect">
            <a:avLst/>
          </a:prstGeom>
        </p:spPr>
      </p:pic>
      <p:sp>
        <p:nvSpPr>
          <p:cNvPr id="7" name="文本框 6">
            <a:extLst>
              <a:ext uri="{FF2B5EF4-FFF2-40B4-BE49-F238E27FC236}">
                <a16:creationId xmlns:a16="http://schemas.microsoft.com/office/drawing/2014/main" id="{63CDF7BE-A54A-A615-BD56-2C187DD3B23E}"/>
              </a:ext>
            </a:extLst>
          </p:cNvPr>
          <p:cNvSpPr txBox="1"/>
          <p:nvPr/>
        </p:nvSpPr>
        <p:spPr>
          <a:xfrm>
            <a:off x="6256279" y="5125729"/>
            <a:ext cx="5607247" cy="1813766"/>
          </a:xfrm>
          <a:prstGeom prst="rect">
            <a:avLst/>
          </a:prstGeom>
          <a:noFill/>
        </p:spPr>
        <p:txBody>
          <a:bodyPr wrap="square" rtlCol="0">
            <a:spAutoFit/>
          </a:bodyPr>
          <a:lstStyle/>
          <a:p>
            <a:pPr>
              <a:lnSpc>
                <a:spcPct val="150000"/>
              </a:lnSpc>
            </a:pPr>
            <a:r>
              <a:rPr kumimoji="1" lang="zh-CN" altLang="en-US"/>
              <a:t>可以看到在创建解码器过程中，首先根据传入的文件</a:t>
            </a:r>
            <a:r>
              <a:rPr kumimoji="1" lang="en-US" altLang="zh-CN" dirty="0"/>
              <a:t>mime</a:t>
            </a:r>
            <a:r>
              <a:rPr kumimoji="1" lang="zh-CN" altLang="en-US"/>
              <a:t>和</a:t>
            </a:r>
            <a:r>
              <a:rPr kumimoji="1" lang="en-US" altLang="zh-CN" dirty="0"/>
              <a:t>format</a:t>
            </a:r>
            <a:r>
              <a:rPr kumimoji="1" lang="zh-CN" altLang="en-US"/>
              <a:t>去匹配系统支持的</a:t>
            </a:r>
            <a:r>
              <a:rPr kumimoji="1" lang="en-US" altLang="zh-CN" dirty="0"/>
              <a:t>codecs</a:t>
            </a:r>
            <a:r>
              <a:rPr kumimoji="1" lang="zh-CN" altLang="en-US"/>
              <a:t>列表。在根据列表的排序去依次尝试初始化对应的</a:t>
            </a:r>
            <a:r>
              <a:rPr kumimoji="1" lang="en-US" altLang="zh-CN" dirty="0"/>
              <a:t>codec</a:t>
            </a:r>
            <a:r>
              <a:rPr kumimoji="1" lang="zh-CN" altLang="en-US"/>
              <a:t>实例并返回。通过日志调试发现返回的列表为</a:t>
            </a:r>
            <a:r>
              <a:rPr kumimoji="1" lang="zh-CN" altLang="en-US" sz="2400">
                <a:highlight>
                  <a:srgbClr val="FFFF00"/>
                </a:highlight>
              </a:rPr>
              <a:t>空</a:t>
            </a:r>
            <a:r>
              <a:rPr kumimoji="1" lang="zh-CN" altLang="en-US"/>
              <a:t>，需要进一步分析。</a:t>
            </a:r>
          </a:p>
        </p:txBody>
      </p:sp>
      <p:cxnSp>
        <p:nvCxnSpPr>
          <p:cNvPr id="9" name="直线箭头连接符 8">
            <a:extLst>
              <a:ext uri="{FF2B5EF4-FFF2-40B4-BE49-F238E27FC236}">
                <a16:creationId xmlns:a16="http://schemas.microsoft.com/office/drawing/2014/main" id="{82251534-47DA-4075-373F-F7D356B2CC64}"/>
              </a:ext>
            </a:extLst>
          </p:cNvPr>
          <p:cNvCxnSpPr/>
          <p:nvPr/>
        </p:nvCxnSpPr>
        <p:spPr>
          <a:xfrm flipV="1">
            <a:off x="2733261" y="1967948"/>
            <a:ext cx="3611987" cy="2107095"/>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圆角矩形 9">
            <a:extLst>
              <a:ext uri="{FF2B5EF4-FFF2-40B4-BE49-F238E27FC236}">
                <a16:creationId xmlns:a16="http://schemas.microsoft.com/office/drawing/2014/main" id="{CEA65444-F40D-D25C-5694-C8AC7565C848}"/>
              </a:ext>
            </a:extLst>
          </p:cNvPr>
          <p:cNvSpPr/>
          <p:nvPr/>
        </p:nvSpPr>
        <p:spPr>
          <a:xfrm>
            <a:off x="1174625" y="4025839"/>
            <a:ext cx="1558636" cy="176645"/>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68002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2A78B07-4E43-B113-7E77-0A01118ED03C}"/>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3A8B69B2-1813-73D2-9D98-DB8060D6FBF6}"/>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E59CA7F9-AA24-0D7A-08E9-698780E13A6F}"/>
              </a:ext>
            </a:extLst>
          </p:cNvPr>
          <p:cNvSpPr txBox="1"/>
          <p:nvPr/>
        </p:nvSpPr>
        <p:spPr>
          <a:xfrm>
            <a:off x="322555" y="794215"/>
            <a:ext cx="11613197" cy="875881"/>
          </a:xfrm>
          <a:prstGeom prst="rect">
            <a:avLst/>
          </a:prstGeom>
          <a:noFill/>
        </p:spPr>
        <p:txBody>
          <a:bodyPr wrap="square" rtlCol="0">
            <a:spAutoFit/>
          </a:bodyPr>
          <a:lstStyle/>
          <a:p>
            <a:pPr>
              <a:lnSpc>
                <a:spcPct val="150000"/>
              </a:lnSpc>
            </a:pPr>
            <a:r>
              <a:rPr lang="zh-CN" altLang="en" b="0" i="0" dirty="0">
                <a:solidFill>
                  <a:srgbClr val="404040"/>
                </a:solidFill>
                <a:effectLst/>
                <a:latin typeface="DeepSeek-CJK-patch"/>
              </a:rPr>
              <a:t>通过</a:t>
            </a:r>
            <a:r>
              <a:rPr lang="zh-CN" altLang="en-US" b="0" i="0" dirty="0">
                <a:solidFill>
                  <a:srgbClr val="404040"/>
                </a:solidFill>
                <a:effectLst/>
                <a:latin typeface="DeepSeek-CJK-patch"/>
              </a:rPr>
              <a:t>追溯</a:t>
            </a:r>
            <a:r>
              <a:rPr kumimoji="1" lang="en-US" altLang="zh-CN" dirty="0"/>
              <a:t>MediaCodec::CreateByType</a:t>
            </a:r>
            <a:r>
              <a:rPr kumimoji="1" lang="zh-CN" altLang="en-US" dirty="0"/>
              <a:t>可以发现，</a:t>
            </a:r>
            <a:r>
              <a:rPr kumimoji="1" lang="en-US" altLang="zh-CN" dirty="0"/>
              <a:t>Mediacodec</a:t>
            </a:r>
            <a:r>
              <a:rPr kumimoji="1" lang="zh-CN" altLang="en-US" dirty="0"/>
              <a:t>通过</a:t>
            </a:r>
            <a:r>
              <a:rPr kumimoji="1" lang="en-US" altLang="zh-CN" dirty="0"/>
              <a:t>MediaCodecList</a:t>
            </a:r>
            <a:r>
              <a:rPr kumimoji="1" lang="zh-CN" altLang="en-US" dirty="0"/>
              <a:t>来查找匹配的解码器，然后</a:t>
            </a:r>
            <a:r>
              <a:rPr kumimoji="1" lang="en-US" altLang="zh-CN" dirty="0"/>
              <a:t> MediaCodecList</a:t>
            </a:r>
            <a:r>
              <a:rPr kumimoji="1" lang="zh-CN" altLang="en-US" dirty="0"/>
              <a:t>再通过</a:t>
            </a:r>
            <a:r>
              <a:rPr kumimoji="1" lang="en-US" altLang="zh-CN" dirty="0"/>
              <a:t>IMediaCodecList</a:t>
            </a:r>
            <a:r>
              <a:rPr kumimoji="1" lang="zh-CN" altLang="en-US" dirty="0"/>
              <a:t>获取支持的</a:t>
            </a:r>
            <a:r>
              <a:rPr kumimoji="1" lang="en-US" altLang="zh-CN" dirty="0"/>
              <a:t>mine</a:t>
            </a:r>
            <a:r>
              <a:rPr kumimoji="1" lang="zh-CN" altLang="en-US" dirty="0"/>
              <a:t>类型的所有解码器列表，最后通过</a:t>
            </a:r>
            <a:r>
              <a:rPr kumimoji="1" lang="en-US" altLang="zh-CN" dirty="0"/>
              <a:t>format</a:t>
            </a:r>
            <a:r>
              <a:rPr kumimoji="1" lang="zh-CN" altLang="en-US" dirty="0"/>
              <a:t>来进行过滤再返回。</a:t>
            </a:r>
            <a:endParaRPr kumimoji="1" lang="en-US" altLang="zh-CN" dirty="0"/>
          </a:p>
        </p:txBody>
      </p:sp>
      <p:pic>
        <p:nvPicPr>
          <p:cNvPr id="5" name="图片 4">
            <a:extLst>
              <a:ext uri="{FF2B5EF4-FFF2-40B4-BE49-F238E27FC236}">
                <a16:creationId xmlns:a16="http://schemas.microsoft.com/office/drawing/2014/main" id="{A32A0026-1798-27CD-70BF-99D32E040006}"/>
              </a:ext>
            </a:extLst>
          </p:cNvPr>
          <p:cNvPicPr>
            <a:picLocks noChangeAspect="1"/>
          </p:cNvPicPr>
          <p:nvPr/>
        </p:nvPicPr>
        <p:blipFill>
          <a:blip r:embed="rId2"/>
          <a:stretch>
            <a:fillRect/>
          </a:stretch>
        </p:blipFill>
        <p:spPr>
          <a:xfrm>
            <a:off x="417443" y="1738560"/>
            <a:ext cx="7772400" cy="4940536"/>
          </a:xfrm>
          <a:prstGeom prst="rect">
            <a:avLst/>
          </a:prstGeom>
        </p:spPr>
      </p:pic>
      <p:cxnSp>
        <p:nvCxnSpPr>
          <p:cNvPr id="6" name="直线箭头连接符 5">
            <a:extLst>
              <a:ext uri="{FF2B5EF4-FFF2-40B4-BE49-F238E27FC236}">
                <a16:creationId xmlns:a16="http://schemas.microsoft.com/office/drawing/2014/main" id="{CD25F994-6159-BCB8-16BE-593EC1B3B1D8}"/>
              </a:ext>
            </a:extLst>
          </p:cNvPr>
          <p:cNvCxnSpPr>
            <a:cxnSpLocks/>
          </p:cNvCxnSpPr>
          <p:nvPr/>
        </p:nvCxnSpPr>
        <p:spPr>
          <a:xfrm flipH="1">
            <a:off x="7041735" y="4486542"/>
            <a:ext cx="146987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线箭头连接符 6">
            <a:extLst>
              <a:ext uri="{FF2B5EF4-FFF2-40B4-BE49-F238E27FC236}">
                <a16:creationId xmlns:a16="http://schemas.microsoft.com/office/drawing/2014/main" id="{B2E90633-3895-8A64-818C-F60BC1B68A4B}"/>
              </a:ext>
            </a:extLst>
          </p:cNvPr>
          <p:cNvCxnSpPr/>
          <p:nvPr/>
        </p:nvCxnSpPr>
        <p:spPr>
          <a:xfrm flipH="1">
            <a:off x="6802452" y="4486542"/>
            <a:ext cx="1709159" cy="29910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B01D35F9-4E75-3751-84CA-3C3CA939C490}"/>
              </a:ext>
            </a:extLst>
          </p:cNvPr>
          <p:cNvSpPr txBox="1"/>
          <p:nvPr/>
        </p:nvSpPr>
        <p:spPr>
          <a:xfrm>
            <a:off x="8511611" y="4048601"/>
            <a:ext cx="3187992" cy="875881"/>
          </a:xfrm>
          <a:prstGeom prst="rect">
            <a:avLst/>
          </a:prstGeom>
          <a:noFill/>
        </p:spPr>
        <p:txBody>
          <a:bodyPr wrap="square" rtlCol="0">
            <a:spAutoFit/>
          </a:bodyPr>
          <a:lstStyle/>
          <a:p>
            <a:pPr>
              <a:lnSpc>
                <a:spcPct val="150000"/>
              </a:lnSpc>
            </a:pPr>
            <a:r>
              <a:rPr kumimoji="1" lang="zh-CN" altLang="en-US"/>
              <a:t>继续加入调试日志，将</a:t>
            </a:r>
            <a:r>
              <a:rPr kumimoji="1" lang="en-US" altLang="zh-CN" dirty="0"/>
              <a:t>list</a:t>
            </a:r>
            <a:r>
              <a:rPr kumimoji="1" lang="zh-CN" altLang="en-US"/>
              <a:t>和匹配失败的原因都打印出来。</a:t>
            </a:r>
          </a:p>
        </p:txBody>
      </p:sp>
    </p:spTree>
    <p:extLst>
      <p:ext uri="{BB962C8B-B14F-4D97-AF65-F5344CB8AC3E}">
        <p14:creationId xmlns:p14="http://schemas.microsoft.com/office/powerpoint/2010/main" val="3410429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1E05FFE-CBB7-CA8D-DDC8-CBE8FB19F8AD}"/>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DA1EF5DC-FB72-8CFF-6B9E-88867B0E4CD8}"/>
              </a:ext>
            </a:extLst>
          </p:cNvPr>
          <p:cNvSpPr txBox="1"/>
          <p:nvPr/>
        </p:nvSpPr>
        <p:spPr>
          <a:xfrm>
            <a:off x="393107" y="914400"/>
            <a:ext cx="11540971" cy="369332"/>
          </a:xfrm>
          <a:prstGeom prst="rect">
            <a:avLst/>
          </a:prstGeom>
          <a:noFill/>
        </p:spPr>
        <p:txBody>
          <a:bodyPr wrap="square" rtlCol="0">
            <a:spAutoFit/>
          </a:bodyPr>
          <a:lstStyle/>
          <a:p>
            <a:r>
              <a:rPr kumimoji="1" lang="zh-CN" altLang="en-US" dirty="0"/>
              <a:t>从调试日志中可以清楚看出，</a:t>
            </a:r>
            <a:r>
              <a:rPr kumimoji="1" lang="en-US" altLang="zh-CN" dirty="0"/>
              <a:t>list</a:t>
            </a:r>
            <a:r>
              <a:rPr kumimoji="1" lang="zh-CN" altLang="en-US" dirty="0"/>
              <a:t>是有返回系统支持的解码器的，但是在格式匹配的时候出现了问题。</a:t>
            </a:r>
          </a:p>
        </p:txBody>
      </p:sp>
      <p:pic>
        <p:nvPicPr>
          <p:cNvPr id="5" name="图片 4">
            <a:extLst>
              <a:ext uri="{FF2B5EF4-FFF2-40B4-BE49-F238E27FC236}">
                <a16:creationId xmlns:a16="http://schemas.microsoft.com/office/drawing/2014/main" id="{E8F831FA-4416-92B7-6377-BCE9799139AA}"/>
              </a:ext>
            </a:extLst>
          </p:cNvPr>
          <p:cNvPicPr>
            <a:picLocks noChangeAspect="1"/>
          </p:cNvPicPr>
          <p:nvPr/>
        </p:nvPicPr>
        <p:blipFill>
          <a:blip r:embed="rId2"/>
          <a:stretch>
            <a:fillRect/>
          </a:stretch>
        </p:blipFill>
        <p:spPr>
          <a:xfrm>
            <a:off x="417443" y="1509055"/>
            <a:ext cx="8875232" cy="4636820"/>
          </a:xfrm>
          <a:prstGeom prst="rect">
            <a:avLst/>
          </a:prstGeom>
        </p:spPr>
      </p:pic>
      <p:sp>
        <p:nvSpPr>
          <p:cNvPr id="6" name="文本框 5">
            <a:extLst>
              <a:ext uri="{FF2B5EF4-FFF2-40B4-BE49-F238E27FC236}">
                <a16:creationId xmlns:a16="http://schemas.microsoft.com/office/drawing/2014/main" id="{A17C5CAF-E665-4C15-1837-CF48A8E44510}"/>
              </a:ext>
            </a:extLst>
          </p:cNvPr>
          <p:cNvSpPr txBox="1"/>
          <p:nvPr/>
        </p:nvSpPr>
        <p:spPr>
          <a:xfrm>
            <a:off x="5869953" y="3429000"/>
            <a:ext cx="6192312" cy="1291379"/>
          </a:xfrm>
          <a:prstGeom prst="rect">
            <a:avLst/>
          </a:prstGeom>
          <a:noFill/>
        </p:spPr>
        <p:txBody>
          <a:bodyPr wrap="square">
            <a:spAutoFit/>
          </a:bodyPr>
          <a:lstStyle/>
          <a:p>
            <a:pPr>
              <a:lnSpc>
                <a:spcPct val="150000"/>
              </a:lnSpc>
            </a:pPr>
            <a:r>
              <a:rPr kumimoji="1" lang="zh-CN" altLang="en-US" dirty="0"/>
              <a:t>通过打印出的</a:t>
            </a:r>
            <a:r>
              <a:rPr kumimoji="1" lang="en-US" altLang="zh-CN" dirty="0"/>
              <a:t>format</a:t>
            </a:r>
            <a:r>
              <a:rPr kumimoji="1" lang="zh-CN" altLang="en-US" dirty="0"/>
              <a:t>信息可以看到，当前应用传入的视频分辨率为</a:t>
            </a:r>
            <a:r>
              <a:rPr kumimoji="1" lang="en-US" altLang="zh-CN" dirty="0"/>
              <a:t>1170</a:t>
            </a:r>
            <a:r>
              <a:rPr kumimoji="1" lang="zh-CN" altLang="en-US" dirty="0"/>
              <a:t>*</a:t>
            </a:r>
            <a:r>
              <a:rPr kumimoji="1" lang="en-US" altLang="zh-CN" dirty="0"/>
              <a:t>2532</a:t>
            </a:r>
            <a:r>
              <a:rPr kumimoji="1" lang="zh-CN" altLang="en-US" dirty="0"/>
              <a:t>。但系统规格上支持的最高</a:t>
            </a:r>
            <a:r>
              <a:rPr kumimoji="1" lang="en-US" altLang="zh-CN" dirty="0"/>
              <a:t>avc</a:t>
            </a:r>
            <a:r>
              <a:rPr kumimoji="1" lang="zh-CN" altLang="en-US" dirty="0"/>
              <a:t>的视频分辨率为高通硬解</a:t>
            </a:r>
            <a:r>
              <a:rPr kumimoji="1" lang="en-US" altLang="zh-CN" dirty="0"/>
              <a:t>1920</a:t>
            </a:r>
            <a:r>
              <a:rPr kumimoji="1" lang="zh-CN" altLang="en-US" dirty="0"/>
              <a:t>*</a:t>
            </a:r>
            <a:r>
              <a:rPr kumimoji="1" lang="en-US" altLang="zh-CN" dirty="0"/>
              <a:t>1088</a:t>
            </a:r>
            <a:r>
              <a:rPr kumimoji="1" lang="zh-CN" altLang="en-US" dirty="0"/>
              <a:t>，所以会匹配失败。</a:t>
            </a:r>
            <a:endParaRPr lang="zh-CN" altLang="en-US"/>
          </a:p>
        </p:txBody>
      </p:sp>
      <p:cxnSp>
        <p:nvCxnSpPr>
          <p:cNvPr id="7" name="直线箭头连接符 6">
            <a:extLst>
              <a:ext uri="{FF2B5EF4-FFF2-40B4-BE49-F238E27FC236}">
                <a16:creationId xmlns:a16="http://schemas.microsoft.com/office/drawing/2014/main" id="{90076CF3-6D63-26C1-2DBB-5A0A4D9B7D67}"/>
              </a:ext>
            </a:extLst>
          </p:cNvPr>
          <p:cNvCxnSpPr>
            <a:cxnSpLocks/>
            <a:stCxn id="6" idx="1"/>
          </p:cNvCxnSpPr>
          <p:nvPr/>
        </p:nvCxnSpPr>
        <p:spPr>
          <a:xfrm flipH="1" flipV="1">
            <a:off x="5238572" y="2248314"/>
            <a:ext cx="631381" cy="1826376"/>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9C6D1A6F-4FB1-6098-F335-E4213F1BB0B3}"/>
              </a:ext>
            </a:extLst>
          </p:cNvPr>
          <p:cNvCxnSpPr>
            <a:cxnSpLocks/>
            <a:stCxn id="6" idx="1"/>
          </p:cNvCxnSpPr>
          <p:nvPr/>
        </p:nvCxnSpPr>
        <p:spPr>
          <a:xfrm flipH="1" flipV="1">
            <a:off x="3854153" y="3890665"/>
            <a:ext cx="2015800" cy="18402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359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1E05FFE-CBB7-CA8D-DDC8-CBE8FB19F8AD}"/>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DA1EF5DC-FB72-8CFF-6B9E-88867B0E4CD8}"/>
              </a:ext>
            </a:extLst>
          </p:cNvPr>
          <p:cNvSpPr txBox="1"/>
          <p:nvPr/>
        </p:nvSpPr>
        <p:spPr>
          <a:xfrm>
            <a:off x="393107" y="777484"/>
            <a:ext cx="11540971" cy="875881"/>
          </a:xfrm>
          <a:prstGeom prst="rect">
            <a:avLst/>
          </a:prstGeom>
          <a:noFill/>
        </p:spPr>
        <p:txBody>
          <a:bodyPr wrap="square" rtlCol="0">
            <a:spAutoFit/>
          </a:bodyPr>
          <a:lstStyle/>
          <a:p>
            <a:pPr>
              <a:lnSpc>
                <a:spcPct val="150000"/>
              </a:lnSpc>
            </a:pPr>
            <a:r>
              <a:rPr kumimoji="1" lang="zh-CN" altLang="en-US" dirty="0"/>
              <a:t>若是正常的视频播放场景，解码器中也会通过</a:t>
            </a:r>
            <a:r>
              <a:rPr kumimoji="1" lang="en-US" altLang="zh-CN" dirty="0"/>
              <a:t>Codec/CodecConfig</a:t>
            </a:r>
            <a:r>
              <a:rPr kumimoji="1" lang="zh-CN" altLang="en-US" dirty="0"/>
              <a:t>来打印出视频的相关参数。（其中</a:t>
            </a:r>
            <a:r>
              <a:rPr kumimoji="1" lang="en-US" altLang="zh-CN" dirty="0"/>
              <a:t>diff</a:t>
            </a:r>
            <a:r>
              <a:rPr kumimoji="1" lang="zh-CN" altLang="en-US" dirty="0"/>
              <a:t>是对比解码器的配置与上一次的差异值，</a:t>
            </a:r>
            <a:r>
              <a:rPr kumimoji="1" lang="en-US" altLang="zh-CN" dirty="0"/>
              <a:t>CCodec</a:t>
            </a:r>
            <a:r>
              <a:rPr kumimoji="1" lang="zh-CN" altLang="en-US" dirty="0"/>
              <a:t>中打印的分别是输入和输出的视频流格式。）</a:t>
            </a:r>
          </a:p>
        </p:txBody>
      </p:sp>
      <p:pic>
        <p:nvPicPr>
          <p:cNvPr id="9" name="图片 8">
            <a:extLst>
              <a:ext uri="{FF2B5EF4-FFF2-40B4-BE49-F238E27FC236}">
                <a16:creationId xmlns:a16="http://schemas.microsoft.com/office/drawing/2014/main" id="{9EE9FB50-C3E1-A4CC-BC23-9F22F9E2B97C}"/>
              </a:ext>
            </a:extLst>
          </p:cNvPr>
          <p:cNvPicPr>
            <a:picLocks noChangeAspect="1"/>
          </p:cNvPicPr>
          <p:nvPr/>
        </p:nvPicPr>
        <p:blipFill rotWithShape="1">
          <a:blip r:embed="rId2"/>
          <a:srcRect t="14514" b="15162"/>
          <a:stretch/>
        </p:blipFill>
        <p:spPr>
          <a:xfrm>
            <a:off x="393107" y="1653365"/>
            <a:ext cx="6773034" cy="4901497"/>
          </a:xfrm>
          <a:prstGeom prst="rect">
            <a:avLst/>
          </a:prstGeom>
        </p:spPr>
      </p:pic>
      <p:pic>
        <p:nvPicPr>
          <p:cNvPr id="12" name="图片 11">
            <a:extLst>
              <a:ext uri="{FF2B5EF4-FFF2-40B4-BE49-F238E27FC236}">
                <a16:creationId xmlns:a16="http://schemas.microsoft.com/office/drawing/2014/main" id="{B68F7217-0998-60A1-2570-7625F746D475}"/>
              </a:ext>
            </a:extLst>
          </p:cNvPr>
          <p:cNvPicPr>
            <a:picLocks noChangeAspect="1"/>
          </p:cNvPicPr>
          <p:nvPr/>
        </p:nvPicPr>
        <p:blipFill rotWithShape="1">
          <a:blip r:embed="rId3"/>
          <a:srcRect r="11128"/>
          <a:stretch/>
        </p:blipFill>
        <p:spPr>
          <a:xfrm>
            <a:off x="7434879" y="1653365"/>
            <a:ext cx="4230460" cy="4818972"/>
          </a:xfrm>
          <a:prstGeom prst="rect">
            <a:avLst/>
          </a:prstGeom>
        </p:spPr>
      </p:pic>
    </p:spTree>
    <p:extLst>
      <p:ext uri="{BB962C8B-B14F-4D97-AF65-F5344CB8AC3E}">
        <p14:creationId xmlns:p14="http://schemas.microsoft.com/office/powerpoint/2010/main" val="2888410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944B23F-53EA-17DB-AFFE-0919C66B6A3D}"/>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7A4967A3-1406-322F-38E8-781D2F2FDAE0}"/>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75B908C7-8784-A398-ABB7-01F350442845}"/>
              </a:ext>
            </a:extLst>
          </p:cNvPr>
          <p:cNvSpPr txBox="1"/>
          <p:nvPr/>
        </p:nvSpPr>
        <p:spPr>
          <a:xfrm>
            <a:off x="393107" y="774354"/>
            <a:ext cx="11540971" cy="2122376"/>
          </a:xfrm>
          <a:prstGeom prst="rect">
            <a:avLst/>
          </a:prstGeom>
          <a:noFill/>
        </p:spPr>
        <p:txBody>
          <a:bodyPr wrap="square" rtlCol="0">
            <a:spAutoFit/>
          </a:bodyPr>
          <a:lstStyle/>
          <a:p>
            <a:pPr>
              <a:lnSpc>
                <a:spcPct val="150000"/>
              </a:lnSpc>
            </a:pPr>
            <a:r>
              <a:rPr kumimoji="1" lang="zh-CN" altLang="en-US" dirty="0"/>
              <a:t>虽然这个时候问题的根因已经明确了，但是在其他机型的同样的测试场景并未发现有明显的视频播放现象，为什么只有当前的机器会出现错误弹窗？</a:t>
            </a:r>
            <a:endParaRPr kumimoji="1" lang="en-US" altLang="zh-CN" dirty="0"/>
          </a:p>
          <a:p>
            <a:pPr>
              <a:lnSpc>
                <a:spcPct val="150000"/>
              </a:lnSpc>
            </a:pPr>
            <a:r>
              <a:rPr kumimoji="1" lang="zh-CN" altLang="en-US" dirty="0"/>
              <a:t>接下来为了探究应用的登陆页面有没有播放视频，播放的是什么视频。使用</a:t>
            </a:r>
            <a:r>
              <a:rPr kumimoji="1" lang="en-US" altLang="zh-CN" dirty="0"/>
              <a:t>avc</a:t>
            </a:r>
            <a:r>
              <a:rPr kumimoji="1" lang="zh-CN" altLang="en-US" dirty="0"/>
              <a:t>的解码分辨率支持为</a:t>
            </a:r>
            <a:r>
              <a:rPr kumimoji="1" lang="en-US" altLang="zh-CN" dirty="0"/>
              <a:t>2K</a:t>
            </a:r>
            <a:r>
              <a:rPr kumimoji="1" lang="zh-CN" altLang="en-US" dirty="0"/>
              <a:t>的机型在相同场景下进行测试，发现弹窗不复现。首先抓取了问题场景的</a:t>
            </a:r>
            <a:r>
              <a:rPr kumimoji="1" lang="en-US" altLang="zh-CN" dirty="0"/>
              <a:t>tracelog</a:t>
            </a:r>
            <a:r>
              <a:rPr kumimoji="1" lang="zh-CN" altLang="en-US" dirty="0"/>
              <a:t>日志，发现确实存在视频解码的动作。</a:t>
            </a:r>
            <a:r>
              <a:rPr kumimoji="1" lang="zh-CN" altLang="en-US" b="1" dirty="0"/>
              <a:t>（视频卡顿问题可使用</a:t>
            </a:r>
            <a:r>
              <a:rPr kumimoji="1" lang="en-US" altLang="zh-CN" b="1" dirty="0"/>
              <a:t>tracelog</a:t>
            </a:r>
            <a:r>
              <a:rPr kumimoji="1" lang="zh-CN" altLang="en-US" b="1" dirty="0"/>
              <a:t>初步界定应用调用送帧和渲染是否正常）</a:t>
            </a:r>
          </a:p>
        </p:txBody>
      </p:sp>
      <p:pic>
        <p:nvPicPr>
          <p:cNvPr id="5" name="图片 4">
            <a:extLst>
              <a:ext uri="{FF2B5EF4-FFF2-40B4-BE49-F238E27FC236}">
                <a16:creationId xmlns:a16="http://schemas.microsoft.com/office/drawing/2014/main" id="{6A8E178C-BED5-775B-7140-AF11CE86FD48}"/>
              </a:ext>
            </a:extLst>
          </p:cNvPr>
          <p:cNvPicPr>
            <a:picLocks noChangeAspect="1"/>
          </p:cNvPicPr>
          <p:nvPr/>
        </p:nvPicPr>
        <p:blipFill>
          <a:blip r:embed="rId2"/>
          <a:stretch>
            <a:fillRect/>
          </a:stretch>
        </p:blipFill>
        <p:spPr>
          <a:xfrm>
            <a:off x="417443" y="2970872"/>
            <a:ext cx="9125550" cy="3749005"/>
          </a:xfrm>
          <a:prstGeom prst="rect">
            <a:avLst/>
          </a:prstGeom>
        </p:spPr>
      </p:pic>
      <p:grpSp>
        <p:nvGrpSpPr>
          <p:cNvPr id="10" name="组合 9">
            <a:extLst>
              <a:ext uri="{FF2B5EF4-FFF2-40B4-BE49-F238E27FC236}">
                <a16:creationId xmlns:a16="http://schemas.microsoft.com/office/drawing/2014/main" id="{1663F80F-DA8C-7149-C386-022F948224EB}"/>
              </a:ext>
            </a:extLst>
          </p:cNvPr>
          <p:cNvGrpSpPr/>
          <p:nvPr/>
        </p:nvGrpSpPr>
        <p:grpSpPr>
          <a:xfrm>
            <a:off x="9414727" y="5206354"/>
            <a:ext cx="2612516" cy="1200329"/>
            <a:chOff x="9464154" y="4120495"/>
            <a:chExt cx="2612516" cy="1200329"/>
          </a:xfrm>
        </p:grpSpPr>
        <p:sp>
          <p:nvSpPr>
            <p:cNvPr id="6" name="文本框 5">
              <a:extLst>
                <a:ext uri="{FF2B5EF4-FFF2-40B4-BE49-F238E27FC236}">
                  <a16:creationId xmlns:a16="http://schemas.microsoft.com/office/drawing/2014/main" id="{6B4E08AD-EA42-DDE9-874D-FC4352970B53}"/>
                </a:ext>
              </a:extLst>
            </p:cNvPr>
            <p:cNvSpPr txBox="1"/>
            <p:nvPr/>
          </p:nvSpPr>
          <p:spPr>
            <a:xfrm>
              <a:off x="9464154" y="4120495"/>
              <a:ext cx="2612516" cy="1200329"/>
            </a:xfrm>
            <a:prstGeom prst="rect">
              <a:avLst/>
            </a:prstGeom>
            <a:noFill/>
          </p:spPr>
          <p:txBody>
            <a:bodyPr wrap="square" rtlCol="0">
              <a:spAutoFit/>
            </a:bodyPr>
            <a:lstStyle/>
            <a:p>
              <a:r>
                <a:rPr kumimoji="1" lang="en-US" altLang="zh-CN"/>
                <a:t>Queued</a:t>
              </a:r>
              <a:r>
                <a:rPr kumimoji="1" lang="zh-CN" altLang="en-US"/>
                <a:t>：应用送帧速度</a:t>
              </a:r>
              <a:endParaRPr kumimoji="1" lang="en-US" altLang="zh-CN"/>
            </a:p>
            <a:p>
              <a:r>
                <a:rPr kumimoji="1" lang="en-US" altLang="zh-CN"/>
                <a:t>Done</a:t>
              </a:r>
              <a:r>
                <a:rPr kumimoji="1" lang="zh-CN" altLang="en-US"/>
                <a:t>：解码速度</a:t>
              </a:r>
              <a:endParaRPr kumimoji="1" lang="en-US" altLang="zh-CN"/>
            </a:p>
            <a:p>
              <a:r>
                <a:rPr kumimoji="1" lang="en-US" altLang="zh-CN"/>
                <a:t>Rendered</a:t>
              </a:r>
              <a:r>
                <a:rPr kumimoji="1" lang="zh-CN" altLang="en-US"/>
                <a:t>：渲染速度</a:t>
              </a:r>
              <a:endParaRPr kumimoji="1" lang="en-US" altLang="zh-CN"/>
            </a:p>
            <a:p>
              <a:r>
                <a:rPr kumimoji="1" lang="en-US" altLang="zh-CN"/>
                <a:t>Discarded</a:t>
              </a:r>
              <a:r>
                <a:rPr kumimoji="1" lang="zh-CN" altLang="en-US"/>
                <a:t>：帧丢弃速度</a:t>
              </a:r>
            </a:p>
          </p:txBody>
        </p:sp>
        <p:sp>
          <p:nvSpPr>
            <p:cNvPr id="7" name="圆角矩形 6">
              <a:extLst>
                <a:ext uri="{FF2B5EF4-FFF2-40B4-BE49-F238E27FC236}">
                  <a16:creationId xmlns:a16="http://schemas.microsoft.com/office/drawing/2014/main" id="{AAC081BB-CDF6-617C-42A1-06F5E326EEAE}"/>
                </a:ext>
              </a:extLst>
            </p:cNvPr>
            <p:cNvSpPr/>
            <p:nvPr/>
          </p:nvSpPr>
          <p:spPr>
            <a:xfrm>
              <a:off x="9464154" y="4120495"/>
              <a:ext cx="2612516" cy="1200329"/>
            </a:xfrm>
            <a:prstGeom prst="roundRect">
              <a:avLst/>
            </a:prstGeom>
            <a:noFill/>
            <a:ln w="254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8" name="圆角矩形 7">
            <a:extLst>
              <a:ext uri="{FF2B5EF4-FFF2-40B4-BE49-F238E27FC236}">
                <a16:creationId xmlns:a16="http://schemas.microsoft.com/office/drawing/2014/main" id="{8BD48D01-2E81-93CE-01CF-9D5651F317CD}"/>
              </a:ext>
            </a:extLst>
          </p:cNvPr>
          <p:cNvSpPr/>
          <p:nvPr/>
        </p:nvSpPr>
        <p:spPr>
          <a:xfrm>
            <a:off x="5054358" y="6213952"/>
            <a:ext cx="4094018" cy="192731"/>
          </a:xfrm>
          <a:prstGeom prst="round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832AD014-B41C-95A7-8FE3-77820F6F0F12}"/>
              </a:ext>
            </a:extLst>
          </p:cNvPr>
          <p:cNvSpPr txBox="1"/>
          <p:nvPr/>
        </p:nvSpPr>
        <p:spPr>
          <a:xfrm>
            <a:off x="9926594" y="2783498"/>
            <a:ext cx="1338828" cy="369332"/>
          </a:xfrm>
          <a:prstGeom prst="rect">
            <a:avLst/>
          </a:prstGeom>
          <a:noFill/>
        </p:spPr>
        <p:txBody>
          <a:bodyPr wrap="none" rtlCol="0">
            <a:spAutoFit/>
          </a:bodyPr>
          <a:lstStyle/>
          <a:p>
            <a:r>
              <a:rPr kumimoji="1" lang="zh-CN" altLang="en-US"/>
              <a:t>解码器类型</a:t>
            </a:r>
          </a:p>
        </p:txBody>
      </p:sp>
      <p:sp>
        <p:nvSpPr>
          <p:cNvPr id="12" name="文本框 11">
            <a:extLst>
              <a:ext uri="{FF2B5EF4-FFF2-40B4-BE49-F238E27FC236}">
                <a16:creationId xmlns:a16="http://schemas.microsoft.com/office/drawing/2014/main" id="{D45DC56D-8A2F-1EEF-A1A8-0F67930CBAC6}"/>
              </a:ext>
            </a:extLst>
          </p:cNvPr>
          <p:cNvSpPr txBox="1"/>
          <p:nvPr/>
        </p:nvSpPr>
        <p:spPr>
          <a:xfrm>
            <a:off x="9237345" y="3625594"/>
            <a:ext cx="2954655" cy="369332"/>
          </a:xfrm>
          <a:prstGeom prst="rect">
            <a:avLst/>
          </a:prstGeom>
          <a:noFill/>
        </p:spPr>
        <p:txBody>
          <a:bodyPr wrap="none" rtlCol="0">
            <a:spAutoFit/>
          </a:bodyPr>
          <a:lstStyle/>
          <a:p>
            <a:r>
              <a:rPr kumimoji="1" lang="zh-CN" altLang="en-US"/>
              <a:t>解码器实例</a:t>
            </a:r>
            <a:r>
              <a:rPr lang="zh-CN" altLang="en-US" b="0" i="0">
                <a:solidFill>
                  <a:srgbClr val="404040"/>
                </a:solidFill>
                <a:effectLst/>
                <a:latin typeface="DeepSeek-CJK-patch"/>
              </a:rPr>
              <a:t>内存地址标识符</a:t>
            </a:r>
            <a:endParaRPr kumimoji="1" lang="zh-CN" altLang="en-US"/>
          </a:p>
        </p:txBody>
      </p:sp>
      <p:cxnSp>
        <p:nvCxnSpPr>
          <p:cNvPr id="15" name="直线箭头连接符 14">
            <a:extLst>
              <a:ext uri="{FF2B5EF4-FFF2-40B4-BE49-F238E27FC236}">
                <a16:creationId xmlns:a16="http://schemas.microsoft.com/office/drawing/2014/main" id="{0E96957F-A04E-B03E-C03B-C2E55519D547}"/>
              </a:ext>
            </a:extLst>
          </p:cNvPr>
          <p:cNvCxnSpPr>
            <a:cxnSpLocks/>
          </p:cNvCxnSpPr>
          <p:nvPr/>
        </p:nvCxnSpPr>
        <p:spPr>
          <a:xfrm flipH="1">
            <a:off x="3719945" y="2970872"/>
            <a:ext cx="6206649"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圆角矩形 17">
            <a:extLst>
              <a:ext uri="{FF2B5EF4-FFF2-40B4-BE49-F238E27FC236}">
                <a16:creationId xmlns:a16="http://schemas.microsoft.com/office/drawing/2014/main" id="{FDCEAC37-512C-0CF8-E11E-60EDF3C426F2}"/>
              </a:ext>
            </a:extLst>
          </p:cNvPr>
          <p:cNvSpPr/>
          <p:nvPr/>
        </p:nvSpPr>
        <p:spPr>
          <a:xfrm>
            <a:off x="2244436" y="2896730"/>
            <a:ext cx="1475509" cy="3823147"/>
          </a:xfrm>
          <a:prstGeom prst="roundRect">
            <a:avLst>
              <a:gd name="adj" fmla="val 6104"/>
            </a:avLst>
          </a:prstGeom>
          <a:noFill/>
          <a:ln w="254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圆角矩形 18">
            <a:extLst>
              <a:ext uri="{FF2B5EF4-FFF2-40B4-BE49-F238E27FC236}">
                <a16:creationId xmlns:a16="http://schemas.microsoft.com/office/drawing/2014/main" id="{82746C2E-F117-093B-6193-86D8E48A8321}"/>
              </a:ext>
            </a:extLst>
          </p:cNvPr>
          <p:cNvSpPr/>
          <p:nvPr/>
        </p:nvSpPr>
        <p:spPr>
          <a:xfrm>
            <a:off x="3784579" y="3152830"/>
            <a:ext cx="1269780" cy="3567047"/>
          </a:xfrm>
          <a:prstGeom prst="roundRect">
            <a:avLst>
              <a:gd name="adj" fmla="val 6104"/>
            </a:avLst>
          </a:prstGeom>
          <a:noFill/>
          <a:ln w="254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 name="直线箭头连接符 19">
            <a:extLst>
              <a:ext uri="{FF2B5EF4-FFF2-40B4-BE49-F238E27FC236}">
                <a16:creationId xmlns:a16="http://schemas.microsoft.com/office/drawing/2014/main" id="{9CA06E36-4FA4-1DFA-6B99-3002C66E6AD0}"/>
              </a:ext>
            </a:extLst>
          </p:cNvPr>
          <p:cNvCxnSpPr>
            <a:cxnSpLocks/>
          </p:cNvCxnSpPr>
          <p:nvPr/>
        </p:nvCxnSpPr>
        <p:spPr>
          <a:xfrm flipH="1">
            <a:off x="5260087" y="3798297"/>
            <a:ext cx="4008604"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1EACD431-656D-213A-0149-832FE3783DA1}"/>
              </a:ext>
            </a:extLst>
          </p:cNvPr>
          <p:cNvCxnSpPr>
            <a:cxnSpLocks/>
          </p:cNvCxnSpPr>
          <p:nvPr/>
        </p:nvCxnSpPr>
        <p:spPr>
          <a:xfrm flipV="1">
            <a:off x="9140138" y="5371071"/>
            <a:ext cx="266351" cy="83247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直线连接符 28">
            <a:extLst>
              <a:ext uri="{FF2B5EF4-FFF2-40B4-BE49-F238E27FC236}">
                <a16:creationId xmlns:a16="http://schemas.microsoft.com/office/drawing/2014/main" id="{FBD9F6D7-F5F3-BBE0-19BE-014C8D24A7E8}"/>
              </a:ext>
            </a:extLst>
          </p:cNvPr>
          <p:cNvCxnSpPr/>
          <p:nvPr/>
        </p:nvCxnSpPr>
        <p:spPr>
          <a:xfrm>
            <a:off x="9148376" y="6406683"/>
            <a:ext cx="53108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7243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76F4109-B80D-55D7-64D5-0ED7D8D5F045}"/>
              </a:ext>
            </a:extLst>
          </p:cNvPr>
          <p:cNvSpPr/>
          <p:nvPr/>
        </p:nvSpPr>
        <p:spPr>
          <a:xfrm>
            <a:off x="328474" y="712125"/>
            <a:ext cx="11540971" cy="1464633"/>
          </a:xfrm>
          <a:prstGeom prst="rect">
            <a:avLst/>
          </a:prstGeom>
        </p:spPr>
        <p:txBody>
          <a:bodyPr wrap="square">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D24E383-EB99-9D13-DAAA-924E6E27742B}"/>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C3B1E770-45C1-F8ED-0455-C5717E254109}"/>
              </a:ext>
            </a:extLst>
          </p:cNvPr>
          <p:cNvSpPr txBox="1"/>
          <p:nvPr/>
        </p:nvSpPr>
        <p:spPr>
          <a:xfrm>
            <a:off x="322555" y="718256"/>
            <a:ext cx="11540971" cy="875881"/>
          </a:xfrm>
          <a:prstGeom prst="rect">
            <a:avLst/>
          </a:prstGeom>
          <a:noFill/>
        </p:spPr>
        <p:txBody>
          <a:bodyPr wrap="square" rtlCol="0">
            <a:spAutoFit/>
          </a:bodyPr>
          <a:lstStyle/>
          <a:p>
            <a:pPr>
              <a:lnSpc>
                <a:spcPct val="150000"/>
              </a:lnSpc>
            </a:pPr>
            <a:r>
              <a:rPr kumimoji="1" lang="zh-CN" altLang="en-US" b="1"/>
              <a:t>通过视频</a:t>
            </a:r>
            <a:r>
              <a:rPr kumimoji="1" lang="en-US" altLang="zh-CN" b="1" dirty="0"/>
              <a:t>dump</a:t>
            </a:r>
            <a:r>
              <a:rPr kumimoji="1" lang="zh-CN" altLang="en-US" b="1"/>
              <a:t>脚本将应用送入的解码器的视频帧数据给抓取出来（花屏问题可以同时抓取解码前后的视频帧数据来界定是否是解码器的解码问题）。</a:t>
            </a:r>
          </a:p>
        </p:txBody>
      </p:sp>
      <p:sp>
        <p:nvSpPr>
          <p:cNvPr id="5" name="文本框 4">
            <a:extLst>
              <a:ext uri="{FF2B5EF4-FFF2-40B4-BE49-F238E27FC236}">
                <a16:creationId xmlns:a16="http://schemas.microsoft.com/office/drawing/2014/main" id="{32D48BCC-22C0-F4DC-D423-DC92C6989EE6}"/>
              </a:ext>
            </a:extLst>
          </p:cNvPr>
          <p:cNvSpPr txBox="1"/>
          <p:nvPr/>
        </p:nvSpPr>
        <p:spPr>
          <a:xfrm>
            <a:off x="1631259" y="1512233"/>
            <a:ext cx="1351652" cy="369332"/>
          </a:xfrm>
          <a:prstGeom prst="rect">
            <a:avLst/>
          </a:prstGeom>
          <a:noFill/>
        </p:spPr>
        <p:txBody>
          <a:bodyPr wrap="none" rtlCol="0">
            <a:spAutoFit/>
          </a:bodyPr>
          <a:lstStyle/>
          <a:p>
            <a:r>
              <a:rPr kumimoji="1" lang="zh-CN" altLang="en-US"/>
              <a:t>视频帧截图</a:t>
            </a:r>
          </a:p>
        </p:txBody>
      </p:sp>
      <p:sp>
        <p:nvSpPr>
          <p:cNvPr id="6" name="文本框 5">
            <a:extLst>
              <a:ext uri="{FF2B5EF4-FFF2-40B4-BE49-F238E27FC236}">
                <a16:creationId xmlns:a16="http://schemas.microsoft.com/office/drawing/2014/main" id="{4DE548AE-5256-7C1E-1D6B-F0E1A592E1F0}"/>
              </a:ext>
            </a:extLst>
          </p:cNvPr>
          <p:cNvSpPr txBox="1"/>
          <p:nvPr/>
        </p:nvSpPr>
        <p:spPr>
          <a:xfrm>
            <a:off x="4666048" y="1512233"/>
            <a:ext cx="2031325" cy="369332"/>
          </a:xfrm>
          <a:prstGeom prst="rect">
            <a:avLst/>
          </a:prstGeom>
          <a:noFill/>
        </p:spPr>
        <p:txBody>
          <a:bodyPr wrap="none" rtlCol="0">
            <a:spAutoFit/>
          </a:bodyPr>
          <a:lstStyle/>
          <a:p>
            <a:r>
              <a:rPr kumimoji="1" lang="zh-CN" altLang="en-US"/>
              <a:t>正常登录页面截图</a:t>
            </a:r>
          </a:p>
        </p:txBody>
      </p:sp>
      <p:sp>
        <p:nvSpPr>
          <p:cNvPr id="7" name="文本框 6">
            <a:extLst>
              <a:ext uri="{FF2B5EF4-FFF2-40B4-BE49-F238E27FC236}">
                <a16:creationId xmlns:a16="http://schemas.microsoft.com/office/drawing/2014/main" id="{25FEE721-778D-1915-CCFC-A8CFA4C3A89E}"/>
              </a:ext>
            </a:extLst>
          </p:cNvPr>
          <p:cNvSpPr txBox="1"/>
          <p:nvPr/>
        </p:nvSpPr>
        <p:spPr>
          <a:xfrm>
            <a:off x="8534782" y="1512233"/>
            <a:ext cx="2031325" cy="369332"/>
          </a:xfrm>
          <a:prstGeom prst="rect">
            <a:avLst/>
          </a:prstGeom>
          <a:noFill/>
        </p:spPr>
        <p:txBody>
          <a:bodyPr wrap="none" rtlCol="0">
            <a:spAutoFit/>
          </a:bodyPr>
          <a:lstStyle/>
          <a:p>
            <a:r>
              <a:rPr kumimoji="1" lang="zh-CN" altLang="en-US"/>
              <a:t>异常登录页面截图</a:t>
            </a:r>
          </a:p>
        </p:txBody>
      </p:sp>
      <p:sp>
        <p:nvSpPr>
          <p:cNvPr id="8" name="文本框 7">
            <a:extLst>
              <a:ext uri="{FF2B5EF4-FFF2-40B4-BE49-F238E27FC236}">
                <a16:creationId xmlns:a16="http://schemas.microsoft.com/office/drawing/2014/main" id="{E22640D6-4DB8-D834-7E13-05AAF4206019}"/>
              </a:ext>
            </a:extLst>
          </p:cNvPr>
          <p:cNvSpPr txBox="1"/>
          <p:nvPr/>
        </p:nvSpPr>
        <p:spPr>
          <a:xfrm>
            <a:off x="328474" y="5581586"/>
            <a:ext cx="11540971" cy="1291379"/>
          </a:xfrm>
          <a:prstGeom prst="rect">
            <a:avLst/>
          </a:prstGeom>
          <a:noFill/>
        </p:spPr>
        <p:txBody>
          <a:bodyPr wrap="square" rtlCol="0">
            <a:spAutoFit/>
          </a:bodyPr>
          <a:lstStyle/>
          <a:p>
            <a:pPr>
              <a:lnSpc>
                <a:spcPct val="150000"/>
              </a:lnSpc>
            </a:pPr>
            <a:r>
              <a:rPr kumimoji="1" lang="zh-CN" altLang="en-US"/>
              <a:t>通过</a:t>
            </a:r>
            <a:r>
              <a:rPr kumimoji="1" lang="en-US" altLang="zh-CN" dirty="0"/>
              <a:t>dump</a:t>
            </a:r>
            <a:r>
              <a:rPr kumimoji="1" lang="zh-CN" altLang="en-US"/>
              <a:t>得到的视频帧可以发现是一种动态的渐变的视频画面。再次仔细对比复现场景和正常场景下的背景后证实该视频确实是登录页面的动态背景。之所以一开始没有对比没有发现差异点是因为异常下的背景是一张和视频相同色调的图片，且视频的动态渐变颜色过淡、渐变缓慢。</a:t>
            </a:r>
          </a:p>
        </p:txBody>
      </p:sp>
      <p:pic>
        <p:nvPicPr>
          <p:cNvPr id="9" name="图片 8" descr="背景图案&#10;&#10;描述已自动生成">
            <a:extLst>
              <a:ext uri="{FF2B5EF4-FFF2-40B4-BE49-F238E27FC236}">
                <a16:creationId xmlns:a16="http://schemas.microsoft.com/office/drawing/2014/main" id="{429C3D3C-866D-AF04-BC5C-A3C9F4EC1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2096" y="1833316"/>
            <a:ext cx="1719243" cy="3748165"/>
          </a:xfrm>
          <a:prstGeom prst="rect">
            <a:avLst/>
          </a:prstGeom>
        </p:spPr>
      </p:pic>
      <p:pic>
        <p:nvPicPr>
          <p:cNvPr id="10" name="图片 9" descr="图形用户界面, 文本, 应用程序&#10;&#10;描述已自动生成">
            <a:extLst>
              <a:ext uri="{FF2B5EF4-FFF2-40B4-BE49-F238E27FC236}">
                <a16:creationId xmlns:a16="http://schemas.microsoft.com/office/drawing/2014/main" id="{67B72F9A-C3A1-A596-7C5A-58B1A4C0C8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2885" y="1944413"/>
            <a:ext cx="2215121" cy="3678823"/>
          </a:xfrm>
          <a:prstGeom prst="rect">
            <a:avLst/>
          </a:prstGeom>
        </p:spPr>
      </p:pic>
      <p:pic>
        <p:nvPicPr>
          <p:cNvPr id="11" name="图片 10" descr="图形用户界面, 文本, 应用程序&#10;&#10;描述已自动生成">
            <a:extLst>
              <a:ext uri="{FF2B5EF4-FFF2-40B4-BE49-F238E27FC236}">
                <a16:creationId xmlns:a16="http://schemas.microsoft.com/office/drawing/2014/main" id="{03EE6633-FD14-0F09-EE3A-405ECE79D452}"/>
              </a:ext>
            </a:extLst>
          </p:cNvPr>
          <p:cNvPicPr>
            <a:picLocks noChangeAspect="1"/>
          </p:cNvPicPr>
          <p:nvPr/>
        </p:nvPicPr>
        <p:blipFill rotWithShape="1">
          <a:blip r:embed="rId4">
            <a:extLst>
              <a:ext uri="{28A0092B-C50C-407E-A947-70E740481C1C}">
                <a14:useLocalDpi xmlns:a14="http://schemas.microsoft.com/office/drawing/2010/main" val="0"/>
              </a:ext>
            </a:extLst>
          </a:blip>
          <a:srcRect r="594"/>
          <a:stretch/>
        </p:blipFill>
        <p:spPr>
          <a:xfrm>
            <a:off x="4746502" y="1867499"/>
            <a:ext cx="1791032" cy="3834304"/>
          </a:xfrm>
          <a:prstGeom prst="rect">
            <a:avLst/>
          </a:prstGeom>
        </p:spPr>
      </p:pic>
    </p:spTree>
    <p:extLst>
      <p:ext uri="{BB962C8B-B14F-4D97-AF65-F5344CB8AC3E}">
        <p14:creationId xmlns:p14="http://schemas.microsoft.com/office/powerpoint/2010/main" val="2124008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3" name="文本框 2">
            <a:extLst>
              <a:ext uri="{FF2B5EF4-FFF2-40B4-BE49-F238E27FC236}">
                <a16:creationId xmlns:a16="http://schemas.microsoft.com/office/drawing/2014/main" id="{5E8D5024-3B18-3B66-FE32-02F9DCBAE244}"/>
              </a:ext>
            </a:extLst>
          </p:cNvPr>
          <p:cNvSpPr txBox="1"/>
          <p:nvPr/>
        </p:nvSpPr>
        <p:spPr>
          <a:xfrm>
            <a:off x="393107" y="846781"/>
            <a:ext cx="11540971" cy="1291379"/>
          </a:xfrm>
          <a:prstGeom prst="rect">
            <a:avLst/>
          </a:prstGeom>
          <a:noFill/>
        </p:spPr>
        <p:txBody>
          <a:bodyPr wrap="square" rtlCol="0">
            <a:spAutoFit/>
          </a:bodyPr>
          <a:lstStyle/>
          <a:p>
            <a:pPr>
              <a:lnSpc>
                <a:spcPct val="150000"/>
              </a:lnSpc>
            </a:pPr>
            <a:r>
              <a:rPr kumimoji="1" lang="zh-CN" altLang="en-US" b="1"/>
              <a:t>问题的根因：应用播放超出系统规格的视频导致解码器的创建失败。应用在未考虑设备支持的情况下尝试播放超规格视频，播放失败后选择弹窗的方式来抛出错误给用户。</a:t>
            </a:r>
            <a:endParaRPr kumimoji="1" lang="en-US" altLang="zh-CN" b="1"/>
          </a:p>
          <a:p>
            <a:pPr>
              <a:lnSpc>
                <a:spcPct val="150000"/>
              </a:lnSpc>
            </a:pPr>
            <a:r>
              <a:rPr kumimoji="1" lang="zh-CN" altLang="en-US"/>
              <a:t>这种应用策略很明显是不合理的，应用应该在播放前获取设备的视频分辨率的支持规格来采用不同的播放策略。</a:t>
            </a:r>
            <a:endParaRPr kumimoji="1" lang="en-US" altLang="zh-CN" dirty="0"/>
          </a:p>
        </p:txBody>
      </p:sp>
      <p:sp>
        <p:nvSpPr>
          <p:cNvPr id="4" name="文本框 3">
            <a:extLst>
              <a:ext uri="{FF2B5EF4-FFF2-40B4-BE49-F238E27FC236}">
                <a16:creationId xmlns:a16="http://schemas.microsoft.com/office/drawing/2014/main" id="{336F0398-ADF5-1FD2-F59F-8817BC54F453}"/>
              </a:ext>
            </a:extLst>
          </p:cNvPr>
          <p:cNvSpPr txBox="1"/>
          <p:nvPr/>
        </p:nvSpPr>
        <p:spPr>
          <a:xfrm>
            <a:off x="393107" y="2753441"/>
            <a:ext cx="9632411" cy="3693319"/>
          </a:xfrm>
          <a:prstGeom prst="rect">
            <a:avLst/>
          </a:prstGeom>
          <a:noFill/>
        </p:spPr>
        <p:txBody>
          <a:bodyPr wrap="square">
            <a:spAutoFit/>
          </a:bodyPr>
          <a:lstStyle/>
          <a:p>
            <a:r>
              <a:rPr lang="zh-CN" altLang="en-US"/>
              <a:t>MediaCodecList mediaCodec = new MediaCodecList(MediaCodecList.ALL_CODECS); </a:t>
            </a:r>
          </a:p>
          <a:p>
            <a:r>
              <a:rPr lang="zh-CN" altLang="en-US"/>
              <a:t>MediaCodecInfo[] codecInfos = mediaCodec.getCodecInfos(); </a:t>
            </a:r>
          </a:p>
          <a:p>
            <a:r>
              <a:rPr lang="zh-CN" altLang="en-US"/>
              <a:t>for (MediaCodecInfo codecInfo : codecInfos) { </a:t>
            </a:r>
          </a:p>
          <a:p>
            <a:r>
              <a:rPr lang="zh-CN" altLang="en-US"/>
              <a:t>    String[] supportedTypes = codecInfo.getSupportedTypes();                 </a:t>
            </a:r>
          </a:p>
          <a:p>
            <a:r>
              <a:rPr lang="zh-CN" altLang="en-US"/>
              <a:t>    for (String type : supportedTypes) {                     </a:t>
            </a:r>
          </a:p>
          <a:p>
            <a:r>
              <a:rPr lang="zh-CN" altLang="en-US"/>
              <a:t>        if (type.equalsIgnoreCase(MediaFormat.MIMETYPE_VIDEO_AVC)) {                         </a:t>
            </a:r>
          </a:p>
          <a:p>
            <a:r>
              <a:rPr lang="zh-CN" altLang="en-US"/>
              <a:t>            MediaCodecInfo.CodecCapabilities capabilities = codecInfo.getCapabilitiesForType(type);                         </a:t>
            </a:r>
          </a:p>
          <a:p>
            <a:r>
              <a:rPr lang="zh-CN" altLang="en-US"/>
              <a:t>            MediaCodecInfo.VideoCapabilities videoCapabilities = capabilities.getVideoCapabilities();                         </a:t>
            </a:r>
          </a:p>
          <a:p>
            <a:r>
              <a:rPr lang="zh-CN" altLang="en-US"/>
              <a:t>            int height = videoCapabilities.getSupportedHeights().getUpper();                         </a:t>
            </a:r>
          </a:p>
          <a:p>
            <a:r>
              <a:rPr lang="zh-CN" altLang="en-US"/>
              <a:t>            int supportWidth = videoCapabilities.getSupportedWidthsFor(height).getUpper(); </a:t>
            </a:r>
          </a:p>
          <a:p>
            <a:r>
              <a:rPr lang="zh-CN" altLang="en-US"/>
              <a:t>            }</a:t>
            </a:r>
            <a:endParaRPr lang="en-US" altLang="zh-CN" dirty="0"/>
          </a:p>
          <a:p>
            <a:r>
              <a:rPr lang="en-US" altLang="zh-CN" dirty="0"/>
              <a:t>     }</a:t>
            </a:r>
          </a:p>
          <a:p>
            <a:r>
              <a:rPr lang="en-US" altLang="zh-CN" dirty="0"/>
              <a:t>}</a:t>
            </a:r>
            <a:endParaRPr lang="zh-CN" altLang="en-US"/>
          </a:p>
        </p:txBody>
      </p:sp>
      <p:sp>
        <p:nvSpPr>
          <p:cNvPr id="6" name="文本框 5">
            <a:extLst>
              <a:ext uri="{FF2B5EF4-FFF2-40B4-BE49-F238E27FC236}">
                <a16:creationId xmlns:a16="http://schemas.microsoft.com/office/drawing/2014/main" id="{30295AC8-9288-9CCA-17D4-122A10483FFD}"/>
              </a:ext>
            </a:extLst>
          </p:cNvPr>
          <p:cNvSpPr txBox="1"/>
          <p:nvPr/>
        </p:nvSpPr>
        <p:spPr>
          <a:xfrm>
            <a:off x="393107" y="2344372"/>
            <a:ext cx="4267835" cy="369332"/>
          </a:xfrm>
          <a:prstGeom prst="rect">
            <a:avLst/>
          </a:prstGeom>
          <a:noFill/>
        </p:spPr>
        <p:txBody>
          <a:bodyPr wrap="none" rtlCol="0">
            <a:spAutoFit/>
          </a:bodyPr>
          <a:lstStyle/>
          <a:p>
            <a:r>
              <a:rPr kumimoji="1" lang="zh-CN" altLang="en-US" b="1"/>
              <a:t>查询设备播放</a:t>
            </a:r>
            <a:r>
              <a:rPr kumimoji="1" lang="en-US" altLang="zh-CN" b="1"/>
              <a:t>avc</a:t>
            </a:r>
            <a:r>
              <a:rPr kumimoji="1" lang="zh-CN" altLang="en-US" b="1"/>
              <a:t>视频解码分辨率支持：</a:t>
            </a:r>
          </a:p>
        </p:txBody>
      </p:sp>
    </p:spTree>
    <p:extLst>
      <p:ext uri="{BB962C8B-B14F-4D97-AF65-F5344CB8AC3E}">
        <p14:creationId xmlns:p14="http://schemas.microsoft.com/office/powerpoint/2010/main" val="4146682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054F2D69-0F0D-E623-704D-FC9E91C3C018}"/>
              </a:ext>
            </a:extLst>
          </p:cNvPr>
          <p:cNvSpPr/>
          <p:nvPr/>
        </p:nvSpPr>
        <p:spPr>
          <a:xfrm rot="5400000">
            <a:off x="7978345" y="4707831"/>
            <a:ext cx="1235676" cy="1235676"/>
          </a:xfrm>
          <a:prstGeom prst="rect">
            <a:avLst/>
          </a:prstGeom>
          <a:solidFill>
            <a:schemeClr val="accent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5" name="文本框 4">
            <a:extLst>
              <a:ext uri="{FF2B5EF4-FFF2-40B4-BE49-F238E27FC236}">
                <a16:creationId xmlns:a16="http://schemas.microsoft.com/office/drawing/2014/main" id="{DCFCB9DD-8627-A5CA-F5E6-5A78AFF6E3B0}"/>
              </a:ext>
            </a:extLst>
          </p:cNvPr>
          <p:cNvSpPr txBox="1"/>
          <p:nvPr/>
        </p:nvSpPr>
        <p:spPr>
          <a:xfrm>
            <a:off x="337682" y="2082225"/>
            <a:ext cx="11516635" cy="1291379"/>
          </a:xfrm>
          <a:prstGeom prst="rect">
            <a:avLst/>
          </a:prstGeom>
          <a:noFill/>
        </p:spPr>
        <p:txBody>
          <a:bodyPr wrap="square" rtlCol="0">
            <a:spAutoFit/>
          </a:bodyPr>
          <a:lstStyle/>
          <a:p>
            <a:pPr>
              <a:lnSpc>
                <a:spcPct val="150000"/>
              </a:lnSpc>
            </a:pPr>
            <a:r>
              <a:rPr kumimoji="1" lang="zh-CN" altLang="en-US"/>
              <a:t>这里需要注意的是，宽高是有区别的且有依赖关系的，不可使用通过</a:t>
            </a:r>
            <a:r>
              <a:rPr lang="zh-CN" altLang="en-US"/>
              <a:t>getSupportedHeights和getSupported</a:t>
            </a:r>
            <a:r>
              <a:rPr lang="en-US" altLang="zh-CN" dirty="0"/>
              <a:t>Width</a:t>
            </a:r>
            <a:r>
              <a:rPr lang="zh-CN" altLang="en-US"/>
              <a:t>s同时获取的宽高。也就是说，当设备支持编分辨率的宽高交换时，同时支持</a:t>
            </a:r>
            <a:r>
              <a:rPr lang="en-US" altLang="zh-CN" dirty="0"/>
              <a:t>1920</a:t>
            </a:r>
            <a:r>
              <a:rPr lang="zh-CN" altLang="en-US"/>
              <a:t>*</a:t>
            </a:r>
            <a:r>
              <a:rPr lang="en-US" altLang="zh-CN" dirty="0"/>
              <a:t>1080</a:t>
            </a:r>
            <a:r>
              <a:rPr lang="zh-CN" altLang="en-US"/>
              <a:t>和</a:t>
            </a:r>
            <a:r>
              <a:rPr lang="en-US" altLang="zh-CN" dirty="0"/>
              <a:t>1080</a:t>
            </a:r>
            <a:r>
              <a:rPr lang="zh-CN" altLang="en-US"/>
              <a:t>*</a:t>
            </a:r>
            <a:r>
              <a:rPr lang="en-US" altLang="zh-CN" dirty="0"/>
              <a:t>1920</a:t>
            </a:r>
            <a:r>
              <a:rPr lang="zh-CN" altLang="en-US"/>
              <a:t>不代表支持</a:t>
            </a:r>
            <a:r>
              <a:rPr lang="en-US" altLang="zh-CN" dirty="0"/>
              <a:t>1920</a:t>
            </a:r>
            <a:r>
              <a:rPr lang="zh-CN" altLang="en-US"/>
              <a:t>*</a:t>
            </a:r>
            <a:r>
              <a:rPr lang="en-US" altLang="zh-CN" dirty="0"/>
              <a:t>1920</a:t>
            </a:r>
            <a:r>
              <a:rPr lang="zh-CN" altLang="en-US"/>
              <a:t>分辨率。</a:t>
            </a:r>
            <a:endParaRPr kumimoji="1" lang="zh-CN" altLang="en-US"/>
          </a:p>
        </p:txBody>
      </p:sp>
      <p:cxnSp>
        <p:nvCxnSpPr>
          <p:cNvPr id="7" name="直线箭头连接符 6">
            <a:extLst>
              <a:ext uri="{FF2B5EF4-FFF2-40B4-BE49-F238E27FC236}">
                <a16:creationId xmlns:a16="http://schemas.microsoft.com/office/drawing/2014/main" id="{4B9948B8-3CDA-4555-16E5-32653EE21CCE}"/>
              </a:ext>
            </a:extLst>
          </p:cNvPr>
          <p:cNvCxnSpPr>
            <a:cxnSpLocks/>
          </p:cNvCxnSpPr>
          <p:nvPr/>
        </p:nvCxnSpPr>
        <p:spPr>
          <a:xfrm>
            <a:off x="1417096" y="5943505"/>
            <a:ext cx="34018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线箭头连接符 8">
            <a:extLst>
              <a:ext uri="{FF2B5EF4-FFF2-40B4-BE49-F238E27FC236}">
                <a16:creationId xmlns:a16="http://schemas.microsoft.com/office/drawing/2014/main" id="{0B92A434-2AB0-0F3F-68A2-CB822EA5B8F6}"/>
              </a:ext>
            </a:extLst>
          </p:cNvPr>
          <p:cNvCxnSpPr>
            <a:cxnSpLocks/>
          </p:cNvCxnSpPr>
          <p:nvPr/>
        </p:nvCxnSpPr>
        <p:spPr>
          <a:xfrm flipV="1">
            <a:off x="1878227" y="3698039"/>
            <a:ext cx="0" cy="27071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110C96C-303F-FFDD-CE0E-19962F473441}"/>
              </a:ext>
            </a:extLst>
          </p:cNvPr>
          <p:cNvSpPr/>
          <p:nvPr/>
        </p:nvSpPr>
        <p:spPr>
          <a:xfrm>
            <a:off x="1886465" y="4699593"/>
            <a:ext cx="848498" cy="1235676"/>
          </a:xfrm>
          <a:prstGeom prst="rect">
            <a:avLst/>
          </a:prstGeom>
          <a:solidFill>
            <a:schemeClr val="accent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a:extLst>
              <a:ext uri="{FF2B5EF4-FFF2-40B4-BE49-F238E27FC236}">
                <a16:creationId xmlns:a16="http://schemas.microsoft.com/office/drawing/2014/main" id="{2BE401F8-4A09-8726-DF04-94946884AA9D}"/>
              </a:ext>
            </a:extLst>
          </p:cNvPr>
          <p:cNvSpPr/>
          <p:nvPr/>
        </p:nvSpPr>
        <p:spPr>
          <a:xfrm rot="5400000">
            <a:off x="2092411" y="4884944"/>
            <a:ext cx="848498" cy="1235676"/>
          </a:xfrm>
          <a:prstGeom prst="rect">
            <a:avLst/>
          </a:prstGeom>
          <a:solidFill>
            <a:schemeClr val="accent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9" name="直线箭头连接符 28">
            <a:extLst>
              <a:ext uri="{FF2B5EF4-FFF2-40B4-BE49-F238E27FC236}">
                <a16:creationId xmlns:a16="http://schemas.microsoft.com/office/drawing/2014/main" id="{87AA79CB-171B-6A79-03F5-AAF587D7B13C}"/>
              </a:ext>
            </a:extLst>
          </p:cNvPr>
          <p:cNvCxnSpPr>
            <a:cxnSpLocks/>
          </p:cNvCxnSpPr>
          <p:nvPr/>
        </p:nvCxnSpPr>
        <p:spPr>
          <a:xfrm>
            <a:off x="7513096" y="5943505"/>
            <a:ext cx="34018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212F4834-CF95-A128-19AF-540434BBCA12}"/>
              </a:ext>
            </a:extLst>
          </p:cNvPr>
          <p:cNvCxnSpPr>
            <a:cxnSpLocks/>
          </p:cNvCxnSpPr>
          <p:nvPr/>
        </p:nvCxnSpPr>
        <p:spPr>
          <a:xfrm flipV="1">
            <a:off x="7974227" y="3698039"/>
            <a:ext cx="0" cy="27071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E26BF761-98D8-52B3-2B46-8A863090E111}"/>
              </a:ext>
            </a:extLst>
          </p:cNvPr>
          <p:cNvSpPr/>
          <p:nvPr/>
        </p:nvSpPr>
        <p:spPr>
          <a:xfrm flipH="1">
            <a:off x="8822725" y="4707831"/>
            <a:ext cx="391296" cy="387174"/>
          </a:xfrm>
          <a:prstGeom prst="rect">
            <a:avLst/>
          </a:prstGeom>
          <a:solidFill>
            <a:schemeClr val="accent6"/>
          </a:solidFill>
          <a:ln w="254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矩形 32">
            <a:extLst>
              <a:ext uri="{FF2B5EF4-FFF2-40B4-BE49-F238E27FC236}">
                <a16:creationId xmlns:a16="http://schemas.microsoft.com/office/drawing/2014/main" id="{4CCBF331-1096-51F0-5D56-F9EBC970A8A7}"/>
              </a:ext>
            </a:extLst>
          </p:cNvPr>
          <p:cNvSpPr/>
          <p:nvPr/>
        </p:nvSpPr>
        <p:spPr>
          <a:xfrm flipH="1">
            <a:off x="2730843" y="4707831"/>
            <a:ext cx="391296" cy="387174"/>
          </a:xfrm>
          <a:prstGeom prst="rect">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a:extLst>
              <a:ext uri="{FF2B5EF4-FFF2-40B4-BE49-F238E27FC236}">
                <a16:creationId xmlns:a16="http://schemas.microsoft.com/office/drawing/2014/main" id="{670A8F08-A7DC-C21F-F03C-A99C6FC70B39}"/>
              </a:ext>
            </a:extLst>
          </p:cNvPr>
          <p:cNvSpPr txBox="1"/>
          <p:nvPr/>
        </p:nvSpPr>
        <p:spPr>
          <a:xfrm>
            <a:off x="3104944" y="4494817"/>
            <a:ext cx="944489" cy="276999"/>
          </a:xfrm>
          <a:prstGeom prst="rect">
            <a:avLst/>
          </a:prstGeom>
          <a:noFill/>
        </p:spPr>
        <p:txBody>
          <a:bodyPr wrap="none" rtlCol="0">
            <a:spAutoFit/>
          </a:bodyPr>
          <a:lstStyle/>
          <a:p>
            <a:r>
              <a:rPr kumimoji="1" lang="en-US" altLang="zh-CN" sz="1200"/>
              <a:t>(1920,1920)</a:t>
            </a:r>
            <a:endParaRPr kumimoji="1" lang="zh-CN" altLang="en-US" sz="1200"/>
          </a:p>
        </p:txBody>
      </p:sp>
      <p:sp>
        <p:nvSpPr>
          <p:cNvPr id="35" name="文本框 34">
            <a:extLst>
              <a:ext uri="{FF2B5EF4-FFF2-40B4-BE49-F238E27FC236}">
                <a16:creationId xmlns:a16="http://schemas.microsoft.com/office/drawing/2014/main" id="{ACCF6325-2F12-9194-CF5D-85C83504B0E0}"/>
              </a:ext>
            </a:extLst>
          </p:cNvPr>
          <p:cNvSpPr txBox="1"/>
          <p:nvPr/>
        </p:nvSpPr>
        <p:spPr>
          <a:xfrm>
            <a:off x="9214021" y="4483231"/>
            <a:ext cx="944489" cy="276999"/>
          </a:xfrm>
          <a:prstGeom prst="rect">
            <a:avLst/>
          </a:prstGeom>
          <a:noFill/>
        </p:spPr>
        <p:txBody>
          <a:bodyPr wrap="none" rtlCol="0">
            <a:spAutoFit/>
          </a:bodyPr>
          <a:lstStyle/>
          <a:p>
            <a:r>
              <a:rPr kumimoji="1" lang="en-US" altLang="zh-CN" sz="1200"/>
              <a:t>(1920,1920)</a:t>
            </a:r>
            <a:endParaRPr kumimoji="1" lang="zh-CN" altLang="en-US" sz="1200"/>
          </a:p>
        </p:txBody>
      </p:sp>
      <p:sp>
        <p:nvSpPr>
          <p:cNvPr id="38" name="文本框 37">
            <a:extLst>
              <a:ext uri="{FF2B5EF4-FFF2-40B4-BE49-F238E27FC236}">
                <a16:creationId xmlns:a16="http://schemas.microsoft.com/office/drawing/2014/main" id="{ED5E0D7F-1B1C-E2BB-E03B-7BF34EF8C945}"/>
              </a:ext>
            </a:extLst>
          </p:cNvPr>
          <p:cNvSpPr txBox="1"/>
          <p:nvPr/>
        </p:nvSpPr>
        <p:spPr>
          <a:xfrm>
            <a:off x="8269532" y="5161610"/>
            <a:ext cx="944489" cy="276999"/>
          </a:xfrm>
          <a:prstGeom prst="rect">
            <a:avLst/>
          </a:prstGeom>
          <a:noFill/>
        </p:spPr>
        <p:txBody>
          <a:bodyPr wrap="none" rtlCol="0">
            <a:spAutoFit/>
          </a:bodyPr>
          <a:lstStyle/>
          <a:p>
            <a:r>
              <a:rPr kumimoji="1" lang="en-US" altLang="zh-CN" sz="1200"/>
              <a:t>(1080,1080)</a:t>
            </a:r>
            <a:endParaRPr kumimoji="1" lang="zh-CN" altLang="en-US" sz="1200"/>
          </a:p>
        </p:txBody>
      </p:sp>
      <p:sp>
        <p:nvSpPr>
          <p:cNvPr id="39" name="文本框 38">
            <a:extLst>
              <a:ext uri="{FF2B5EF4-FFF2-40B4-BE49-F238E27FC236}">
                <a16:creationId xmlns:a16="http://schemas.microsoft.com/office/drawing/2014/main" id="{DD7CEBB8-D0D5-B025-D33D-84E5E0DFD154}"/>
              </a:ext>
            </a:extLst>
          </p:cNvPr>
          <p:cNvSpPr txBox="1"/>
          <p:nvPr/>
        </p:nvSpPr>
        <p:spPr>
          <a:xfrm>
            <a:off x="2160454" y="5103756"/>
            <a:ext cx="944489" cy="276999"/>
          </a:xfrm>
          <a:prstGeom prst="rect">
            <a:avLst/>
          </a:prstGeom>
          <a:noFill/>
        </p:spPr>
        <p:txBody>
          <a:bodyPr wrap="none" rtlCol="0">
            <a:spAutoFit/>
          </a:bodyPr>
          <a:lstStyle/>
          <a:p>
            <a:r>
              <a:rPr kumimoji="1" lang="en-US" altLang="zh-CN" sz="1200"/>
              <a:t>(1080,1080)</a:t>
            </a:r>
            <a:endParaRPr kumimoji="1" lang="zh-CN" altLang="en-US" sz="1200"/>
          </a:p>
        </p:txBody>
      </p:sp>
      <p:cxnSp>
        <p:nvCxnSpPr>
          <p:cNvPr id="41" name="直线箭头连接符 40">
            <a:extLst>
              <a:ext uri="{FF2B5EF4-FFF2-40B4-BE49-F238E27FC236}">
                <a16:creationId xmlns:a16="http://schemas.microsoft.com/office/drawing/2014/main" id="{8092A472-7763-7865-0B36-82D539A5FDC5}"/>
              </a:ext>
            </a:extLst>
          </p:cNvPr>
          <p:cNvCxnSpPr>
            <a:cxnSpLocks/>
          </p:cNvCxnSpPr>
          <p:nvPr/>
        </p:nvCxnSpPr>
        <p:spPr>
          <a:xfrm flipH="1">
            <a:off x="3104943" y="3425767"/>
            <a:ext cx="2801321" cy="1334463"/>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CD8DD169-7ECC-E73C-732C-66FC991F441E}"/>
              </a:ext>
            </a:extLst>
          </p:cNvPr>
          <p:cNvCxnSpPr>
            <a:cxnSpLocks/>
          </p:cNvCxnSpPr>
          <p:nvPr/>
        </p:nvCxnSpPr>
        <p:spPr>
          <a:xfrm>
            <a:off x="5906264" y="3425767"/>
            <a:ext cx="2912344" cy="1282064"/>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26DBF5C2-103D-A653-343B-3B01F97ADB58}"/>
              </a:ext>
            </a:extLst>
          </p:cNvPr>
          <p:cNvSpPr txBox="1"/>
          <p:nvPr/>
        </p:nvSpPr>
        <p:spPr>
          <a:xfrm>
            <a:off x="5352266" y="3030995"/>
            <a:ext cx="1107996" cy="369332"/>
          </a:xfrm>
          <a:prstGeom prst="rect">
            <a:avLst/>
          </a:prstGeom>
          <a:noFill/>
        </p:spPr>
        <p:txBody>
          <a:bodyPr wrap="none" rtlCol="0">
            <a:spAutoFit/>
          </a:bodyPr>
          <a:lstStyle/>
          <a:p>
            <a:r>
              <a:rPr kumimoji="1" lang="zh-CN" altLang="en-US"/>
              <a:t>差异面积</a:t>
            </a:r>
          </a:p>
        </p:txBody>
      </p:sp>
      <p:sp>
        <p:nvSpPr>
          <p:cNvPr id="50" name="文本框 49">
            <a:extLst>
              <a:ext uri="{FF2B5EF4-FFF2-40B4-BE49-F238E27FC236}">
                <a16:creationId xmlns:a16="http://schemas.microsoft.com/office/drawing/2014/main" id="{5AD36CE8-776C-6F20-69F6-710253E0B617}"/>
              </a:ext>
            </a:extLst>
          </p:cNvPr>
          <p:cNvSpPr txBox="1"/>
          <p:nvPr/>
        </p:nvSpPr>
        <p:spPr>
          <a:xfrm>
            <a:off x="2730843" y="860701"/>
            <a:ext cx="8802130" cy="1143070"/>
          </a:xfrm>
          <a:prstGeom prst="rect">
            <a:avLst/>
          </a:prstGeom>
          <a:noFill/>
        </p:spPr>
        <p:txBody>
          <a:bodyPr wrap="square">
            <a:spAutoFit/>
          </a:bodyPr>
          <a:lstStyle/>
          <a:p>
            <a:pPr>
              <a:lnSpc>
                <a:spcPct val="150000"/>
              </a:lnSpc>
            </a:pPr>
            <a:r>
              <a:rPr lang="zh-CN" altLang="en-US"/>
              <a:t>int </a:t>
            </a:r>
            <a:r>
              <a:rPr lang="zh-CN" altLang="en-US" sz="2400" b="1"/>
              <a:t>height</a:t>
            </a:r>
            <a:r>
              <a:rPr lang="zh-CN" altLang="en-US"/>
              <a:t> = videoCapabilities.getSupportedHeights().getUpper();                         </a:t>
            </a:r>
          </a:p>
          <a:p>
            <a:pPr>
              <a:lnSpc>
                <a:spcPct val="150000"/>
              </a:lnSpc>
            </a:pPr>
            <a:r>
              <a:rPr lang="zh-CN" altLang="en-US"/>
              <a:t>int supportWidth = videoCapabilities.getSupportedWidthsFor(</a:t>
            </a:r>
            <a:r>
              <a:rPr lang="zh-CN" altLang="en-US" sz="2400" b="1">
                <a:highlight>
                  <a:srgbClr val="FFFF00"/>
                </a:highlight>
              </a:rPr>
              <a:t>height</a:t>
            </a:r>
            <a:r>
              <a:rPr lang="zh-CN" altLang="en-US"/>
              <a:t>).getUpper(); </a:t>
            </a:r>
          </a:p>
        </p:txBody>
      </p:sp>
      <p:sp>
        <p:nvSpPr>
          <p:cNvPr id="52" name="手杖形箭头 51">
            <a:extLst>
              <a:ext uri="{FF2B5EF4-FFF2-40B4-BE49-F238E27FC236}">
                <a16:creationId xmlns:a16="http://schemas.microsoft.com/office/drawing/2014/main" id="{BB88B06C-FAEA-C8D7-EDBD-5305EA065847}"/>
              </a:ext>
            </a:extLst>
          </p:cNvPr>
          <p:cNvSpPr/>
          <p:nvPr/>
        </p:nvSpPr>
        <p:spPr>
          <a:xfrm rot="16200000">
            <a:off x="1762497" y="1080442"/>
            <a:ext cx="795916" cy="900931"/>
          </a:xfrm>
          <a:prstGeom prst="uturnArrow">
            <a:avLst/>
          </a:prstGeom>
          <a:solidFill>
            <a:schemeClr val="accent1">
              <a:lumMod val="75000"/>
            </a:schemeClr>
          </a:solidFill>
          <a:ln w="25400">
            <a:noFill/>
          </a:ln>
          <a:scene3d>
            <a:camera prst="orthographic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2471426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7443" y="486248"/>
            <a:ext cx="11342908" cy="790833"/>
          </a:xfrm>
          <a:prstGeom prst="rect">
            <a:avLst/>
          </a:prstGeom>
        </p:spPr>
        <p:txBody>
          <a:bodyPr wrap="none">
            <a:noAutofit/>
          </a:bodyPr>
          <a:lstStyle/>
          <a:p>
            <a:pPr>
              <a:lnSpc>
                <a:spcPct val="250000"/>
              </a:lnSpc>
            </a:pPr>
            <a:r>
              <a:rPr lang="zh-CN" altLang="en-US" sz="2200" b="1">
                <a:latin typeface="微软雅黑" panose="020B0503020204020204" pitchFamily="34" charset="-122"/>
                <a:ea typeface="微软雅黑" panose="020B0503020204020204" pitchFamily="34" charset="-122"/>
              </a:rPr>
              <a:t>方法论</a:t>
            </a:r>
            <a:r>
              <a:rPr lang="en-US" altLang="zh-CN" sz="2200" b="1">
                <a:latin typeface="微软雅黑" panose="020B0503020204020204" pitchFamily="34" charset="-122"/>
                <a:ea typeface="微软雅黑" panose="020B0503020204020204" pitchFamily="34" charset="-122"/>
              </a:rPr>
              <a:t>——</a:t>
            </a:r>
            <a:r>
              <a:rPr kumimoji="1" lang="zh-CN" altLang="en-US" sz="2200" b="1">
                <a:latin typeface="微软雅黑" panose="020B0503020204020204" pitchFamily="34" charset="-122"/>
                <a:ea typeface="微软雅黑" panose="020B0503020204020204" pitchFamily="34" charset="-122"/>
              </a:rPr>
              <a:t>视频播放失败或者花屏问题的一般分析流程</a:t>
            </a:r>
            <a:endParaRPr lang="en-US" altLang="zh-CN" sz="2200" b="1">
              <a:latin typeface="微软雅黑" panose="020B0503020204020204" pitchFamily="34" charset="-122"/>
              <a:ea typeface="微软雅黑" panose="020B0503020204020204" pitchFamily="34" charset="-122"/>
            </a:endParaRPr>
          </a:p>
        </p:txBody>
      </p:sp>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sp>
        <p:nvSpPr>
          <p:cNvPr id="3" name="文本框 2">
            <a:extLst>
              <a:ext uri="{FF2B5EF4-FFF2-40B4-BE49-F238E27FC236}">
                <a16:creationId xmlns:a16="http://schemas.microsoft.com/office/drawing/2014/main" id="{03E070B8-7569-16C1-7B50-C600D13B281F}"/>
              </a:ext>
            </a:extLst>
          </p:cNvPr>
          <p:cNvSpPr txBox="1"/>
          <p:nvPr/>
        </p:nvSpPr>
        <p:spPr>
          <a:xfrm>
            <a:off x="645239" y="1349332"/>
            <a:ext cx="11129318" cy="87908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1.</a:t>
            </a:r>
            <a:r>
              <a:rPr kumimoji="1" lang="zh-CN" altLang="en-US">
                <a:latin typeface="微软雅黑" panose="020B0503020204020204" pitchFamily="34" charset="-122"/>
                <a:ea typeface="微软雅黑" panose="020B0503020204020204" pitchFamily="34" charset="-122"/>
              </a:rPr>
              <a:t> 若是可以拿到视频源，通过</a:t>
            </a:r>
            <a:r>
              <a:rPr kumimoji="1" lang="en-US" altLang="zh-CN">
                <a:latin typeface="微软雅黑" panose="020B0503020204020204" pitchFamily="34" charset="-122"/>
                <a:ea typeface="微软雅黑" panose="020B0503020204020204" pitchFamily="34" charset="-122"/>
              </a:rPr>
              <a:t>MediaInfo</a:t>
            </a:r>
            <a:r>
              <a:rPr kumimoji="1" lang="zh-CN" altLang="en-US">
                <a:latin typeface="微软雅黑" panose="020B0503020204020204" pitchFamily="34" charset="-122"/>
                <a:ea typeface="微软雅黑" panose="020B0503020204020204" pitchFamily="34" charset="-122"/>
              </a:rPr>
              <a:t>或者其他相似功能软件来查询该视频源中的音视频流的基本格式以及使用</a:t>
            </a:r>
            <a:r>
              <a:rPr kumimoji="1" lang="en-US" altLang="zh-CN">
                <a:latin typeface="微软雅黑" panose="020B0503020204020204" pitchFamily="34" charset="-122"/>
                <a:ea typeface="微软雅黑" panose="020B0503020204020204" pitchFamily="34" charset="-122"/>
              </a:rPr>
              <a:t>adb</a:t>
            </a:r>
            <a:r>
              <a:rPr kumimoji="1" lang="zh-CN" altLang="en-US">
                <a:latin typeface="微软雅黑" panose="020B0503020204020204" pitchFamily="34" charset="-122"/>
                <a:ea typeface="微软雅黑" panose="020B0503020204020204" pitchFamily="34" charset="-122"/>
              </a:rPr>
              <a:t>命令查询设备的视频解码器的支持规格，对比后确认是否支持源视频基本的格式播放。</a:t>
            </a:r>
            <a:endParaRPr kumimoji="1" lang="zh-CN" altLang="en-US"/>
          </a:p>
        </p:txBody>
      </p:sp>
      <p:sp>
        <p:nvSpPr>
          <p:cNvPr id="7" name="文本框 6">
            <a:extLst>
              <a:ext uri="{FF2B5EF4-FFF2-40B4-BE49-F238E27FC236}">
                <a16:creationId xmlns:a16="http://schemas.microsoft.com/office/drawing/2014/main" id="{77447DDE-AEBE-94A2-5EB0-8DE4284B03A1}"/>
              </a:ext>
            </a:extLst>
          </p:cNvPr>
          <p:cNvSpPr txBox="1"/>
          <p:nvPr/>
        </p:nvSpPr>
        <p:spPr>
          <a:xfrm>
            <a:off x="664885" y="2372921"/>
            <a:ext cx="11109672" cy="87440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2.</a:t>
            </a:r>
            <a:r>
              <a:rPr kumimoji="1" lang="zh-CN" altLang="en-US">
                <a:latin typeface="微软雅黑" panose="020B0503020204020204" pitchFamily="34" charset="-122"/>
                <a:ea typeface="微软雅黑" panose="020B0503020204020204" pitchFamily="34" charset="-122"/>
              </a:rPr>
              <a:t> 若无视频源可以查询，可以通过查看或调试日志中</a:t>
            </a:r>
            <a:r>
              <a:rPr kumimoji="1" lang="en-US" altLang="zh-CN">
                <a:latin typeface="微软雅黑" panose="020B0503020204020204" pitchFamily="34" charset="-122"/>
                <a:ea typeface="微软雅黑" panose="020B0503020204020204" pitchFamily="34" charset="-122"/>
              </a:rPr>
              <a:t>Codec</a:t>
            </a:r>
            <a:r>
              <a:rPr kumimoji="1" lang="zh-CN" altLang="en-US">
                <a:latin typeface="微软雅黑" panose="020B0503020204020204" pitchFamily="34" charset="-122"/>
                <a:ea typeface="微软雅黑" panose="020B0503020204020204" pitchFamily="34" charset="-122"/>
              </a:rPr>
              <a:t>的相关日志打印来确定。若基本格式可以支持，则通过日志进一步跟踪</a:t>
            </a:r>
            <a:r>
              <a:rPr kumimoji="1" lang="en-US" altLang="zh-CN">
                <a:latin typeface="微软雅黑" panose="020B0503020204020204" pitchFamily="34" charset="-122"/>
                <a:ea typeface="微软雅黑" panose="020B0503020204020204" pitchFamily="34" charset="-122"/>
              </a:rPr>
              <a:t>Nuplayer/MediaCodec/Codec</a:t>
            </a:r>
            <a:r>
              <a:rPr kumimoji="1" lang="zh-CN" altLang="en-US">
                <a:latin typeface="微软雅黑" panose="020B0503020204020204" pitchFamily="34" charset="-122"/>
                <a:ea typeface="微软雅黑" panose="020B0503020204020204" pitchFamily="34" charset="-122"/>
              </a:rPr>
              <a:t>的生命周期来调试分析问题原因。</a:t>
            </a:r>
          </a:p>
        </p:txBody>
      </p:sp>
      <p:sp>
        <p:nvSpPr>
          <p:cNvPr id="8" name="文本框 7">
            <a:extLst>
              <a:ext uri="{FF2B5EF4-FFF2-40B4-BE49-F238E27FC236}">
                <a16:creationId xmlns:a16="http://schemas.microsoft.com/office/drawing/2014/main" id="{F29C98A3-4533-E4C3-CF05-DE7105049E1E}"/>
              </a:ext>
            </a:extLst>
          </p:cNvPr>
          <p:cNvSpPr txBox="1"/>
          <p:nvPr/>
        </p:nvSpPr>
        <p:spPr>
          <a:xfrm>
            <a:off x="664885" y="3391830"/>
            <a:ext cx="11000200" cy="87440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3.</a:t>
            </a:r>
            <a:r>
              <a:rPr kumimoji="1" lang="zh-CN" altLang="en-US">
                <a:latin typeface="微软雅黑" panose="020B0503020204020204" pitchFamily="34" charset="-122"/>
                <a:ea typeface="微软雅黑" panose="020B0503020204020204" pitchFamily="34" charset="-122"/>
              </a:rPr>
              <a:t> 在处理花屏问题时，若非软解播放，可以通过</a:t>
            </a:r>
            <a:r>
              <a:rPr kumimoji="1" lang="en-US" altLang="zh-CN">
                <a:latin typeface="微软雅黑" panose="020B0503020204020204" pitchFamily="34" charset="-122"/>
                <a:ea typeface="微软雅黑" panose="020B0503020204020204" pitchFamily="34" charset="-122"/>
              </a:rPr>
              <a:t>dump</a:t>
            </a:r>
            <a:r>
              <a:rPr kumimoji="1" lang="zh-CN" altLang="en-US">
                <a:latin typeface="微软雅黑" panose="020B0503020204020204" pitchFamily="34" charset="-122"/>
                <a:ea typeface="微软雅黑" panose="020B0503020204020204" pitchFamily="34" charset="-122"/>
              </a:rPr>
              <a:t>方法获取视频应用的送帧和解码后的</a:t>
            </a:r>
            <a:r>
              <a:rPr kumimoji="1" lang="en-US" altLang="zh-CN">
                <a:latin typeface="微软雅黑" panose="020B0503020204020204" pitchFamily="34" charset="-122"/>
                <a:ea typeface="微软雅黑" panose="020B0503020204020204" pitchFamily="34" charset="-122"/>
              </a:rPr>
              <a:t>YUV</a:t>
            </a:r>
            <a:r>
              <a:rPr kumimoji="1" lang="zh-CN" altLang="en-US">
                <a:latin typeface="微软雅黑" panose="020B0503020204020204" pitchFamily="34" charset="-122"/>
                <a:ea typeface="微软雅黑" panose="020B0503020204020204" pitchFamily="34" charset="-122"/>
              </a:rPr>
              <a:t>数据来快速界定是否为视频的硬解码问题。</a:t>
            </a:r>
          </a:p>
        </p:txBody>
      </p:sp>
      <p:sp>
        <p:nvSpPr>
          <p:cNvPr id="9" name="文本框 8">
            <a:extLst>
              <a:ext uri="{FF2B5EF4-FFF2-40B4-BE49-F238E27FC236}">
                <a16:creationId xmlns:a16="http://schemas.microsoft.com/office/drawing/2014/main" id="{275C8F04-D2B4-F323-C1B5-AE963B68AC2C}"/>
              </a:ext>
            </a:extLst>
          </p:cNvPr>
          <p:cNvSpPr txBox="1"/>
          <p:nvPr/>
        </p:nvSpPr>
        <p:spPr>
          <a:xfrm>
            <a:off x="417443" y="4731641"/>
            <a:ext cx="11129318" cy="874407"/>
          </a:xfrm>
          <a:prstGeom prst="rect">
            <a:avLst/>
          </a:prstGeom>
          <a:noFill/>
        </p:spPr>
        <p:txBody>
          <a:bodyPr wrap="square" rtlCol="0">
            <a:spAutoFit/>
          </a:bodyPr>
          <a:lstStyle/>
          <a:p>
            <a:pPr>
              <a:lnSpc>
                <a:spcPct val="150000"/>
              </a:lnSpc>
            </a:pPr>
            <a:r>
              <a:rPr kumimoji="1" lang="zh-CN" altLang="en-US" b="1">
                <a:latin typeface="微软雅黑" panose="020B0503020204020204" pitchFamily="34" charset="-122"/>
                <a:ea typeface="微软雅黑" panose="020B0503020204020204" pitchFamily="34" charset="-122"/>
              </a:rPr>
              <a:t>应用软件在下发视频解码业务前，应提前查询设备对视频解码的支持规格来做好不同的播放策略或者逻辑实现，增强应用在不同设备上的兼容性，提高用户的使用体验。</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2320</Words>
  <Application>Microsoft Macintosh PowerPoint</Application>
  <PresentationFormat>宽屏</PresentationFormat>
  <Paragraphs>166</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24</vt:i4>
      </vt:variant>
    </vt:vector>
  </HeadingPairs>
  <TitlesOfParts>
    <vt:vector size="36" baseType="lpstr">
      <vt:lpstr>等线</vt:lpstr>
      <vt:lpstr>等线 Light</vt:lpstr>
      <vt:lpstr>楷体</vt:lpstr>
      <vt:lpstr>微软雅黑</vt:lpstr>
      <vt:lpstr>DeepSeek-CJK-patch</vt:lpstr>
      <vt:lpstr>Arial</vt:lpstr>
      <vt:lpstr>Arial Black</vt:lpstr>
      <vt:lpstr>Calibri</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2025-09-07T14:15:03Z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