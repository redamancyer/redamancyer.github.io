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7" r:id="rId2"/>
    <p:sldMasterId id="2147483669" r:id="rId3"/>
    <p:sldMasterId id="2147483680" r:id="rId4"/>
  </p:sldMasterIdLst>
  <p:notesMasterIdLst>
    <p:notesMasterId r:id="rId31"/>
  </p:notesMasterIdLst>
  <p:sldIdLst>
    <p:sldId id="6170" r:id="rId5"/>
    <p:sldId id="1394" r:id="rId6"/>
    <p:sldId id="6162" r:id="rId7"/>
    <p:sldId id="1401" r:id="rId8"/>
    <p:sldId id="6171" r:id="rId9"/>
    <p:sldId id="1379" r:id="rId10"/>
    <p:sldId id="6172" r:id="rId11"/>
    <p:sldId id="1389" r:id="rId12"/>
    <p:sldId id="6173" r:id="rId13"/>
    <p:sldId id="1385" r:id="rId14"/>
    <p:sldId id="6190" r:id="rId15"/>
    <p:sldId id="6191" r:id="rId16"/>
    <p:sldId id="6192" r:id="rId17"/>
    <p:sldId id="6193" r:id="rId18"/>
    <p:sldId id="6194" r:id="rId19"/>
    <p:sldId id="6179" r:id="rId20"/>
    <p:sldId id="6195" r:id="rId21"/>
    <p:sldId id="6184" r:id="rId22"/>
    <p:sldId id="6174" r:id="rId23"/>
    <p:sldId id="6196" r:id="rId24"/>
    <p:sldId id="6197" r:id="rId25"/>
    <p:sldId id="6198" r:id="rId26"/>
    <p:sldId id="6186" r:id="rId27"/>
    <p:sldId id="6175" r:id="rId28"/>
    <p:sldId id="6199" r:id="rId29"/>
    <p:sldId id="6176"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494F"/>
    <a:srgbClr val="3333FF"/>
    <a:srgbClr val="CF3138"/>
    <a:srgbClr val="FFFFFF"/>
    <a:srgbClr val="C44F3C"/>
    <a:srgbClr val="7CA193"/>
    <a:srgbClr val="1010F0"/>
    <a:srgbClr val="A5B07B"/>
    <a:srgbClr val="F1F1F1"/>
    <a:srgbClr val="C77D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52" autoAdjust="0"/>
    <p:restoredTop sz="93963" autoAdjust="0"/>
  </p:normalViewPr>
  <p:slideViewPr>
    <p:cSldViewPr snapToGrid="0" showGuides="1">
      <p:cViewPr varScale="1">
        <p:scale>
          <a:sx n="159" d="100"/>
          <a:sy n="159" d="100"/>
        </p:scale>
        <p:origin x="272" y="19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oleObject" Target="file:////Users/running/Desktop/&#24037;&#20316;&#31807;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a:t>常驻内存测试进程内存一览</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3.6845855533028431E-2"/>
          <c:y val="7.9329732543762604E-2"/>
          <c:w val="0.96017280399830263"/>
          <c:h val="0.8822988655343702"/>
        </c:manualLayout>
      </c:layout>
      <c:lineChart>
        <c:grouping val="standard"/>
        <c:varyColors val="0"/>
        <c:ser>
          <c:idx val="0"/>
          <c:order val="0"/>
          <c:spPr>
            <a:ln w="28575" cap="rnd">
              <a:solidFill>
                <a:schemeClr val="accent1"/>
              </a:solidFill>
              <a:round/>
            </a:ln>
            <a:effectLst/>
          </c:spPr>
          <c:marker>
            <c:symbol val="none"/>
          </c:marker>
          <c:val>
            <c:numRef>
              <c:f>Sheet1!$A$1:$LF$1</c:f>
              <c:numCache>
                <c:formatCode>General</c:formatCode>
                <c:ptCount val="318"/>
                <c:pt idx="0">
                  <c:v>61057</c:v>
                </c:pt>
                <c:pt idx="1">
                  <c:v>113571</c:v>
                </c:pt>
                <c:pt idx="2">
                  <c:v>116304</c:v>
                </c:pt>
                <c:pt idx="3">
                  <c:v>116760</c:v>
                </c:pt>
                <c:pt idx="4">
                  <c:v>116847</c:v>
                </c:pt>
                <c:pt idx="5">
                  <c:v>116914</c:v>
                </c:pt>
                <c:pt idx="6">
                  <c:v>81356</c:v>
                </c:pt>
                <c:pt idx="7">
                  <c:v>79904</c:v>
                </c:pt>
                <c:pt idx="8">
                  <c:v>79427</c:v>
                </c:pt>
                <c:pt idx="9">
                  <c:v>79296</c:v>
                </c:pt>
                <c:pt idx="10">
                  <c:v>79216</c:v>
                </c:pt>
                <c:pt idx="11">
                  <c:v>79215</c:v>
                </c:pt>
                <c:pt idx="12">
                  <c:v>79938</c:v>
                </c:pt>
                <c:pt idx="13">
                  <c:v>79938</c:v>
                </c:pt>
                <c:pt idx="14">
                  <c:v>79938</c:v>
                </c:pt>
                <c:pt idx="15">
                  <c:v>79938</c:v>
                </c:pt>
                <c:pt idx="16">
                  <c:v>79846</c:v>
                </c:pt>
                <c:pt idx="17">
                  <c:v>79848</c:v>
                </c:pt>
                <c:pt idx="18">
                  <c:v>79847</c:v>
                </c:pt>
                <c:pt idx="19">
                  <c:v>79847</c:v>
                </c:pt>
                <c:pt idx="20">
                  <c:v>79847</c:v>
                </c:pt>
                <c:pt idx="21">
                  <c:v>79847</c:v>
                </c:pt>
                <c:pt idx="22">
                  <c:v>79599</c:v>
                </c:pt>
                <c:pt idx="23">
                  <c:v>79339</c:v>
                </c:pt>
                <c:pt idx="24">
                  <c:v>79127</c:v>
                </c:pt>
                <c:pt idx="25">
                  <c:v>79123</c:v>
                </c:pt>
                <c:pt idx="26">
                  <c:v>79123</c:v>
                </c:pt>
                <c:pt idx="27">
                  <c:v>79123</c:v>
                </c:pt>
                <c:pt idx="28">
                  <c:v>79125</c:v>
                </c:pt>
                <c:pt idx="29">
                  <c:v>79125</c:v>
                </c:pt>
                <c:pt idx="30">
                  <c:v>79125</c:v>
                </c:pt>
                <c:pt idx="31">
                  <c:v>79125</c:v>
                </c:pt>
                <c:pt idx="32">
                  <c:v>79119</c:v>
                </c:pt>
                <c:pt idx="33">
                  <c:v>79121</c:v>
                </c:pt>
                <c:pt idx="34">
                  <c:v>100690</c:v>
                </c:pt>
                <c:pt idx="35">
                  <c:v>116724</c:v>
                </c:pt>
                <c:pt idx="36">
                  <c:v>124640</c:v>
                </c:pt>
                <c:pt idx="37">
                  <c:v>131902</c:v>
                </c:pt>
                <c:pt idx="38">
                  <c:v>103585</c:v>
                </c:pt>
                <c:pt idx="39">
                  <c:v>103630</c:v>
                </c:pt>
                <c:pt idx="40">
                  <c:v>102078</c:v>
                </c:pt>
                <c:pt idx="41">
                  <c:v>82472</c:v>
                </c:pt>
                <c:pt idx="42">
                  <c:v>82056</c:v>
                </c:pt>
                <c:pt idx="43">
                  <c:v>80892</c:v>
                </c:pt>
                <c:pt idx="44">
                  <c:v>80674</c:v>
                </c:pt>
                <c:pt idx="45">
                  <c:v>80637</c:v>
                </c:pt>
                <c:pt idx="46">
                  <c:v>80637</c:v>
                </c:pt>
                <c:pt idx="47">
                  <c:v>108213</c:v>
                </c:pt>
                <c:pt idx="48">
                  <c:v>83263</c:v>
                </c:pt>
                <c:pt idx="49">
                  <c:v>83238</c:v>
                </c:pt>
                <c:pt idx="50">
                  <c:v>80757</c:v>
                </c:pt>
                <c:pt idx="51">
                  <c:v>79348</c:v>
                </c:pt>
                <c:pt idx="52">
                  <c:v>79348</c:v>
                </c:pt>
                <c:pt idx="53">
                  <c:v>79332</c:v>
                </c:pt>
                <c:pt idx="54">
                  <c:v>79974</c:v>
                </c:pt>
                <c:pt idx="55">
                  <c:v>80005</c:v>
                </c:pt>
                <c:pt idx="56">
                  <c:v>79751</c:v>
                </c:pt>
                <c:pt idx="57">
                  <c:v>79745</c:v>
                </c:pt>
                <c:pt idx="58">
                  <c:v>79745</c:v>
                </c:pt>
                <c:pt idx="59">
                  <c:v>79747</c:v>
                </c:pt>
                <c:pt idx="60">
                  <c:v>79747</c:v>
                </c:pt>
                <c:pt idx="61">
                  <c:v>107433</c:v>
                </c:pt>
                <c:pt idx="62">
                  <c:v>83786</c:v>
                </c:pt>
                <c:pt idx="63">
                  <c:v>83786</c:v>
                </c:pt>
                <c:pt idx="64">
                  <c:v>83786</c:v>
                </c:pt>
                <c:pt idx="65">
                  <c:v>107235</c:v>
                </c:pt>
                <c:pt idx="66">
                  <c:v>107269</c:v>
                </c:pt>
                <c:pt idx="67">
                  <c:v>81955</c:v>
                </c:pt>
                <c:pt idx="68">
                  <c:v>80403</c:v>
                </c:pt>
                <c:pt idx="69">
                  <c:v>79949</c:v>
                </c:pt>
                <c:pt idx="70">
                  <c:v>79787</c:v>
                </c:pt>
                <c:pt idx="71">
                  <c:v>80098</c:v>
                </c:pt>
                <c:pt idx="72">
                  <c:v>79667</c:v>
                </c:pt>
                <c:pt idx="73">
                  <c:v>79635</c:v>
                </c:pt>
                <c:pt idx="74">
                  <c:v>79546</c:v>
                </c:pt>
                <c:pt idx="75">
                  <c:v>79545</c:v>
                </c:pt>
                <c:pt idx="76">
                  <c:v>79537</c:v>
                </c:pt>
                <c:pt idx="77">
                  <c:v>79536</c:v>
                </c:pt>
                <c:pt idx="78">
                  <c:v>79536</c:v>
                </c:pt>
                <c:pt idx="79">
                  <c:v>79535</c:v>
                </c:pt>
                <c:pt idx="80">
                  <c:v>79534</c:v>
                </c:pt>
                <c:pt idx="81">
                  <c:v>79533</c:v>
                </c:pt>
                <c:pt idx="82">
                  <c:v>79533</c:v>
                </c:pt>
                <c:pt idx="83">
                  <c:v>79533</c:v>
                </c:pt>
                <c:pt idx="84">
                  <c:v>79532</c:v>
                </c:pt>
                <c:pt idx="85">
                  <c:v>79532</c:v>
                </c:pt>
                <c:pt idx="86">
                  <c:v>79532</c:v>
                </c:pt>
                <c:pt idx="87">
                  <c:v>79532</c:v>
                </c:pt>
                <c:pt idx="88">
                  <c:v>79532</c:v>
                </c:pt>
                <c:pt idx="89">
                  <c:v>79532</c:v>
                </c:pt>
                <c:pt idx="90">
                  <c:v>79935</c:v>
                </c:pt>
                <c:pt idx="91">
                  <c:v>79895</c:v>
                </c:pt>
                <c:pt idx="92">
                  <c:v>80119</c:v>
                </c:pt>
                <c:pt idx="93">
                  <c:v>80111</c:v>
                </c:pt>
                <c:pt idx="94">
                  <c:v>80075</c:v>
                </c:pt>
                <c:pt idx="95">
                  <c:v>80167</c:v>
                </c:pt>
                <c:pt idx="96">
                  <c:v>79531</c:v>
                </c:pt>
                <c:pt idx="97">
                  <c:v>80315</c:v>
                </c:pt>
                <c:pt idx="98">
                  <c:v>80311</c:v>
                </c:pt>
                <c:pt idx="99">
                  <c:v>80311</c:v>
                </c:pt>
                <c:pt idx="100">
                  <c:v>80311</c:v>
                </c:pt>
                <c:pt idx="101">
                  <c:v>79831</c:v>
                </c:pt>
                <c:pt idx="102">
                  <c:v>79531</c:v>
                </c:pt>
                <c:pt idx="103">
                  <c:v>79531</c:v>
                </c:pt>
                <c:pt idx="104">
                  <c:v>79531</c:v>
                </c:pt>
                <c:pt idx="105">
                  <c:v>79531</c:v>
                </c:pt>
                <c:pt idx="106">
                  <c:v>79531</c:v>
                </c:pt>
                <c:pt idx="107">
                  <c:v>79531</c:v>
                </c:pt>
                <c:pt idx="108">
                  <c:v>79530</c:v>
                </c:pt>
                <c:pt idx="109">
                  <c:v>79531</c:v>
                </c:pt>
                <c:pt idx="110">
                  <c:v>79531</c:v>
                </c:pt>
                <c:pt idx="111">
                  <c:v>80287</c:v>
                </c:pt>
                <c:pt idx="112">
                  <c:v>80287</c:v>
                </c:pt>
                <c:pt idx="113">
                  <c:v>79919</c:v>
                </c:pt>
                <c:pt idx="114">
                  <c:v>79531</c:v>
                </c:pt>
                <c:pt idx="115">
                  <c:v>79531</c:v>
                </c:pt>
                <c:pt idx="116">
                  <c:v>79531</c:v>
                </c:pt>
                <c:pt idx="117">
                  <c:v>79531</c:v>
                </c:pt>
                <c:pt idx="118">
                  <c:v>79531</c:v>
                </c:pt>
                <c:pt idx="119">
                  <c:v>79531</c:v>
                </c:pt>
                <c:pt idx="120">
                  <c:v>79531</c:v>
                </c:pt>
                <c:pt idx="121">
                  <c:v>79531</c:v>
                </c:pt>
                <c:pt idx="122">
                  <c:v>79531</c:v>
                </c:pt>
                <c:pt idx="123">
                  <c:v>79531</c:v>
                </c:pt>
                <c:pt idx="124">
                  <c:v>79530</c:v>
                </c:pt>
                <c:pt idx="125">
                  <c:v>79530</c:v>
                </c:pt>
                <c:pt idx="126">
                  <c:v>79530</c:v>
                </c:pt>
                <c:pt idx="127">
                  <c:v>79530</c:v>
                </c:pt>
                <c:pt idx="128">
                  <c:v>79530</c:v>
                </c:pt>
                <c:pt idx="129">
                  <c:v>79530</c:v>
                </c:pt>
                <c:pt idx="130">
                  <c:v>79530</c:v>
                </c:pt>
                <c:pt idx="131">
                  <c:v>79530</c:v>
                </c:pt>
                <c:pt idx="132">
                  <c:v>79530</c:v>
                </c:pt>
                <c:pt idx="133">
                  <c:v>79530</c:v>
                </c:pt>
                <c:pt idx="134">
                  <c:v>79530</c:v>
                </c:pt>
                <c:pt idx="135">
                  <c:v>129002</c:v>
                </c:pt>
                <c:pt idx="136">
                  <c:v>175555</c:v>
                </c:pt>
                <c:pt idx="137">
                  <c:v>175484</c:v>
                </c:pt>
                <c:pt idx="138">
                  <c:v>173237</c:v>
                </c:pt>
                <c:pt idx="139">
                  <c:v>182935</c:v>
                </c:pt>
                <c:pt idx="140">
                  <c:v>182093</c:v>
                </c:pt>
                <c:pt idx="141">
                  <c:v>181925</c:v>
                </c:pt>
                <c:pt idx="142">
                  <c:v>127584</c:v>
                </c:pt>
                <c:pt idx="143">
                  <c:v>82605</c:v>
                </c:pt>
                <c:pt idx="144">
                  <c:v>82585</c:v>
                </c:pt>
                <c:pt idx="145">
                  <c:v>81601</c:v>
                </c:pt>
                <c:pt idx="146">
                  <c:v>80421</c:v>
                </c:pt>
                <c:pt idx="147">
                  <c:v>79781</c:v>
                </c:pt>
                <c:pt idx="148">
                  <c:v>79613</c:v>
                </c:pt>
                <c:pt idx="149">
                  <c:v>79613</c:v>
                </c:pt>
                <c:pt idx="150">
                  <c:v>107137</c:v>
                </c:pt>
                <c:pt idx="151">
                  <c:v>83669</c:v>
                </c:pt>
                <c:pt idx="152">
                  <c:v>82697</c:v>
                </c:pt>
                <c:pt idx="153">
                  <c:v>82025</c:v>
                </c:pt>
                <c:pt idx="154">
                  <c:v>82024</c:v>
                </c:pt>
                <c:pt idx="155">
                  <c:v>64748</c:v>
                </c:pt>
                <c:pt idx="156">
                  <c:v>64742</c:v>
                </c:pt>
                <c:pt idx="157">
                  <c:v>64698</c:v>
                </c:pt>
                <c:pt idx="158">
                  <c:v>64369</c:v>
                </c:pt>
                <c:pt idx="159">
                  <c:v>120785</c:v>
                </c:pt>
                <c:pt idx="160">
                  <c:v>159479</c:v>
                </c:pt>
                <c:pt idx="161">
                  <c:v>176660</c:v>
                </c:pt>
                <c:pt idx="162">
                  <c:v>175541</c:v>
                </c:pt>
                <c:pt idx="163">
                  <c:v>175081</c:v>
                </c:pt>
                <c:pt idx="164">
                  <c:v>175050</c:v>
                </c:pt>
                <c:pt idx="165">
                  <c:v>153614</c:v>
                </c:pt>
                <c:pt idx="166">
                  <c:v>152237</c:v>
                </c:pt>
                <c:pt idx="167">
                  <c:v>152237</c:v>
                </c:pt>
                <c:pt idx="168">
                  <c:v>152237</c:v>
                </c:pt>
                <c:pt idx="169">
                  <c:v>152237</c:v>
                </c:pt>
                <c:pt idx="170">
                  <c:v>152237</c:v>
                </c:pt>
                <c:pt idx="171">
                  <c:v>152995</c:v>
                </c:pt>
                <c:pt idx="172">
                  <c:v>152218</c:v>
                </c:pt>
                <c:pt idx="173">
                  <c:v>152223</c:v>
                </c:pt>
                <c:pt idx="174">
                  <c:v>152218</c:v>
                </c:pt>
                <c:pt idx="175">
                  <c:v>152218</c:v>
                </c:pt>
                <c:pt idx="176">
                  <c:v>152218</c:v>
                </c:pt>
                <c:pt idx="177">
                  <c:v>152218</c:v>
                </c:pt>
                <c:pt idx="178">
                  <c:v>152218</c:v>
                </c:pt>
                <c:pt idx="179">
                  <c:v>152213</c:v>
                </c:pt>
                <c:pt idx="180">
                  <c:v>152214</c:v>
                </c:pt>
                <c:pt idx="181">
                  <c:v>152213</c:v>
                </c:pt>
                <c:pt idx="182">
                  <c:v>152214</c:v>
                </c:pt>
                <c:pt idx="183">
                  <c:v>152214</c:v>
                </c:pt>
                <c:pt idx="184">
                  <c:v>152214</c:v>
                </c:pt>
                <c:pt idx="185">
                  <c:v>152211</c:v>
                </c:pt>
                <c:pt idx="186">
                  <c:v>152214</c:v>
                </c:pt>
                <c:pt idx="187">
                  <c:v>152207</c:v>
                </c:pt>
                <c:pt idx="188">
                  <c:v>152205</c:v>
                </c:pt>
                <c:pt idx="189">
                  <c:v>152207</c:v>
                </c:pt>
                <c:pt idx="190">
                  <c:v>152205</c:v>
                </c:pt>
                <c:pt idx="191">
                  <c:v>152207</c:v>
                </c:pt>
                <c:pt idx="192">
                  <c:v>152205</c:v>
                </c:pt>
                <c:pt idx="193">
                  <c:v>175726</c:v>
                </c:pt>
                <c:pt idx="194">
                  <c:v>170664</c:v>
                </c:pt>
                <c:pt idx="195">
                  <c:v>170797</c:v>
                </c:pt>
                <c:pt idx="196">
                  <c:v>190635</c:v>
                </c:pt>
                <c:pt idx="197">
                  <c:v>188348</c:v>
                </c:pt>
                <c:pt idx="198">
                  <c:v>169214</c:v>
                </c:pt>
                <c:pt idx="199">
                  <c:v>174838</c:v>
                </c:pt>
                <c:pt idx="200">
                  <c:v>152949</c:v>
                </c:pt>
                <c:pt idx="201">
                  <c:v>152932</c:v>
                </c:pt>
                <c:pt idx="202">
                  <c:v>152930</c:v>
                </c:pt>
                <c:pt idx="203">
                  <c:v>152930</c:v>
                </c:pt>
                <c:pt idx="204">
                  <c:v>152930</c:v>
                </c:pt>
                <c:pt idx="205">
                  <c:v>152930</c:v>
                </c:pt>
                <c:pt idx="206">
                  <c:v>152927</c:v>
                </c:pt>
                <c:pt idx="207">
                  <c:v>152929</c:v>
                </c:pt>
                <c:pt idx="208">
                  <c:v>152929</c:v>
                </c:pt>
                <c:pt idx="209">
                  <c:v>152928</c:v>
                </c:pt>
                <c:pt idx="210">
                  <c:v>152928</c:v>
                </c:pt>
                <c:pt idx="211">
                  <c:v>152928</c:v>
                </c:pt>
                <c:pt idx="212">
                  <c:v>152928</c:v>
                </c:pt>
                <c:pt idx="213">
                  <c:v>152926</c:v>
                </c:pt>
                <c:pt idx="214">
                  <c:v>152928</c:v>
                </c:pt>
                <c:pt idx="215">
                  <c:v>152927</c:v>
                </c:pt>
                <c:pt idx="216">
                  <c:v>152928</c:v>
                </c:pt>
                <c:pt idx="217">
                  <c:v>152928</c:v>
                </c:pt>
                <c:pt idx="218">
                  <c:v>152928</c:v>
                </c:pt>
                <c:pt idx="219">
                  <c:v>152927</c:v>
                </c:pt>
                <c:pt idx="220">
                  <c:v>158316</c:v>
                </c:pt>
                <c:pt idx="221">
                  <c:v>154305</c:v>
                </c:pt>
                <c:pt idx="222">
                  <c:v>153657</c:v>
                </c:pt>
                <c:pt idx="223">
                  <c:v>153644</c:v>
                </c:pt>
                <c:pt idx="224">
                  <c:v>153564</c:v>
                </c:pt>
                <c:pt idx="225">
                  <c:v>153563</c:v>
                </c:pt>
                <c:pt idx="226">
                  <c:v>153535</c:v>
                </c:pt>
                <c:pt idx="227">
                  <c:v>153535</c:v>
                </c:pt>
                <c:pt idx="228">
                  <c:v>153535</c:v>
                </c:pt>
                <c:pt idx="229">
                  <c:v>153534</c:v>
                </c:pt>
                <c:pt idx="230">
                  <c:v>153530</c:v>
                </c:pt>
                <c:pt idx="231">
                  <c:v>153530</c:v>
                </c:pt>
                <c:pt idx="232">
                  <c:v>153530</c:v>
                </c:pt>
                <c:pt idx="233">
                  <c:v>153530</c:v>
                </c:pt>
                <c:pt idx="234">
                  <c:v>153530</c:v>
                </c:pt>
                <c:pt idx="235">
                  <c:v>153530</c:v>
                </c:pt>
                <c:pt idx="236">
                  <c:v>153529</c:v>
                </c:pt>
                <c:pt idx="237">
                  <c:v>153529</c:v>
                </c:pt>
                <c:pt idx="238">
                  <c:v>153529</c:v>
                </c:pt>
                <c:pt idx="239">
                  <c:v>153529</c:v>
                </c:pt>
                <c:pt idx="240">
                  <c:v>153529</c:v>
                </c:pt>
                <c:pt idx="241">
                  <c:v>153529</c:v>
                </c:pt>
                <c:pt idx="242">
                  <c:v>153528</c:v>
                </c:pt>
                <c:pt idx="243">
                  <c:v>153527</c:v>
                </c:pt>
                <c:pt idx="244">
                  <c:v>153527</c:v>
                </c:pt>
                <c:pt idx="245">
                  <c:v>153527</c:v>
                </c:pt>
                <c:pt idx="246">
                  <c:v>153527</c:v>
                </c:pt>
                <c:pt idx="247">
                  <c:v>153527</c:v>
                </c:pt>
                <c:pt idx="248">
                  <c:v>153527</c:v>
                </c:pt>
                <c:pt idx="249">
                  <c:v>153935</c:v>
                </c:pt>
                <c:pt idx="250">
                  <c:v>153527</c:v>
                </c:pt>
                <c:pt idx="251">
                  <c:v>153527</c:v>
                </c:pt>
                <c:pt idx="252">
                  <c:v>153527</c:v>
                </c:pt>
                <c:pt idx="253">
                  <c:v>153527</c:v>
                </c:pt>
                <c:pt idx="254">
                  <c:v>153527</c:v>
                </c:pt>
                <c:pt idx="255">
                  <c:v>153527</c:v>
                </c:pt>
                <c:pt idx="256">
                  <c:v>153527</c:v>
                </c:pt>
                <c:pt idx="257">
                  <c:v>153527</c:v>
                </c:pt>
                <c:pt idx="258">
                  <c:v>153527</c:v>
                </c:pt>
                <c:pt idx="259">
                  <c:v>153527</c:v>
                </c:pt>
                <c:pt idx="260">
                  <c:v>153527</c:v>
                </c:pt>
                <c:pt idx="261">
                  <c:v>153527</c:v>
                </c:pt>
                <c:pt idx="262">
                  <c:v>153527</c:v>
                </c:pt>
                <c:pt idx="263">
                  <c:v>153527</c:v>
                </c:pt>
                <c:pt idx="264">
                  <c:v>153527</c:v>
                </c:pt>
                <c:pt idx="265">
                  <c:v>153527</c:v>
                </c:pt>
                <c:pt idx="266">
                  <c:v>153527</c:v>
                </c:pt>
                <c:pt idx="267">
                  <c:v>153527</c:v>
                </c:pt>
                <c:pt idx="268">
                  <c:v>123292</c:v>
                </c:pt>
                <c:pt idx="269">
                  <c:v>123267</c:v>
                </c:pt>
                <c:pt idx="270">
                  <c:v>123263</c:v>
                </c:pt>
                <c:pt idx="271">
                  <c:v>123187</c:v>
                </c:pt>
                <c:pt idx="272">
                  <c:v>123253</c:v>
                </c:pt>
                <c:pt idx="273">
                  <c:v>119941</c:v>
                </c:pt>
                <c:pt idx="274">
                  <c:v>119962</c:v>
                </c:pt>
                <c:pt idx="275">
                  <c:v>119962</c:v>
                </c:pt>
                <c:pt idx="276">
                  <c:v>119957</c:v>
                </c:pt>
                <c:pt idx="277">
                  <c:v>119855</c:v>
                </c:pt>
                <c:pt idx="278">
                  <c:v>119865</c:v>
                </c:pt>
                <c:pt idx="279">
                  <c:v>120643</c:v>
                </c:pt>
                <c:pt idx="280">
                  <c:v>120642</c:v>
                </c:pt>
                <c:pt idx="281">
                  <c:v>120641</c:v>
                </c:pt>
                <c:pt idx="282">
                  <c:v>120641</c:v>
                </c:pt>
                <c:pt idx="283">
                  <c:v>119832</c:v>
                </c:pt>
                <c:pt idx="284">
                  <c:v>120600</c:v>
                </c:pt>
                <c:pt idx="285">
                  <c:v>120601</c:v>
                </c:pt>
                <c:pt idx="286">
                  <c:v>120607</c:v>
                </c:pt>
                <c:pt idx="287">
                  <c:v>120199</c:v>
                </c:pt>
                <c:pt idx="288">
                  <c:v>119822</c:v>
                </c:pt>
                <c:pt idx="289">
                  <c:v>119819</c:v>
                </c:pt>
                <c:pt idx="290">
                  <c:v>119819</c:v>
                </c:pt>
                <c:pt idx="291">
                  <c:v>119824</c:v>
                </c:pt>
                <c:pt idx="292">
                  <c:v>119824</c:v>
                </c:pt>
                <c:pt idx="293">
                  <c:v>119824</c:v>
                </c:pt>
                <c:pt idx="294">
                  <c:v>104690</c:v>
                </c:pt>
                <c:pt idx="295">
                  <c:v>149758</c:v>
                </c:pt>
                <c:pt idx="296">
                  <c:v>146609</c:v>
                </c:pt>
                <c:pt idx="297">
                  <c:v>146112</c:v>
                </c:pt>
                <c:pt idx="298">
                  <c:v>158704</c:v>
                </c:pt>
                <c:pt idx="299">
                  <c:v>160871</c:v>
                </c:pt>
                <c:pt idx="300">
                  <c:v>159510</c:v>
                </c:pt>
                <c:pt idx="301">
                  <c:v>101901</c:v>
                </c:pt>
                <c:pt idx="302">
                  <c:v>71876</c:v>
                </c:pt>
                <c:pt idx="303">
                  <c:v>71742</c:v>
                </c:pt>
                <c:pt idx="304">
                  <c:v>69730</c:v>
                </c:pt>
                <c:pt idx="305">
                  <c:v>69484</c:v>
                </c:pt>
                <c:pt idx="306">
                  <c:v>69407</c:v>
                </c:pt>
                <c:pt idx="307">
                  <c:v>68770</c:v>
                </c:pt>
                <c:pt idx="308">
                  <c:v>68823</c:v>
                </c:pt>
                <c:pt idx="309">
                  <c:v>68822</c:v>
                </c:pt>
                <c:pt idx="310">
                  <c:v>68822</c:v>
                </c:pt>
                <c:pt idx="311">
                  <c:v>68796</c:v>
                </c:pt>
                <c:pt idx="312">
                  <c:v>68822</c:v>
                </c:pt>
                <c:pt idx="313">
                  <c:v>68822</c:v>
                </c:pt>
                <c:pt idx="314">
                  <c:v>66623</c:v>
                </c:pt>
                <c:pt idx="315">
                  <c:v>66623</c:v>
                </c:pt>
                <c:pt idx="316">
                  <c:v>66541</c:v>
                </c:pt>
                <c:pt idx="317">
                  <c:v>63301</c:v>
                </c:pt>
              </c:numCache>
            </c:numRef>
          </c:val>
          <c:smooth val="0"/>
          <c:extLst>
            <c:ext xmlns:c16="http://schemas.microsoft.com/office/drawing/2014/chart" uri="{C3380CC4-5D6E-409C-BE32-E72D297353CC}">
              <c16:uniqueId val="{00000000-FBA4-444D-A07E-43E3B128A0D7}"/>
            </c:ext>
          </c:extLst>
        </c:ser>
        <c:dLbls>
          <c:showLegendKey val="0"/>
          <c:showVal val="0"/>
          <c:showCatName val="0"/>
          <c:showSerName val="0"/>
          <c:showPercent val="0"/>
          <c:showBubbleSize val="0"/>
        </c:dLbls>
        <c:smooth val="0"/>
        <c:axId val="1591840527"/>
        <c:axId val="1320130383"/>
      </c:lineChart>
      <c:catAx>
        <c:axId val="1591840527"/>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320130383"/>
        <c:crosses val="autoZero"/>
        <c:auto val="1"/>
        <c:lblAlgn val="ctr"/>
        <c:lblOffset val="100"/>
        <c:noMultiLvlLbl val="0"/>
      </c:catAx>
      <c:valAx>
        <c:axId val="13201303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9184052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800AD-93AD-4C4C-85DD-6086F39F5F44}" type="datetimeFigureOut">
              <a:rPr lang="zh-CN" altLang="en-US" smtClean="0"/>
              <a:t>2025/5/15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8361D-8C5B-4832-B897-84B74FD7AE5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a:xfrm>
            <a:off x="171669" y="6401522"/>
            <a:ext cx="4114800" cy="365125"/>
          </a:xfrm>
        </p:spPr>
        <p:txBody>
          <a:bodyPr/>
          <a:lstStyle>
            <a:lvl1pPr algn="l">
              <a:defRPr sz="1600" i="1">
                <a:solidFill>
                  <a:schemeClr val="bg1">
                    <a:lumMod val="50000"/>
                  </a:schemeClr>
                </a:solidFill>
              </a:defRPr>
            </a:lvl1pPr>
          </a:lstStyle>
          <a:p>
            <a:r>
              <a:rPr lang="en-GB"/>
              <a:t>Company Name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2400" b="0" kern="1200" spc="200" baseline="0">
          <a:ln>
            <a:noFill/>
          </a:ln>
          <a:solidFill>
            <a:srgbClr val="53585B"/>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B57F1-69E0-47C0-93B4-D0FAD86E9417}" type="datetimeFigureOut">
              <a:rPr lang="zh-CN" altLang="en-US" smtClean="0"/>
              <a:t>2025/5/15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A2691-C292-4C45-BE27-81DB2E21649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2025/5/15</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标题 4"/>
          <p:cNvSpPr txBox="1"/>
          <p:nvPr/>
        </p:nvSpPr>
        <p:spPr>
          <a:xfrm>
            <a:off x="0" y="2722999"/>
            <a:ext cx="12192022" cy="1243584"/>
          </a:xfrm>
          <a:prstGeom prst="rect">
            <a:avLst/>
          </a:prstGeom>
          <a:effectLst>
            <a:outerShdw blurRad="152400" dist="190500" dir="5400000" algn="t" rotWithShape="0">
              <a:srgbClr val="000000">
                <a:alpha val="37000"/>
              </a:srgbClr>
            </a:outerShdw>
          </a:effectLst>
        </p:spPr>
        <p:txBody>
          <a:bodyPr vert="horz" wrap="square" lIns="91440" tIns="45720" rIns="91440" bIns="45720" rtlCol="0" anchor="ctr">
            <a:noAutofit/>
          </a:bodyPr>
          <a:lstStyle>
            <a:lvl1pPr algn="l" defTabSz="914400" rtl="0" eaLnBrk="1" latinLnBrk="0" hangingPunct="1">
              <a:lnSpc>
                <a:spcPct val="90000"/>
              </a:lnSpc>
              <a:spcBef>
                <a:spcPct val="0"/>
              </a:spcBef>
              <a:buNone/>
              <a:defRPr lang="zh-CN" altLang="en-US" sz="4800" b="1" kern="1200" spc="300">
                <a:ln w="635">
                  <a:noFill/>
                </a:ln>
                <a:solidFill>
                  <a:schemeClr val="bg1"/>
                </a:solidFill>
                <a:latin typeface="微软雅黑" panose="020B0503020204020204" pitchFamily="34" charset="-122"/>
                <a:ea typeface="微软雅黑" panose="020B0503020204020204" pitchFamily="34" charset="-122"/>
                <a:cs typeface="+mn-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300" normalizeH="0" baseline="0" noProof="0" dirty="0">
                <a:ln w="635">
                  <a:noFill/>
                </a:ln>
                <a:solidFill>
                  <a:srgbClr val="FFFFFF"/>
                </a:solidFill>
                <a:effectLst/>
                <a:uLnTx/>
                <a:uFillTx/>
                <a:latin typeface="微软雅黑" panose="020B0503020204020204" pitchFamily="34" charset="-122"/>
                <a:ea typeface="微软雅黑" panose="020B0503020204020204" pitchFamily="34" charset="-122"/>
                <a:cs typeface="+mn-cs"/>
              </a:rPr>
              <a:t>SW-</a:t>
            </a:r>
            <a:r>
              <a:rPr kumimoji="0" lang="zh-CN" altLang="en-US" sz="1800" b="1" i="0" u="none" strike="noStrike" kern="1200" cap="none" spc="300" normalizeH="0" baseline="0" noProof="0" dirty="0">
                <a:ln w="635">
                  <a:noFill/>
                </a:ln>
                <a:solidFill>
                  <a:srgbClr val="FFFFFF"/>
                </a:solidFill>
                <a:effectLst/>
                <a:uLnTx/>
                <a:uFillTx/>
                <a:latin typeface="微软雅黑" panose="020B0503020204020204" pitchFamily="34" charset="-122"/>
                <a:ea typeface="微软雅黑" panose="020B0503020204020204" pitchFamily="34" charset="-122"/>
                <a:cs typeface="+mn-cs"/>
              </a:rPr>
              <a:t>多媒体</a:t>
            </a:r>
            <a:r>
              <a:rPr kumimoji="0" lang="en-US" altLang="zh-CN" sz="1800" b="1" i="0" u="none" strike="noStrike" kern="1200" cap="none" spc="300" normalizeH="0" baseline="0" noProof="0" dirty="0">
                <a:ln w="635">
                  <a:noFill/>
                </a:ln>
                <a:solidFill>
                  <a:srgbClr val="FFFFFF"/>
                </a:solidFill>
                <a:effectLst/>
                <a:uLnTx/>
                <a:uFillTx/>
                <a:latin typeface="微软雅黑" panose="020B0503020204020204" pitchFamily="34" charset="-122"/>
                <a:ea typeface="微软雅黑" panose="020B0503020204020204" pitchFamily="34" charset="-122"/>
                <a:cs typeface="+mn-cs"/>
              </a:rPr>
              <a:t>-VIDEO-20250513-0001 M439 MTK</a:t>
            </a:r>
            <a:r>
              <a:rPr kumimoji="0" lang="zh-CN" altLang="en-US" sz="1800" b="1" i="0" u="none" strike="noStrike" kern="1200" cap="none" spc="300" normalizeH="0" baseline="0" noProof="0" dirty="0">
                <a:ln w="635">
                  <a:noFill/>
                </a:ln>
                <a:solidFill>
                  <a:srgbClr val="FFFFFF"/>
                </a:solidFill>
                <a:effectLst/>
                <a:uLnTx/>
                <a:uFillTx/>
                <a:latin typeface="微软雅黑" panose="020B0503020204020204" pitchFamily="34" charset="-122"/>
                <a:ea typeface="微软雅黑" panose="020B0503020204020204" pitchFamily="34" charset="-122"/>
                <a:cs typeface="+mn-cs"/>
              </a:rPr>
              <a:t>平台编解码</a:t>
            </a:r>
            <a:r>
              <a:rPr lang="zh-CN" altLang="en-US" sz="1800" dirty="0">
                <a:solidFill>
                  <a:srgbClr val="FFFFFF"/>
                </a:solidFill>
              </a:rPr>
              <a:t>进程</a:t>
            </a:r>
            <a:r>
              <a:rPr kumimoji="0" lang="zh-CN" altLang="en-US" sz="1800" b="1" i="0" u="none" strike="noStrike" kern="1200" cap="none" spc="300" normalizeH="0" baseline="0" noProof="0" dirty="0">
                <a:ln w="635">
                  <a:noFill/>
                </a:ln>
                <a:solidFill>
                  <a:srgbClr val="FFFFFF"/>
                </a:solidFill>
                <a:effectLst/>
                <a:uLnTx/>
                <a:uFillTx/>
                <a:latin typeface="微软雅黑" panose="020B0503020204020204" pitchFamily="34" charset="-122"/>
                <a:ea typeface="微软雅黑" panose="020B0503020204020204" pitchFamily="34" charset="-122"/>
                <a:cs typeface="+mn-cs"/>
              </a:rPr>
              <a:t>常驻内存优化</a:t>
            </a:r>
            <a:endParaRPr kumimoji="0" lang="zh-CN" altLang="en-US" sz="1800" b="0" i="0" u="none" strike="noStrike" kern="1200" cap="none" spc="300" normalizeH="0" baseline="0" noProof="0" dirty="0">
              <a:ln w="635">
                <a:noFill/>
              </a:ln>
              <a:solidFill>
                <a:schemeClr val="bg1">
                  <a:lumMod val="6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p:cNvGraphicFramePr>
            <a:graphicFrameLocks noGrp="1"/>
          </p:cNvGraphicFramePr>
          <p:nvPr>
            <p:extLst>
              <p:ext uri="{D42A27DB-BD31-4B8C-83A1-F6EECF244321}">
                <p14:modId xmlns:p14="http://schemas.microsoft.com/office/powerpoint/2010/main" val="2072262328"/>
              </p:ext>
            </p:extLst>
          </p:nvPr>
        </p:nvGraphicFramePr>
        <p:xfrm>
          <a:off x="3731466" y="4650874"/>
          <a:ext cx="6502779" cy="1318335"/>
        </p:xfrm>
        <a:graphic>
          <a:graphicData uri="http://schemas.openxmlformats.org/drawingml/2006/table">
            <a:tbl>
              <a:tblPr/>
              <a:tblGrid>
                <a:gridCol w="1980979">
                  <a:extLst>
                    <a:ext uri="{9D8B030D-6E8A-4147-A177-3AD203B41FA5}">
                      <a16:colId xmlns:a16="http://schemas.microsoft.com/office/drawing/2014/main" val="20000"/>
                    </a:ext>
                  </a:extLst>
                </a:gridCol>
                <a:gridCol w="4521800">
                  <a:extLst>
                    <a:ext uri="{9D8B030D-6E8A-4147-A177-3AD203B41FA5}">
                      <a16:colId xmlns:a16="http://schemas.microsoft.com/office/drawing/2014/main" val="20001"/>
                    </a:ext>
                  </a:extLst>
                </a:gridCol>
              </a:tblGrid>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提交人</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团队</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第一事业部</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伍方健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审核人员：</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i="0" u="none" strike="noStrike" dirty="0">
                          <a:solidFill>
                            <a:schemeClr val="tx1"/>
                          </a:solidFill>
                          <a:effectLst/>
                          <a:latin typeface="微软雅黑" panose="020B0503020204020204" pitchFamily="34" charset="-122"/>
                          <a:ea typeface="微软雅黑" panose="020B0503020204020204" pitchFamily="34" charset="-122"/>
                        </a:rPr>
                        <a:t>项俊</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提交日期：</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en-US" sz="1800" b="0" u="none" strike="noStrike" dirty="0">
                          <a:solidFill>
                            <a:schemeClr val="tx1"/>
                          </a:solidFill>
                          <a:effectLst/>
                          <a:latin typeface="微软雅黑" panose="020B0503020204020204" pitchFamily="34" charset="-122"/>
                          <a:ea typeface="微软雅黑" panose="020B0503020204020204" pitchFamily="34" charset="-122"/>
                        </a:rPr>
                        <a:t>2025</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年</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5</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月</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13</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extLst>
              <p:ext uri="{D42A27DB-BD31-4B8C-83A1-F6EECF244321}">
                <p14:modId xmlns:p14="http://schemas.microsoft.com/office/powerpoint/2010/main" val="1729835915"/>
              </p:ext>
            </p:extLst>
          </p:nvPr>
        </p:nvGraphicFramePr>
        <p:xfrm>
          <a:off x="175581" y="584352"/>
          <a:ext cx="11840837" cy="782810"/>
        </p:xfrm>
        <a:graphic>
          <a:graphicData uri="http://schemas.openxmlformats.org/drawingml/2006/table">
            <a:tbl>
              <a:tblPr/>
              <a:tblGrid>
                <a:gridCol w="1120079">
                  <a:extLst>
                    <a:ext uri="{9D8B030D-6E8A-4147-A177-3AD203B41FA5}">
                      <a16:colId xmlns:a16="http://schemas.microsoft.com/office/drawing/2014/main" val="20000"/>
                    </a:ext>
                  </a:extLst>
                </a:gridCol>
                <a:gridCol w="1060075">
                  <a:extLst>
                    <a:ext uri="{9D8B030D-6E8A-4147-A177-3AD203B41FA5}">
                      <a16:colId xmlns:a16="http://schemas.microsoft.com/office/drawing/2014/main" val="20001"/>
                    </a:ext>
                  </a:extLst>
                </a:gridCol>
                <a:gridCol w="1060075">
                  <a:extLst>
                    <a:ext uri="{9D8B030D-6E8A-4147-A177-3AD203B41FA5}">
                      <a16:colId xmlns:a16="http://schemas.microsoft.com/office/drawing/2014/main" val="20002"/>
                    </a:ext>
                  </a:extLst>
                </a:gridCol>
                <a:gridCol w="1060075">
                  <a:extLst>
                    <a:ext uri="{9D8B030D-6E8A-4147-A177-3AD203B41FA5}">
                      <a16:colId xmlns:a16="http://schemas.microsoft.com/office/drawing/2014/main" val="20003"/>
                    </a:ext>
                  </a:extLst>
                </a:gridCol>
                <a:gridCol w="1060075">
                  <a:extLst>
                    <a:ext uri="{9D8B030D-6E8A-4147-A177-3AD203B41FA5}">
                      <a16:colId xmlns:a16="http://schemas.microsoft.com/office/drawing/2014/main" val="20004"/>
                    </a:ext>
                  </a:extLst>
                </a:gridCol>
                <a:gridCol w="1060075">
                  <a:extLst>
                    <a:ext uri="{9D8B030D-6E8A-4147-A177-3AD203B41FA5}">
                      <a16:colId xmlns:a16="http://schemas.microsoft.com/office/drawing/2014/main" val="20005"/>
                    </a:ext>
                  </a:extLst>
                </a:gridCol>
                <a:gridCol w="1060075">
                  <a:extLst>
                    <a:ext uri="{9D8B030D-6E8A-4147-A177-3AD203B41FA5}">
                      <a16:colId xmlns:a16="http://schemas.microsoft.com/office/drawing/2014/main" val="20006"/>
                    </a:ext>
                  </a:extLst>
                </a:gridCol>
                <a:gridCol w="1120079">
                  <a:extLst>
                    <a:ext uri="{9D8B030D-6E8A-4147-A177-3AD203B41FA5}">
                      <a16:colId xmlns:a16="http://schemas.microsoft.com/office/drawing/2014/main" val="20007"/>
                    </a:ext>
                  </a:extLst>
                </a:gridCol>
                <a:gridCol w="1060075">
                  <a:extLst>
                    <a:ext uri="{9D8B030D-6E8A-4147-A177-3AD203B41FA5}">
                      <a16:colId xmlns:a16="http://schemas.microsoft.com/office/drawing/2014/main" val="20008"/>
                    </a:ext>
                  </a:extLst>
                </a:gridCol>
                <a:gridCol w="1120079">
                  <a:extLst>
                    <a:ext uri="{9D8B030D-6E8A-4147-A177-3AD203B41FA5}">
                      <a16:colId xmlns:a16="http://schemas.microsoft.com/office/drawing/2014/main" val="20009"/>
                    </a:ext>
                  </a:extLst>
                </a:gridCol>
                <a:gridCol w="1060075">
                  <a:extLst>
                    <a:ext uri="{9D8B030D-6E8A-4147-A177-3AD203B41FA5}">
                      <a16:colId xmlns:a16="http://schemas.microsoft.com/office/drawing/2014/main" val="20010"/>
                    </a:ext>
                  </a:extLst>
                </a:gridCol>
              </a:tblGrid>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文件密级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绝密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机密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秘密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内部公开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外部公开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0"/>
                  </a:ext>
                </a:extLst>
              </a:tr>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分享范围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领域内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en-US" sz="1800" b="0"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部门内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项目内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bl>
          </a:graphicData>
        </a:graphic>
      </p:graphicFrame>
      <p:sp>
        <p:nvSpPr>
          <p:cNvPr id="7" name="文本框 6"/>
          <p:cNvSpPr txBox="1"/>
          <p:nvPr/>
        </p:nvSpPr>
        <p:spPr>
          <a:xfrm>
            <a:off x="175581" y="121614"/>
            <a:ext cx="11840836" cy="369332"/>
          </a:xfrm>
          <a:prstGeom prst="rect">
            <a:avLst/>
          </a:prstGeom>
          <a:noFill/>
        </p:spPr>
        <p:txBody>
          <a:bodyPr wrap="square">
            <a:spAutoFit/>
          </a:bodyPr>
          <a:lstStyle/>
          <a:p>
            <a:pPr algn="l" fontAlgn="ctr"/>
            <a:r>
              <a:rPr lang="en-US" altLang="zh-CN" sz="18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案例信息安全要求与权限分配</a:t>
            </a:r>
            <a:r>
              <a:rPr lang="zh-CN" altLang="en-US" sz="1800" b="1" i="0" u="none" strike="noStrike" dirty="0">
                <a:solidFill>
                  <a:srgbClr val="FF0000"/>
                </a:solidFill>
                <a:effectLst/>
                <a:latin typeface="楷体" panose="02010609060101010101" pitchFamily="49" charset="-122"/>
                <a:ea typeface="楷体" panose="02010609060101010101" pitchFamily="49" charset="-122"/>
              </a:rPr>
              <a:t>（按照文档实际情况对应选项打“√” ）</a:t>
            </a:r>
          </a:p>
        </p:txBody>
      </p:sp>
      <p:graphicFrame>
        <p:nvGraphicFramePr>
          <p:cNvPr id="8" name="表格 7"/>
          <p:cNvGraphicFramePr>
            <a:graphicFrameLocks noGrp="1"/>
          </p:cNvGraphicFramePr>
          <p:nvPr/>
        </p:nvGraphicFramePr>
        <p:xfrm>
          <a:off x="179526" y="1460570"/>
          <a:ext cx="11840836" cy="5301828"/>
        </p:xfrm>
        <a:graphic>
          <a:graphicData uri="http://schemas.openxmlformats.org/drawingml/2006/table">
            <a:tbl>
              <a:tblPr/>
              <a:tblGrid>
                <a:gridCol w="5883923">
                  <a:extLst>
                    <a:ext uri="{9D8B030D-6E8A-4147-A177-3AD203B41FA5}">
                      <a16:colId xmlns:a16="http://schemas.microsoft.com/office/drawing/2014/main" val="20000"/>
                    </a:ext>
                  </a:extLst>
                </a:gridCol>
                <a:gridCol w="5956913">
                  <a:extLst>
                    <a:ext uri="{9D8B030D-6E8A-4147-A177-3AD203B41FA5}">
                      <a16:colId xmlns:a16="http://schemas.microsoft.com/office/drawing/2014/main" val="20001"/>
                    </a:ext>
                  </a:extLst>
                </a:gridCol>
              </a:tblGrid>
              <a:tr h="219673">
                <a:tc gridSpan="2">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的信息安全规范及要求</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219673">
                <a:tc>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说明</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答疑</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772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需要对其进行文件密级（绝密、机密、秘密、内部公开、外部公开）定级并给出使用范围（项目、部门、领域、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文件密级如何认定（绝密、机密、秘密、内部公开、外部公开），认定标准有哪些？</a:t>
                      </a:r>
                      <a:endParaRPr lang="en-US" altLang="zh-CN" sz="1200" b="0" i="0" u="none" strike="noStrike" dirty="0">
                        <a:solidFill>
                          <a:srgbClr val="0000FF"/>
                        </a:solidFill>
                        <a:effectLst/>
                        <a:latin typeface="微软雅黑" panose="020B0503020204020204" pitchFamily="34" charset="-122"/>
                        <a:ea typeface="微软雅黑" panose="020B0503020204020204" pitchFamily="34" charset="-122"/>
                      </a:endParaRPr>
                    </a:p>
                    <a:p>
                      <a:pPr algn="l"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有对应体系文件规范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保密信息等级分类及授权管理办法</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en-US" sz="1200" b="0" i="0" u="sng" strike="noStrike" dirty="0">
                          <a:solidFill>
                            <a:srgbClr val="C00000"/>
                          </a:solidFill>
                          <a:effectLst/>
                          <a:latin typeface="微软雅黑" panose="020B0503020204020204" pitchFamily="34" charset="-122"/>
                          <a:ea typeface="微软雅黑" panose="020B0503020204020204" pitchFamily="34" charset="-122"/>
                        </a:rPr>
                        <a:t>https://epros.longcheer.com:8080/static-web/#/view?p=1&amp;app=false&amp;t=fileContent&amp;f=search&amp;h=0&amp;id=5659</a:t>
                      </a:r>
                      <a:br>
                        <a:rPr 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sz="1200" b="0" i="0" u="none" strike="noStrike" dirty="0">
                          <a:solidFill>
                            <a:srgbClr val="0000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a:t>
                      </a:r>
                      <a:r>
                        <a:rPr lang="en-US"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包含哪些人？</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一般指文档作者本人，建议由文档作者进行脱敏，有文档作者直属领导进行审查并确定分享范围权限</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9444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不应存放绝密、机密、秘密级内容；内部公开、外部公开可适用全员访问；公司鼓励全员对可公开的知识文档上传知识库分享，跨领域全员分享需由领域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KMO/KMC</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评估后决策；</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知识库平台分享属性强烈，要上传密级内容？</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不上传密级以上内容，风险更小。知识也是公司的经验成果，建议依然还是要控制分享范围，勿随意做全员分享，需做一定的保护，确定无关的部门或岗位建议不要对其分享（譬如研发的知识分享给行政），避免内部经验知识被外部轻易复制获取。</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3333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3333FF"/>
                          </a:solidFill>
                          <a:effectLst/>
                          <a:latin typeface="微软雅黑" panose="020B0503020204020204" pitchFamily="34" charset="-122"/>
                          <a:ea typeface="微软雅黑" panose="020B0503020204020204" pitchFamily="34" charset="-122"/>
                        </a:rPr>
                        <a:t>内部公开指领域内部公开，外部公开指公司全员公开。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28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、领域管理</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需对本领域知识进行分类、分级，对不同的人员设置上传、下载、预览等不同的权限，遵循最小授权要求，默认只有预览权限；</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领域管理</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altLang="zh-CN" sz="1200" b="1" i="0" u="none" strike="noStrike" dirty="0">
                          <a:solidFill>
                            <a:schemeClr val="tx1"/>
                          </a:solidFill>
                          <a:effectLst/>
                          <a:latin typeface="微软雅黑" panose="020B0503020204020204" pitchFamily="34" charset="-122"/>
                          <a:ea typeface="微软雅黑" panose="020B0503020204020204" pitchFamily="34" charset="-122"/>
                        </a:rPr>
                        <a:t>KM</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知识库领域内拥有“管理”权限的知识管理员或部门知识接口人</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153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需对文件名及文件内容进行脱敏，不可出现客户及客户项目、客户型号名称、</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LOGO</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等相关信息，需使用龙旗内部代码及项目名称替代，避免出现价格，重大项目问题等敏感信息；</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避免出现敏感词</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信息安全部规定的为准</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重大项目问题：重大如何理解？</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信安：何为重大应由业务部门做界定，信安可以给出建议譬如给公司带来超过</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万损失的问题，本应获标而丢标的问题等；建议可通过脱敏模糊化进行知识分享。</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项目问题：部分知识案例就是对项目问题进行复盘</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总结并加以改善的。</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信安：做好内容脱敏即可</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52601">
                <a:tc>
                  <a:txBody>
                    <a:bodyPr/>
                    <a:lstStyle/>
                    <a:p>
                      <a:pPr algn="l" fontAlgn="ctr"/>
                      <a:r>
                        <a:rPr lang="en-US" altLang="zh-CN" sz="1380" b="1" i="0" u="none" strike="noStrike">
                          <a:solidFill>
                            <a:srgbClr val="000000"/>
                          </a:solidFill>
                          <a:effectLst/>
                          <a:latin typeface="微软雅黑" panose="020B0503020204020204" pitchFamily="34" charset="-122"/>
                          <a:ea typeface="微软雅黑" panose="020B0503020204020204" pitchFamily="34" charset="-122"/>
                        </a:rPr>
                        <a:t>5</a:t>
                      </a:r>
                      <a:r>
                        <a:rPr lang="zh-CN" altLang="en-US" sz="1380" b="1" i="0" u="none" strike="noStrike">
                          <a:solidFill>
                            <a:srgbClr val="000000"/>
                          </a:solidFill>
                          <a:effectLst/>
                          <a:latin typeface="微软雅黑" panose="020B0503020204020204" pitchFamily="34" charset="-122"/>
                          <a:ea typeface="微软雅黑" panose="020B0503020204020204" pitchFamily="34" charset="-122"/>
                        </a:rPr>
                        <a:t>、知识文档需要注意个人隐私保护，未经授权避免出现他人姓名、肖像、住址、身份证、银行卡号、电话号码等个人隐私内容；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rowSpan="2">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知识文档萃取需要写上流程文档</a:t>
                      </a:r>
                      <a:r>
                        <a:rPr lang="en-US" altLang="zh-CN" sz="1200" b="0" i="0" u="none" strike="noStrike" dirty="0" err="1">
                          <a:solidFill>
                            <a:srgbClr val="0000FF"/>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作者姓名甚至工号，怎么处理？</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信安：流程文档</a:t>
                      </a:r>
                      <a:r>
                        <a:rPr lang="en-US" altLang="zh-CN" sz="1200" b="0" i="0" u="none" strike="noStrike" dirty="0" err="1">
                          <a:solidFill>
                            <a:srgbClr val="000000"/>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作者姓名甚至工号属于个人产出标注，是公司工作的标准要求需遵循的，也可认定是自愿行为并已授权</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r>
                        <a:rPr lang="en-US" altLang="zh-CN" sz="1200" b="1" i="0" u="none" strike="noStrike" dirty="0" err="1">
                          <a:solidFill>
                            <a:srgbClr val="3333FF"/>
                          </a:solidFill>
                          <a:effectLst/>
                          <a:latin typeface="微软雅黑" panose="020B0503020204020204" pitchFamily="34" charset="-122"/>
                          <a:ea typeface="微软雅黑" panose="020B0503020204020204" pitchFamily="34" charset="-122"/>
                        </a:rPr>
                        <a:t>b.LL</a:t>
                      </a:r>
                      <a:r>
                        <a:rPr lang="zh-CN" altLang="en-US" sz="1200" b="1" i="0" u="none" strike="noStrike" dirty="0">
                          <a:solidFill>
                            <a:srgbClr val="3333FF"/>
                          </a:solidFill>
                          <a:effectLst/>
                          <a:latin typeface="微软雅黑" panose="020B0503020204020204" pitchFamily="34" charset="-122"/>
                          <a:ea typeface="微软雅黑" panose="020B0503020204020204" pitchFamily="34" charset="-122"/>
                        </a:rPr>
                        <a:t>案例属于哪一类文件密级分类？</a:t>
                      </a:r>
                      <a:endParaRPr lang="en-US" altLang="zh-CN" sz="1200" b="1" i="0" u="none" strike="noStrike" dirty="0">
                        <a:solidFill>
                          <a:srgbClr val="3333FF"/>
                        </a:solidFill>
                        <a:effectLst/>
                        <a:latin typeface="微软雅黑" panose="020B0503020204020204" pitchFamily="34" charset="-122"/>
                        <a:ea typeface="微软雅黑" panose="020B0503020204020204" pitchFamily="34" charset="-122"/>
                      </a:endParaRPr>
                    </a:p>
                    <a:p>
                      <a:pPr algn="l"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信安：案例脱敏后一般属于内部公开。如果案例在短期内具有高价值，建议可以定为秘密，限定领域范围分享。秘密的内容经过一段时间也可以经过评估后降级为内部公开。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689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6</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、避免出现法律侵权内容，譬如使用未授权的字体、图片等相关侵权内容；避免上传未经授权的非原创的有版权合规风险的知识内容，譬如，未经授权的著作等；</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vMerge="1">
                  <a:txBody>
                    <a:bodyPr/>
                    <a:lstStyle/>
                    <a:p>
                      <a:endParaRPr lang="zh-CN"/>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2540862189"/>
              </p:ext>
            </p:extLst>
          </p:nvPr>
        </p:nvGraphicFramePr>
        <p:xfrm>
          <a:off x="230819" y="119955"/>
          <a:ext cx="11718526" cy="3601749"/>
        </p:xfrm>
        <a:graphic>
          <a:graphicData uri="http://schemas.openxmlformats.org/drawingml/2006/table">
            <a:tbl>
              <a:tblPr/>
              <a:tblGrid>
                <a:gridCol w="995672">
                  <a:extLst>
                    <a:ext uri="{9D8B030D-6E8A-4147-A177-3AD203B41FA5}">
                      <a16:colId xmlns:a16="http://schemas.microsoft.com/office/drawing/2014/main" val="20000"/>
                    </a:ext>
                  </a:extLst>
                </a:gridCol>
                <a:gridCol w="1100009">
                  <a:extLst>
                    <a:ext uri="{9D8B030D-6E8A-4147-A177-3AD203B41FA5}">
                      <a16:colId xmlns:a16="http://schemas.microsoft.com/office/drawing/2014/main" val="20001"/>
                    </a:ext>
                  </a:extLst>
                </a:gridCol>
                <a:gridCol w="1430906">
                  <a:extLst>
                    <a:ext uri="{9D8B030D-6E8A-4147-A177-3AD203B41FA5}">
                      <a16:colId xmlns:a16="http://schemas.microsoft.com/office/drawing/2014/main" val="20002"/>
                    </a:ext>
                  </a:extLst>
                </a:gridCol>
                <a:gridCol w="1520337">
                  <a:extLst>
                    <a:ext uri="{9D8B030D-6E8A-4147-A177-3AD203B41FA5}">
                      <a16:colId xmlns:a16="http://schemas.microsoft.com/office/drawing/2014/main" val="20003"/>
                    </a:ext>
                  </a:extLst>
                </a:gridCol>
                <a:gridCol w="1525460">
                  <a:extLst>
                    <a:ext uri="{9D8B030D-6E8A-4147-A177-3AD203B41FA5}">
                      <a16:colId xmlns:a16="http://schemas.microsoft.com/office/drawing/2014/main" val="20004"/>
                    </a:ext>
                  </a:extLst>
                </a:gridCol>
                <a:gridCol w="3507804">
                  <a:extLst>
                    <a:ext uri="{9D8B030D-6E8A-4147-A177-3AD203B41FA5}">
                      <a16:colId xmlns:a16="http://schemas.microsoft.com/office/drawing/2014/main" val="20005"/>
                    </a:ext>
                  </a:extLst>
                </a:gridCol>
                <a:gridCol w="1638338">
                  <a:extLst>
                    <a:ext uri="{9D8B030D-6E8A-4147-A177-3AD203B41FA5}">
                      <a16:colId xmlns:a16="http://schemas.microsoft.com/office/drawing/2014/main" val="20006"/>
                    </a:ext>
                  </a:extLst>
                </a:gridCol>
              </a:tblGrid>
              <a:tr h="465971">
                <a:tc gridSpan="7">
                  <a:txBody>
                    <a:bodyPr/>
                    <a:lstStyle/>
                    <a:p>
                      <a:pPr algn="l" fontAlgn="ctr"/>
                      <a:r>
                        <a:rPr lang="en-US" sz="16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标准化行动</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一览表</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56149">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问题阶段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跨领域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checklist/</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sop</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操作手册等</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是否需要</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checklist/sop/</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审核结果</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979629">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TR4</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Y</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     </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已新增到</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编解码进程内存摸底</a:t>
                      </a:r>
                      <a:r>
                        <a:rPr lang="en-US" altLang="zh-CN" sz="1600" b="0" i="0" u="none" strike="noStrike" dirty="0" err="1">
                          <a:solidFill>
                            <a:srgbClr val="000000"/>
                          </a:solidFill>
                          <a:effectLst/>
                          <a:latin typeface="微软雅黑" panose="020B0503020204020204" pitchFamily="34" charset="-122"/>
                          <a:ea typeface="微软雅黑" panose="020B0503020204020204" pitchFamily="34" charset="-122"/>
                        </a:rPr>
                        <a:t>CheckList.xlsx</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p>
                    <a:p>
                      <a:pPr algn="l"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     </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已在</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2025/5/9</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在黄区开展了培训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2" name="组合 21"/>
          <p:cNvGrpSpPr/>
          <p:nvPr/>
        </p:nvGrpSpPr>
        <p:grpSpPr>
          <a:xfrm>
            <a:off x="7113786" y="590196"/>
            <a:ext cx="4353926" cy="919401"/>
            <a:chOff x="7187492" y="801429"/>
            <a:chExt cx="4353926" cy="1340742"/>
          </a:xfrm>
        </p:grpSpPr>
        <p:sp>
          <p:nvSpPr>
            <p:cNvPr id="23" name="文本框 22"/>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01</a:t>
              </a:r>
            </a:p>
          </p:txBody>
        </p:sp>
        <p:sp>
          <p:nvSpPr>
            <p:cNvPr id="24" name="文本框 23"/>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关键字</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5" name="组合 24"/>
          <p:cNvGrpSpPr/>
          <p:nvPr/>
        </p:nvGrpSpPr>
        <p:grpSpPr>
          <a:xfrm>
            <a:off x="7113786" y="1769422"/>
            <a:ext cx="4353926" cy="919401"/>
            <a:chOff x="7187492" y="801429"/>
            <a:chExt cx="4353926" cy="1340742"/>
          </a:xfrm>
        </p:grpSpPr>
        <p:sp>
          <p:nvSpPr>
            <p:cNvPr id="26" name="文本框 25"/>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02</a:t>
              </a:r>
            </a:p>
          </p:txBody>
        </p:sp>
        <p:sp>
          <p:nvSpPr>
            <p:cNvPr id="27" name="文本框 26"/>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问题描述</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8" name="组合 27"/>
          <p:cNvGrpSpPr/>
          <p:nvPr/>
        </p:nvGrpSpPr>
        <p:grpSpPr>
          <a:xfrm>
            <a:off x="7113786" y="5307102"/>
            <a:ext cx="4353926" cy="919401"/>
            <a:chOff x="7187492" y="801429"/>
            <a:chExt cx="4353926" cy="1340742"/>
          </a:xfrm>
        </p:grpSpPr>
        <p:sp>
          <p:nvSpPr>
            <p:cNvPr id="29" name="文本框 28"/>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05</a:t>
              </a:r>
            </a:p>
          </p:txBody>
        </p:sp>
        <p:sp>
          <p:nvSpPr>
            <p:cNvPr id="30" name="文本框 29"/>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总结</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1" name="组合 30"/>
          <p:cNvGrpSpPr/>
          <p:nvPr/>
        </p:nvGrpSpPr>
        <p:grpSpPr>
          <a:xfrm>
            <a:off x="7113786" y="2948648"/>
            <a:ext cx="4353926" cy="919401"/>
            <a:chOff x="7187492" y="801429"/>
            <a:chExt cx="4353926" cy="1340742"/>
          </a:xfrm>
        </p:grpSpPr>
        <p:sp>
          <p:nvSpPr>
            <p:cNvPr id="32" name="文本框 31"/>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03</a:t>
              </a:r>
            </a:p>
          </p:txBody>
        </p:sp>
        <p:sp>
          <p:nvSpPr>
            <p:cNvPr id="33" name="文本框 32"/>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分析过程</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4" name="组合 33"/>
          <p:cNvGrpSpPr/>
          <p:nvPr/>
        </p:nvGrpSpPr>
        <p:grpSpPr>
          <a:xfrm>
            <a:off x="7113786" y="4127874"/>
            <a:ext cx="4353926" cy="919401"/>
            <a:chOff x="7187492" y="801429"/>
            <a:chExt cx="4353926" cy="1340742"/>
          </a:xfrm>
        </p:grpSpPr>
        <p:sp>
          <p:nvSpPr>
            <p:cNvPr id="35" name="文本框 34"/>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04</a:t>
              </a:r>
            </a:p>
          </p:txBody>
        </p:sp>
        <p:sp>
          <p:nvSpPr>
            <p:cNvPr id="36" name="文本框 35"/>
            <p:cNvSpPr txBox="1"/>
            <p:nvPr/>
          </p:nvSpPr>
          <p:spPr>
            <a:xfrm>
              <a:off x="8554986" y="1139074"/>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解决方案</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38" name="文本占位符 46"/>
          <p:cNvSpPr txBox="1"/>
          <p:nvPr/>
        </p:nvSpPr>
        <p:spPr>
          <a:xfrm>
            <a:off x="1185243" y="4916945"/>
            <a:ext cx="4113213" cy="841064"/>
          </a:xfrm>
          <a:prstGeom prst="rect">
            <a:avLst/>
          </a:prstGeom>
          <a:solidFill>
            <a:schemeClr val="bg1">
              <a:lumMod val="95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400" b="1" i="0" u="none" strike="noStrike" kern="1200" cap="none" spc="0" normalizeH="0" baseline="0" dirty="0" smtClean="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8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Lesson Learn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案例总结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关键字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1464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关键字</a:t>
            </a:r>
          </a:p>
        </p:txBody>
      </p:sp>
      <p:sp>
        <p:nvSpPr>
          <p:cNvPr id="5" name="文本框 4"/>
          <p:cNvSpPr txBox="1"/>
          <p:nvPr/>
        </p:nvSpPr>
        <p:spPr>
          <a:xfrm>
            <a:off x="346229" y="934278"/>
            <a:ext cx="11505460" cy="3202716"/>
          </a:xfrm>
          <a:prstGeom prst="rect">
            <a:avLst/>
          </a:prstGeom>
          <a:noFill/>
        </p:spPr>
        <p:txBody>
          <a:bodyPr wrap="square" rtlCol="0">
            <a:noAutofit/>
          </a:bodyPr>
          <a:lstStyle/>
          <a:p>
            <a:pPr>
              <a:lnSpc>
                <a:spcPct val="150000"/>
              </a:lnSpc>
            </a:pPr>
            <a:r>
              <a:rPr lang="zh-CN" altLang="en-US" sz="1600" dirty="0">
                <a:latin typeface="微软雅黑" panose="020B0503020204020204" pitchFamily="34" charset="-122"/>
                <a:ea typeface="微软雅黑" panose="020B0503020204020204" pitchFamily="34" charset="-122"/>
              </a:rPr>
              <a:t>关键字：编解码进程 </a:t>
            </a:r>
            <a:r>
              <a:rPr lang="en-US" altLang="zh-CN" sz="1600" dirty="0" err="1">
                <a:latin typeface="微软雅黑" panose="020B0503020204020204" pitchFamily="34" charset="-122"/>
                <a:ea typeface="微软雅黑" panose="020B0503020204020204" pitchFamily="34" charset="-122"/>
              </a:rPr>
              <a:t>dmabuf</a:t>
            </a:r>
            <a:r>
              <a:rPr lang="zh-CN" altLang="en-US" sz="1600" dirty="0">
                <a:latin typeface="微软雅黑" panose="020B0503020204020204" pitchFamily="34" charset="-122"/>
                <a:ea typeface="微软雅黑" panose="020B0503020204020204" pitchFamily="34" charset="-122"/>
              </a:rPr>
              <a:t> 内存释放</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关联领域： 软件 多媒体 视频</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概述： </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MTK</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平台编解码进程（</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android.hardware.media.c2-mediatek-64b</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）常驻内存优化</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问题描述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8474" y="712125"/>
            <a:ext cx="11540971" cy="1512091"/>
          </a:xfrm>
          <a:prstGeom prst="rect">
            <a:avLst/>
          </a:prstGeom>
        </p:spPr>
        <p:txBody>
          <a:bodyPr wrap="square">
            <a:no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背景（</a:t>
            </a:r>
            <a:r>
              <a:rPr lang="en-US" altLang="zh-CN" sz="1600" b="1" dirty="0">
                <a:latin typeface="微软雅黑" panose="020B0503020204020204" pitchFamily="34" charset="-122"/>
                <a:ea typeface="微软雅黑" panose="020B0503020204020204" pitchFamily="34" charset="-122"/>
              </a:rPr>
              <a:t>Situation</a:t>
            </a:r>
            <a:r>
              <a:rPr lang="zh-CN" altLang="en-US" sz="1600" b="1" dirty="0">
                <a:latin typeface="微软雅黑" panose="020B0503020204020204" pitchFamily="34" charset="-122"/>
                <a:ea typeface="微软雅黑" panose="020B0503020204020204" pitchFamily="34" charset="-122"/>
              </a:rPr>
              <a:t>）</a:t>
            </a:r>
          </a:p>
          <a:p>
            <a:pPr>
              <a:lnSpc>
                <a:spcPct val="150000"/>
              </a:lnSpc>
            </a:pPr>
            <a:r>
              <a:rPr lang="en-US" altLang="zh-CN" dirty="0"/>
              <a:t>M439</a:t>
            </a:r>
            <a:r>
              <a:rPr lang="zh-CN" altLang="en-US" dirty="0"/>
              <a:t>项目在测试整机常驻内存时，测出的</a:t>
            </a:r>
            <a:r>
              <a:rPr lang="zh-CN" altLang="en-US" dirty="0">
                <a:sym typeface="Wingdings" panose="05000000000000000000" pitchFamily="2" charset="2"/>
              </a:rPr>
              <a:t>多媒体编解码服务进程（</a:t>
            </a:r>
            <a:r>
              <a:rPr lang="en-US" altLang="zh-CN" dirty="0">
                <a:sym typeface="Wingdings" panose="05000000000000000000" pitchFamily="2" charset="2"/>
              </a:rPr>
              <a:t>android.hardware.media.c2-mediatek-64b</a:t>
            </a:r>
            <a:r>
              <a:rPr lang="zh-CN" altLang="en-US" dirty="0">
                <a:sym typeface="Wingdings" panose="05000000000000000000" pitchFamily="2" charset="2"/>
              </a:rPr>
              <a:t>）</a:t>
            </a:r>
            <a:r>
              <a:rPr lang="zh-CN" altLang="en-US" dirty="0"/>
              <a:t>内存占用超出了常驻内存基线，需要分析优化。</a:t>
            </a:r>
            <a:endParaRPr lang="en-US" altLang="zh-CN" dirty="0"/>
          </a:p>
        </p:txBody>
      </p:sp>
      <p:sp>
        <p:nvSpPr>
          <p:cNvPr id="3" name="文本框 2"/>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问题描述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分析过程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5107" y="809572"/>
            <a:ext cx="11505459" cy="1291379"/>
          </a:xfrm>
          <a:prstGeom prst="rect">
            <a:avLst/>
          </a:prstGeom>
        </p:spPr>
        <p:txBody>
          <a:bodyPr wrap="square">
            <a:spAutoFit/>
          </a:bodyPr>
          <a:lstStyle/>
          <a:p>
            <a:pPr>
              <a:lnSpc>
                <a:spcPct val="150000"/>
              </a:lnSpc>
            </a:pPr>
            <a:r>
              <a:rPr lang="zh-CN" altLang="en-US" dirty="0"/>
              <a:t>常驻内存测试将运行两轮测试用例，每轮执行完测试用例后清理后台静置三次，每次执行测试用例和静置后都会抓取进程的</a:t>
            </a:r>
            <a:r>
              <a:rPr lang="en" altLang="zh-CN" dirty="0"/>
              <a:t>PSS</a:t>
            </a:r>
            <a:r>
              <a:rPr lang="zh-CN" altLang="en-US" dirty="0"/>
              <a:t>内存数据。最后按六次静置后的数值中取最大值。如果测试结果超出内存基线则认为需要分析优化。</a:t>
            </a:r>
            <a:endParaRPr lang="en-US" altLang="zh-CN" dirty="0"/>
          </a:p>
          <a:p>
            <a:pPr>
              <a:lnSpc>
                <a:spcPct val="150000"/>
              </a:lnSpc>
            </a:pPr>
            <a:r>
              <a:rPr lang="zh-CN" altLang="en-US" dirty="0"/>
              <a:t>大致测试流程如下：</a:t>
            </a:r>
            <a:endParaRPr lang="en-US" altLang="zh-CN" dirty="0"/>
          </a:p>
        </p:txBody>
      </p:sp>
      <p:sp>
        <p:nvSpPr>
          <p:cNvPr id="4" name="文本框 3"/>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分析过程</a:t>
            </a:r>
          </a:p>
        </p:txBody>
      </p:sp>
      <p:pic>
        <p:nvPicPr>
          <p:cNvPr id="6" name="图片 5" descr="图示&#10;&#10;描述已自动生成">
            <a:extLst>
              <a:ext uri="{FF2B5EF4-FFF2-40B4-BE49-F238E27FC236}">
                <a16:creationId xmlns:a16="http://schemas.microsoft.com/office/drawing/2014/main" id="{7E17F262-4A4C-EF95-99AD-C18C55A44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443" y="2100951"/>
            <a:ext cx="11413680" cy="42339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分析过程</a:t>
            </a:r>
          </a:p>
        </p:txBody>
      </p:sp>
      <p:graphicFrame>
        <p:nvGraphicFramePr>
          <p:cNvPr id="3" name="图表 2">
            <a:extLst>
              <a:ext uri="{FF2B5EF4-FFF2-40B4-BE49-F238E27FC236}">
                <a16:creationId xmlns:a16="http://schemas.microsoft.com/office/drawing/2014/main" id="{CD0B66D3-5336-AFCE-B175-B5CDC7A0E911}"/>
              </a:ext>
            </a:extLst>
          </p:cNvPr>
          <p:cNvGraphicFramePr>
            <a:graphicFrameLocks/>
          </p:cNvGraphicFramePr>
          <p:nvPr>
            <p:extLst>
              <p:ext uri="{D42A27DB-BD31-4B8C-83A1-F6EECF244321}">
                <p14:modId xmlns:p14="http://schemas.microsoft.com/office/powerpoint/2010/main" val="2383341412"/>
              </p:ext>
            </p:extLst>
          </p:nvPr>
        </p:nvGraphicFramePr>
        <p:xfrm>
          <a:off x="543697" y="1013257"/>
          <a:ext cx="11112843" cy="4349578"/>
        </p:xfrm>
        <a:graphic>
          <a:graphicData uri="http://schemas.openxmlformats.org/drawingml/2006/chart">
            <c:chart xmlns:c="http://schemas.openxmlformats.org/drawingml/2006/chart" xmlns:r="http://schemas.openxmlformats.org/officeDocument/2006/relationships" r:id="rId2"/>
          </a:graphicData>
        </a:graphic>
      </p:graphicFrame>
      <p:sp>
        <p:nvSpPr>
          <p:cNvPr id="6" name="文本框 5">
            <a:extLst>
              <a:ext uri="{FF2B5EF4-FFF2-40B4-BE49-F238E27FC236}">
                <a16:creationId xmlns:a16="http://schemas.microsoft.com/office/drawing/2014/main" id="{9FB25243-57CB-EAEE-E8BD-B72D7FF249C3}"/>
              </a:ext>
            </a:extLst>
          </p:cNvPr>
          <p:cNvSpPr txBox="1"/>
          <p:nvPr/>
        </p:nvSpPr>
        <p:spPr>
          <a:xfrm>
            <a:off x="417442" y="5537813"/>
            <a:ext cx="11239097" cy="646331"/>
          </a:xfrm>
          <a:prstGeom prst="rect">
            <a:avLst/>
          </a:prstGeom>
          <a:noFill/>
        </p:spPr>
        <p:txBody>
          <a:bodyPr wrap="square">
            <a:spAutoFit/>
          </a:bodyPr>
          <a:lstStyle/>
          <a:p>
            <a:r>
              <a:rPr lang="zh-CN" altLang="en-US" dirty="0"/>
              <a:t>从常驻内存测试过程统计的编解码进程的内存数据来看，该进程的内存并没有在业务结束后或者应用进程结束后正常回落，反复测试均发现有</a:t>
            </a:r>
            <a:r>
              <a:rPr lang="en-US" altLang="zh-CN" dirty="0"/>
              <a:t>20M+</a:t>
            </a:r>
            <a:r>
              <a:rPr lang="zh-CN" altLang="en-US" dirty="0"/>
              <a:t>或者</a:t>
            </a:r>
            <a:r>
              <a:rPr lang="en-US" altLang="zh-CN" dirty="0"/>
              <a:t>50M+</a:t>
            </a:r>
            <a:r>
              <a:rPr lang="zh-CN" altLang="en-US" dirty="0"/>
              <a:t>。初次怀疑是应用创建的编解码实例没有释放导致。</a:t>
            </a:r>
          </a:p>
        </p:txBody>
      </p:sp>
    </p:spTree>
    <p:extLst>
      <p:ext uri="{BB962C8B-B14F-4D97-AF65-F5344CB8AC3E}">
        <p14:creationId xmlns:p14="http://schemas.microsoft.com/office/powerpoint/2010/main" val="1949596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分析过程</a:t>
            </a:r>
          </a:p>
        </p:txBody>
      </p:sp>
      <p:sp>
        <p:nvSpPr>
          <p:cNvPr id="5" name="文本框 4">
            <a:extLst>
              <a:ext uri="{FF2B5EF4-FFF2-40B4-BE49-F238E27FC236}">
                <a16:creationId xmlns:a16="http://schemas.microsoft.com/office/drawing/2014/main" id="{B63D74F5-0709-349B-AAC7-9E1A5E1A3F22}"/>
              </a:ext>
            </a:extLst>
          </p:cNvPr>
          <p:cNvSpPr txBox="1"/>
          <p:nvPr/>
        </p:nvSpPr>
        <p:spPr>
          <a:xfrm>
            <a:off x="491585" y="1780329"/>
            <a:ext cx="10324698" cy="4031873"/>
          </a:xfrm>
          <a:prstGeom prst="rect">
            <a:avLst/>
          </a:prstGeom>
          <a:noFill/>
        </p:spPr>
        <p:txBody>
          <a:bodyPr wrap="square">
            <a:spAutoFit/>
          </a:bodyPr>
          <a:lstStyle/>
          <a:p>
            <a:r>
              <a:rPr lang="zh-CN" altLang="en-US" sz="1600" dirty="0"/>
              <a:t>02-21 19:37:30.625   804   929 V C2MtkVdec: Number of instances increased to 4(c2.mtk.vp9.decoder) 	</a:t>
            </a:r>
            <a:endParaRPr lang="en-US" altLang="zh-CN" sz="1600" dirty="0"/>
          </a:p>
          <a:p>
            <a:r>
              <a:rPr lang="zh-CN" altLang="en-US" sz="1600" dirty="0"/>
              <a:t>02-21 19:37:40.376   804 22326 V C2MtkVdec: Number of instances decreased to 3(c2.mtk.vp9.decoder) 	</a:t>
            </a:r>
            <a:endParaRPr lang="en-US" altLang="zh-CN" sz="1600" dirty="0"/>
          </a:p>
          <a:p>
            <a:r>
              <a:rPr lang="zh-CN" altLang="en-US" sz="1600" dirty="0"/>
              <a:t>02-21 19:37:40.398   804  4340 V C2MtkVdec: Number of instances for debug decreased to 3(c2.mtk.vp9.decoder) 	</a:t>
            </a:r>
            <a:endParaRPr lang="en-US" altLang="zh-CN" sz="1600" dirty="0"/>
          </a:p>
          <a:p>
            <a:r>
              <a:rPr lang="zh-CN" altLang="en-US" sz="1600" dirty="0"/>
              <a:t>02-21 19:38:35.470   804 23692 V C2MtkVdec: Number of instances decreased to 2(c2.mtk.vp9.decoder) 	</a:t>
            </a:r>
            <a:endParaRPr lang="en-US" altLang="zh-CN" sz="1600" dirty="0"/>
          </a:p>
          <a:p>
            <a:r>
              <a:rPr lang="zh-CN" altLang="en-US" sz="1600" dirty="0"/>
              <a:t>02-21 19:38:35.509   804  4340 V C2MtkVdec: Number of instances for debug decreased to 2(c2.mtk.vp9.decoder) 	</a:t>
            </a:r>
            <a:endParaRPr lang="en-US" altLang="zh-CN" sz="1600" dirty="0"/>
          </a:p>
          <a:p>
            <a:r>
              <a:rPr lang="zh-CN" altLang="en-US" sz="1600" dirty="0"/>
              <a:t>02-21 19:44:52.052   804   929 V C2MtkVdec: Number of instances increased to 3(c2.mtk.vp9.decoder) 	</a:t>
            </a:r>
            <a:endParaRPr lang="en-US" altLang="zh-CN" sz="1600" dirty="0"/>
          </a:p>
          <a:p>
            <a:r>
              <a:rPr lang="zh-CN" altLang="en-US" sz="1600" dirty="0"/>
              <a:t>02-21 19:45:38.407   804 26804 V C2MtkVdec: Number of instances decreased to 2(c2.mtk.vp9.decoder) 	</a:t>
            </a:r>
            <a:endParaRPr lang="en-US" altLang="zh-CN" sz="1600" dirty="0"/>
          </a:p>
          <a:p>
            <a:r>
              <a:rPr lang="zh-CN" altLang="en-US" sz="1600" dirty="0"/>
              <a:t>02-21 19:45:38.425   804  9942 V C2MtkVdec: Number of instances for debug decreased to 2(c2.mtk.vp9.decoder) </a:t>
            </a:r>
            <a:r>
              <a:rPr lang="en" altLang="zh-CN" sz="1600" dirty="0"/>
              <a:t>	</a:t>
            </a:r>
          </a:p>
          <a:p>
            <a:r>
              <a:rPr lang="en" altLang="zh-CN" sz="1600" dirty="0"/>
              <a:t>02-21 19:49:15.678   804 22326 V C2MtkVdec: Number of instances increased to 3(c2.mtk.vp9.decoder) 	</a:t>
            </a:r>
          </a:p>
          <a:p>
            <a:r>
              <a:rPr lang="en" altLang="zh-CN" sz="1600" dirty="0"/>
              <a:t>02-21 19:50:22.123   804 4340 V C2MtkVdec: Number of instances for debug increased to 3(c2.mtk.vp9.decoder) 	</a:t>
            </a:r>
          </a:p>
          <a:p>
            <a:r>
              <a:rPr lang="en" altLang="zh-CN" sz="1600" dirty="0"/>
              <a:t>02-21 19:51:30.456   804 23692 V C2MtkVdec: Number of instances decreased to 2(c2.mtk.vp9.decoder) 	</a:t>
            </a:r>
          </a:p>
          <a:p>
            <a:r>
              <a:rPr lang="en" altLang="zh-CN" sz="1600" dirty="0"/>
              <a:t>02-21 19:52:45.789   804 9942 V C2MtkVdec: Number of instances for debug decreased to 2(c2.mtk.vp9.decoder) 	</a:t>
            </a:r>
          </a:p>
          <a:p>
            <a:r>
              <a:rPr lang="en" altLang="zh-CN" sz="1600" dirty="0"/>
              <a:t>02-21 19:53:20.012   804 26804 V C2MtkVdec: Number of instances increased to 3(c2.mtk.avc.decoder) 	</a:t>
            </a:r>
          </a:p>
          <a:p>
            <a:r>
              <a:rPr lang="en" altLang="zh-CN" sz="1600" dirty="0"/>
              <a:t>02-21 19:54:35.333   804 30212 V C2MtkVdec: Number of instances decreased to 2(c2.mtk.avc.decoder) 	</a:t>
            </a:r>
          </a:p>
          <a:p>
            <a:r>
              <a:rPr lang="en" altLang="zh-CN" sz="1600" dirty="0"/>
              <a:t>02-21 19:55:40.666   804 929 V C2MtkVdec: Number of instances for debug decreased to 1(c2.mtk.avc.decoder) 	</a:t>
            </a:r>
          </a:p>
          <a:p>
            <a:r>
              <a:rPr lang="en" altLang="zh-CN" sz="1600" dirty="0"/>
              <a:t>02-21 19:56:15.999   804 22326 V C2MtkVdec: Number of instances decreased to 0(c2.mtk.avc.decoder)</a:t>
            </a:r>
            <a:r>
              <a:rPr lang="zh-CN" altLang="en-US" sz="1600" dirty="0"/>
              <a:t>	</a:t>
            </a:r>
            <a:endParaRPr lang="en-US" altLang="zh-CN" sz="1600" dirty="0"/>
          </a:p>
        </p:txBody>
      </p:sp>
      <p:sp>
        <p:nvSpPr>
          <p:cNvPr id="8" name="文本框 7">
            <a:extLst>
              <a:ext uri="{FF2B5EF4-FFF2-40B4-BE49-F238E27FC236}">
                <a16:creationId xmlns:a16="http://schemas.microsoft.com/office/drawing/2014/main" id="{CB1275E4-81F9-D1FF-6A9A-9EA9F6285A8B}"/>
              </a:ext>
            </a:extLst>
          </p:cNvPr>
          <p:cNvSpPr txBox="1"/>
          <p:nvPr/>
        </p:nvSpPr>
        <p:spPr>
          <a:xfrm>
            <a:off x="348764" y="1120141"/>
            <a:ext cx="11494471" cy="369332"/>
          </a:xfrm>
          <a:prstGeom prst="rect">
            <a:avLst/>
          </a:prstGeom>
          <a:noFill/>
        </p:spPr>
        <p:txBody>
          <a:bodyPr wrap="square">
            <a:spAutoFit/>
          </a:bodyPr>
          <a:lstStyle/>
          <a:p>
            <a:r>
              <a:rPr lang="zh-CN" altLang="en-US" dirty="0"/>
              <a:t>（</a:t>
            </a:r>
            <a:r>
              <a:rPr lang="en-US" altLang="zh-CN" dirty="0"/>
              <a:t>1</a:t>
            </a:r>
            <a:r>
              <a:rPr lang="zh-CN" altLang="en-US" dirty="0"/>
              <a:t>）开启aplog后复测拿到日志，通过跟踪编解码实例的数量变化发现静置前所有实例都已经释放了，数量为0。</a:t>
            </a:r>
          </a:p>
        </p:txBody>
      </p:sp>
    </p:spTree>
    <p:extLst>
      <p:ext uri="{BB962C8B-B14F-4D97-AF65-F5344CB8AC3E}">
        <p14:creationId xmlns:p14="http://schemas.microsoft.com/office/powerpoint/2010/main" val="3632273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r>
              <a:rPr lang="zh-CN" altLang="en-US" sz="2400" b="1" spc="100">
                <a:latin typeface="微软雅黑" panose="020B0503020204020204" pitchFamily="34" charset="-122"/>
                <a:ea typeface="微软雅黑" panose="020B0503020204020204" pitchFamily="34" charset="-122"/>
              </a:rPr>
              <a:t>分析过程</a:t>
            </a:r>
            <a:endParaRPr lang="zh-CN" altLang="en-US" sz="2400" b="1" spc="10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AE66C41B-7A9B-7225-6833-A757243358BB}"/>
              </a:ext>
            </a:extLst>
          </p:cNvPr>
          <p:cNvSpPr txBox="1"/>
          <p:nvPr/>
        </p:nvSpPr>
        <p:spPr>
          <a:xfrm>
            <a:off x="417443" y="904784"/>
            <a:ext cx="11502708" cy="1200329"/>
          </a:xfrm>
          <a:prstGeom prst="rect">
            <a:avLst/>
          </a:prstGeom>
          <a:noFill/>
        </p:spPr>
        <p:txBody>
          <a:bodyPr wrap="square">
            <a:spAutoFit/>
          </a:bodyPr>
          <a:lstStyle/>
          <a:p>
            <a:r>
              <a:rPr lang="zh-CN" altLang="en-US" dirty="0"/>
              <a:t>（</a:t>
            </a:r>
            <a:r>
              <a:rPr lang="en-US" altLang="zh-CN" dirty="0"/>
              <a:t>2</a:t>
            </a:r>
            <a:r>
              <a:rPr lang="zh-CN" altLang="en-US" dirty="0"/>
              <a:t>）观察到创建的实例中vp9的视频播放解码器居多，结合历史项目中有出现mtk vp9解码内存泄漏的问题。通过小包去验证发现没有效果（</a:t>
            </a:r>
            <a:r>
              <a:rPr lang="en-US" altLang="zh-CN" dirty="0" err="1"/>
              <a:t>mtk</a:t>
            </a:r>
            <a:r>
              <a:rPr lang="zh-CN" altLang="en-US" dirty="0"/>
              <a:t>的</a:t>
            </a:r>
            <a:r>
              <a:rPr lang="en-US" altLang="zh-CN" dirty="0"/>
              <a:t>vp9</a:t>
            </a:r>
            <a:r>
              <a:rPr lang="zh-CN" altLang="en-US" dirty="0"/>
              <a:t>解码器内存泄露在当前芯片分支上已修复）。 内存泄漏通常会随时间的推移一直不断增大，且会一直上升到一个较大的值。当前的问题从现象上看确实有些不符。（下面是个内存泄露的典型案例） </a:t>
            </a:r>
          </a:p>
        </p:txBody>
      </p:sp>
      <p:pic>
        <p:nvPicPr>
          <p:cNvPr id="1026" name="Picture 2" descr="教程：查找内存泄漏_IntelliJ IDEA 中文网">
            <a:extLst>
              <a:ext uri="{FF2B5EF4-FFF2-40B4-BE49-F238E27FC236}">
                <a16:creationId xmlns:a16="http://schemas.microsoft.com/office/drawing/2014/main" id="{21D3194E-E631-5614-1A4C-164FD7DD65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070" y="2092329"/>
            <a:ext cx="10593859" cy="4454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571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r>
              <a:rPr lang="zh-CN" altLang="en-US" sz="2400" b="1" spc="100">
                <a:latin typeface="微软雅黑" panose="020B0503020204020204" pitchFamily="34" charset="-122"/>
                <a:ea typeface="微软雅黑" panose="020B0503020204020204" pitchFamily="34" charset="-122"/>
              </a:rPr>
              <a:t>分析过程</a:t>
            </a:r>
            <a:endParaRPr lang="zh-CN" altLang="en-US" sz="2400" b="1" spc="10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4A4E2589-7B92-DB5E-9CFC-6276835D9E96}"/>
              </a:ext>
            </a:extLst>
          </p:cNvPr>
          <p:cNvSpPr txBox="1"/>
          <p:nvPr/>
        </p:nvSpPr>
        <p:spPr>
          <a:xfrm>
            <a:off x="417443" y="822406"/>
            <a:ext cx="11510946" cy="923330"/>
          </a:xfrm>
          <a:prstGeom prst="rect">
            <a:avLst/>
          </a:prstGeom>
          <a:noFill/>
        </p:spPr>
        <p:txBody>
          <a:bodyPr wrap="square">
            <a:spAutoFit/>
          </a:bodyPr>
          <a:lstStyle/>
          <a:p>
            <a:r>
              <a:rPr lang="zh-CN" altLang="en-US" dirty="0"/>
              <a:t>（</a:t>
            </a:r>
            <a:r>
              <a:rPr lang="en-US" altLang="zh-CN" dirty="0"/>
              <a:t>3</a:t>
            </a:r>
            <a:r>
              <a:rPr lang="zh-CN" altLang="en-US" dirty="0"/>
              <a:t>）后续本地测试发现必现路径：当编解码业务未结束时，使用kill的方式杀掉应用进程，则编解码进程内存不会正常回落。使用dumpsys meminfo查看异常时的进程内存分布统计： </a:t>
            </a:r>
            <a:endParaRPr lang="en-US" altLang="zh-CN" dirty="0"/>
          </a:p>
          <a:p>
            <a:r>
              <a:rPr lang="zh-CN" altLang="en-US" dirty="0"/>
              <a:t> adb shell dumpsys meminfo $(pidof android.hardware.media.c2-mediatek-64b)</a:t>
            </a:r>
          </a:p>
        </p:txBody>
      </p:sp>
      <p:sp>
        <p:nvSpPr>
          <p:cNvPr id="13" name="文本框 12">
            <a:extLst>
              <a:ext uri="{FF2B5EF4-FFF2-40B4-BE49-F238E27FC236}">
                <a16:creationId xmlns:a16="http://schemas.microsoft.com/office/drawing/2014/main" id="{E496BA61-642B-FCF1-D71A-BB5A20F3BEA2}"/>
              </a:ext>
            </a:extLst>
          </p:cNvPr>
          <p:cNvSpPr txBox="1"/>
          <p:nvPr/>
        </p:nvSpPr>
        <p:spPr>
          <a:xfrm>
            <a:off x="8285206" y="1745736"/>
            <a:ext cx="3393988" cy="2308324"/>
          </a:xfrm>
          <a:prstGeom prst="rect">
            <a:avLst/>
          </a:prstGeom>
          <a:noFill/>
        </p:spPr>
        <p:txBody>
          <a:bodyPr wrap="square">
            <a:spAutoFit/>
          </a:bodyPr>
          <a:lstStyle/>
          <a:p>
            <a:r>
              <a:rPr lang="zh-CN" altLang="en-US" dirty="0"/>
              <a:t>这里注意到，通常应用的正常退出和编解码业务的正常结束后编解码进程的图形相关内存会被全部释放。这里若去除这18M的异常内存则是达标的。而其中的</a:t>
            </a:r>
            <a:r>
              <a:rPr lang="en-US" altLang="zh-CN" dirty="0"/>
              <a:t>Native</a:t>
            </a:r>
            <a:r>
              <a:rPr lang="zh-CN" altLang="en-US" dirty="0"/>
              <a:t> </a:t>
            </a:r>
            <a:r>
              <a:rPr lang="en-US" altLang="zh-CN" dirty="0"/>
              <a:t>Heap</a:t>
            </a:r>
            <a:r>
              <a:rPr lang="zh-CN" altLang="en-US" dirty="0"/>
              <a:t>内存也比开机高出了一倍多。进一步查看进程内存的详细分布。</a:t>
            </a:r>
          </a:p>
        </p:txBody>
      </p:sp>
      <p:pic>
        <p:nvPicPr>
          <p:cNvPr id="16" name="图片 15">
            <a:extLst>
              <a:ext uri="{FF2B5EF4-FFF2-40B4-BE49-F238E27FC236}">
                <a16:creationId xmlns:a16="http://schemas.microsoft.com/office/drawing/2014/main" id="{6856F670-6DDE-5E14-F56F-A7593E5B8CC0}"/>
              </a:ext>
            </a:extLst>
          </p:cNvPr>
          <p:cNvPicPr>
            <a:picLocks noChangeAspect="1"/>
          </p:cNvPicPr>
          <p:nvPr/>
        </p:nvPicPr>
        <p:blipFill>
          <a:blip r:embed="rId2"/>
          <a:stretch>
            <a:fillRect/>
          </a:stretch>
        </p:blipFill>
        <p:spPr>
          <a:xfrm>
            <a:off x="512806" y="1745736"/>
            <a:ext cx="7467600" cy="4960427"/>
          </a:xfrm>
          <a:prstGeom prst="rect">
            <a:avLst/>
          </a:prstGeom>
        </p:spPr>
      </p:pic>
    </p:spTree>
    <p:extLst>
      <p:ext uri="{BB962C8B-B14F-4D97-AF65-F5344CB8AC3E}">
        <p14:creationId xmlns:p14="http://schemas.microsoft.com/office/powerpoint/2010/main" val="2640819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r>
              <a:rPr lang="zh-CN" altLang="en-US" sz="2400" b="1" spc="100">
                <a:latin typeface="微软雅黑" panose="020B0503020204020204" pitchFamily="34" charset="-122"/>
                <a:ea typeface="微软雅黑" panose="020B0503020204020204" pitchFamily="34" charset="-122"/>
              </a:rPr>
              <a:t>分析过程</a:t>
            </a:r>
            <a:endParaRPr lang="zh-CN" altLang="en-US" sz="2400" b="1" spc="100" dirty="0">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5A38D2E3-5969-50BC-8079-09FF07EBE1CC}"/>
              </a:ext>
            </a:extLst>
          </p:cNvPr>
          <p:cNvGraphicFramePr>
            <a:graphicFrameLocks noGrp="1"/>
          </p:cNvGraphicFramePr>
          <p:nvPr>
            <p:extLst>
              <p:ext uri="{D42A27DB-BD31-4B8C-83A1-F6EECF244321}">
                <p14:modId xmlns:p14="http://schemas.microsoft.com/office/powerpoint/2010/main" val="3872786283"/>
              </p:ext>
            </p:extLst>
          </p:nvPr>
        </p:nvGraphicFramePr>
        <p:xfrm>
          <a:off x="417443" y="2203725"/>
          <a:ext cx="11269768" cy="4394789"/>
        </p:xfrm>
        <a:graphic>
          <a:graphicData uri="http://schemas.openxmlformats.org/drawingml/2006/table">
            <a:tbl>
              <a:tblPr/>
              <a:tblGrid>
                <a:gridCol w="2624153">
                  <a:extLst>
                    <a:ext uri="{9D8B030D-6E8A-4147-A177-3AD203B41FA5}">
                      <a16:colId xmlns:a16="http://schemas.microsoft.com/office/drawing/2014/main" val="1733743733"/>
                    </a:ext>
                  </a:extLst>
                </a:gridCol>
                <a:gridCol w="8645615">
                  <a:extLst>
                    <a:ext uri="{9D8B030D-6E8A-4147-A177-3AD203B41FA5}">
                      <a16:colId xmlns:a16="http://schemas.microsoft.com/office/drawing/2014/main" val="525565848"/>
                    </a:ext>
                  </a:extLst>
                </a:gridCol>
              </a:tblGrid>
              <a:tr h="367159">
                <a:tc>
                  <a:txBody>
                    <a:bodyPr/>
                    <a:lstStyle/>
                    <a:p>
                      <a:pPr algn="l"/>
                      <a:r>
                        <a:rPr lang="zh-CN" altLang="en-US" sz="1100" b="1" dirty="0">
                          <a:solidFill>
                            <a:srgbClr val="404040"/>
                          </a:solidFill>
                          <a:effectLst/>
                        </a:rPr>
                        <a:t>类别名称</a:t>
                      </a:r>
                    </a:p>
                  </a:txBody>
                  <a:tcPr marL="54448" marR="56717" marT="56717" marB="56717" anchor="ctr">
                    <a:lnL>
                      <a:noFill/>
                    </a:lnL>
                    <a:lnR>
                      <a:noFill/>
                    </a:lnR>
                    <a:lnT>
                      <a:noFill/>
                    </a:lnT>
                    <a:lnB w="9525" cap="flat" cmpd="sng" algn="ctr">
                      <a:solidFill>
                        <a:srgbClr val="BBBBBB"/>
                      </a:solidFill>
                      <a:prstDash val="solid"/>
                      <a:round/>
                      <a:headEnd type="none" w="med" len="med"/>
                      <a:tailEnd type="none" w="med" len="med"/>
                    </a:lnB>
                    <a:solidFill>
                      <a:srgbClr val="FFFFFF"/>
                    </a:solidFill>
                  </a:tcPr>
                </a:tc>
                <a:tc>
                  <a:txBody>
                    <a:bodyPr/>
                    <a:lstStyle/>
                    <a:p>
                      <a:pPr algn="l"/>
                      <a:r>
                        <a:rPr lang="zh-CN" altLang="en-US" sz="1100" b="1">
                          <a:solidFill>
                            <a:srgbClr val="404040"/>
                          </a:solidFill>
                          <a:effectLst/>
                        </a:rPr>
                        <a:t>说明</a:t>
                      </a:r>
                      <a:endParaRPr lang="zh-CN" altLang="en-US" sz="1100" b="1" dirty="0">
                        <a:solidFill>
                          <a:srgbClr val="404040"/>
                        </a:solidFill>
                        <a:effectLst/>
                      </a:endParaRPr>
                    </a:p>
                  </a:txBody>
                  <a:tcPr marL="56717" marR="56717" marT="56717" marB="56717" anchor="ctr">
                    <a:lnL>
                      <a:noFill/>
                    </a:lnL>
                    <a:lnR>
                      <a:noFill/>
                    </a:lnR>
                    <a:lnT>
                      <a:noFill/>
                    </a:lnT>
                    <a:lnB w="9525" cap="flat" cmpd="sng" algn="ctr">
                      <a:solidFill>
                        <a:srgbClr val="BBBBBB"/>
                      </a:solidFill>
                      <a:prstDash val="solid"/>
                      <a:round/>
                      <a:headEnd type="none" w="med" len="med"/>
                      <a:tailEnd type="none" w="med" len="med"/>
                    </a:lnB>
                    <a:solidFill>
                      <a:srgbClr val="FFFFFF"/>
                    </a:solidFill>
                  </a:tcPr>
                </a:tc>
                <a:extLst>
                  <a:ext uri="{0D108BD9-81ED-4DB2-BD59-A6C34878D82A}">
                    <a16:rowId xmlns:a16="http://schemas.microsoft.com/office/drawing/2014/main" val="1786881120"/>
                  </a:ext>
                </a:extLst>
              </a:tr>
              <a:tr h="411664">
                <a:tc>
                  <a:txBody>
                    <a:bodyPr/>
                    <a:lstStyle/>
                    <a:p>
                      <a:r>
                        <a:rPr lang="en" sz="1100" b="1" dirty="0">
                          <a:effectLst/>
                        </a:rPr>
                        <a:t>Native Heap</a:t>
                      </a:r>
                      <a:endParaRPr lang="en" sz="1100" dirty="0">
                        <a:effectLst/>
                      </a:endParaRPr>
                    </a:p>
                  </a:txBody>
                  <a:tcPr marL="54448" marR="56717" marT="56717" marB="56717" anchor="ctr">
                    <a:lnL>
                      <a:noFill/>
                    </a:lnL>
                    <a:lnR>
                      <a:noFill/>
                    </a:lnR>
                    <a:lnT w="9525" cap="flat" cmpd="sng" algn="ctr">
                      <a:solidFill>
                        <a:srgbClr val="BBBBBB"/>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zh-CN" altLang="en-US" sz="1100" dirty="0">
                          <a:effectLst/>
                        </a:rPr>
                        <a:t>由 </a:t>
                      </a:r>
                      <a:r>
                        <a:rPr lang="en" sz="1100" b="1" dirty="0">
                          <a:effectLst/>
                        </a:rPr>
                        <a:t>C/C++</a:t>
                      </a:r>
                      <a:r>
                        <a:rPr lang="en" sz="1100" dirty="0">
                          <a:effectLst/>
                        </a:rPr>
                        <a:t> </a:t>
                      </a:r>
                      <a:r>
                        <a:rPr lang="zh-CN" altLang="en-US" sz="1100" dirty="0">
                          <a:effectLst/>
                        </a:rPr>
                        <a:t>代码（如 </a:t>
                      </a:r>
                      <a:r>
                        <a:rPr lang="en" sz="1100" dirty="0">
                          <a:effectLst/>
                        </a:rPr>
                        <a:t>malloc </a:t>
                      </a:r>
                      <a:r>
                        <a:rPr lang="zh-CN" altLang="en-US" sz="1100" dirty="0">
                          <a:effectLst/>
                        </a:rPr>
                        <a:t>或 </a:t>
                      </a:r>
                      <a:r>
                        <a:rPr lang="en" sz="1100" dirty="0">
                          <a:effectLst/>
                        </a:rPr>
                        <a:t>new）</a:t>
                      </a:r>
                      <a:r>
                        <a:rPr lang="zh-CN" altLang="en-US" sz="1100" dirty="0">
                          <a:effectLst/>
                        </a:rPr>
                        <a:t>分配的内存，属于进程独占。</a:t>
                      </a:r>
                    </a:p>
                  </a:txBody>
                  <a:tcPr marL="56717" marR="56717" marT="56717" marB="56717" anchor="ctr">
                    <a:lnL>
                      <a:noFill/>
                    </a:lnL>
                    <a:lnR>
                      <a:noFill/>
                    </a:lnR>
                    <a:lnT w="9525" cap="flat" cmpd="sng" algn="ctr">
                      <a:solidFill>
                        <a:srgbClr val="BBBBBB"/>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22436345"/>
                  </a:ext>
                </a:extLst>
              </a:tr>
              <a:tr h="411664">
                <a:tc>
                  <a:txBody>
                    <a:bodyPr/>
                    <a:lstStyle/>
                    <a:p>
                      <a:r>
                        <a:rPr lang="en" sz="1100" b="1">
                          <a:effectLst/>
                        </a:rPr>
                        <a:t>Dalvik Heap</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zh-CN" altLang="en-US" sz="1100">
                          <a:effectLst/>
                        </a:rPr>
                        <a:t>由 </a:t>
                      </a:r>
                      <a:r>
                        <a:rPr lang="en" sz="1100" b="1">
                          <a:effectLst/>
                        </a:rPr>
                        <a:t>Java/Kotlin</a:t>
                      </a:r>
                      <a:r>
                        <a:rPr lang="en" sz="1100">
                          <a:effectLst/>
                        </a:rPr>
                        <a:t> </a:t>
                      </a:r>
                      <a:r>
                        <a:rPr lang="zh-CN" altLang="en-US" sz="1100">
                          <a:effectLst/>
                        </a:rPr>
                        <a:t>对象分配的内存（</a:t>
                      </a:r>
                      <a:r>
                        <a:rPr lang="en" sz="1100">
                          <a:effectLst/>
                        </a:rPr>
                        <a:t>Android 5.0 </a:t>
                      </a:r>
                      <a:r>
                        <a:rPr lang="zh-CN" altLang="en-US" sz="1100">
                          <a:effectLst/>
                        </a:rPr>
                        <a:t>前使用，现为 </a:t>
                      </a:r>
                      <a:r>
                        <a:rPr lang="en" sz="1100">
                          <a:effectLst/>
                        </a:rPr>
                        <a:t>ART Heap）。</a:t>
                      </a:r>
                      <a:endParaRPr lang="en" sz="1100" dirty="0">
                        <a:effectLst/>
                      </a:endParaRP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373129633"/>
                  </a:ext>
                </a:extLst>
              </a:tr>
              <a:tr h="411664">
                <a:tc>
                  <a:txBody>
                    <a:bodyPr/>
                    <a:lstStyle/>
                    <a:p>
                      <a:r>
                        <a:rPr lang="en" sz="1100" b="1">
                          <a:effectLst/>
                        </a:rPr>
                        <a:t>Stack</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zh-CN" altLang="en-US" sz="1100" dirty="0">
                          <a:effectLst/>
                        </a:rPr>
                        <a:t>线程栈内存，每个线程的栈空间（通常较小但线程多时会累积）。</a:t>
                      </a: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3546259340"/>
                  </a:ext>
                </a:extLst>
              </a:tr>
              <a:tr h="411664">
                <a:tc>
                  <a:txBody>
                    <a:bodyPr/>
                    <a:lstStyle/>
                    <a:p>
                      <a:r>
                        <a:rPr lang="en" sz="1100" b="1">
                          <a:effectLst/>
                        </a:rPr>
                        <a:t>Ashmem</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en" sz="1100" dirty="0">
                          <a:effectLst/>
                        </a:rPr>
                        <a:t>Android </a:t>
                      </a:r>
                      <a:r>
                        <a:rPr lang="zh-CN" altLang="en-US" sz="1100" dirty="0">
                          <a:effectLst/>
                        </a:rPr>
                        <a:t>共享内存（</a:t>
                      </a:r>
                      <a:r>
                        <a:rPr lang="en" sz="1100" dirty="0">
                          <a:effectLst/>
                        </a:rPr>
                        <a:t>Anonymous Shared Memory），</a:t>
                      </a:r>
                      <a:r>
                        <a:rPr lang="zh-CN" altLang="en-US" sz="1100" dirty="0">
                          <a:effectLst/>
                        </a:rPr>
                        <a:t>用于进程间大数据共享。</a:t>
                      </a: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42286050"/>
                  </a:ext>
                </a:extLst>
              </a:tr>
              <a:tr h="411664">
                <a:tc>
                  <a:txBody>
                    <a:bodyPr/>
                    <a:lstStyle/>
                    <a:p>
                      <a:r>
                        <a:rPr lang="en" sz="1100" b="1">
                          <a:effectLst/>
                        </a:rPr>
                        <a:t>Other dev</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zh-CN" altLang="en-US" sz="1100">
                          <a:effectLst/>
                        </a:rPr>
                        <a:t>其他设备映射的内存（如 </a:t>
                      </a:r>
                      <a:r>
                        <a:rPr lang="en" sz="1100">
                          <a:effectLst/>
                        </a:rPr>
                        <a:t>GPU、</a:t>
                      </a:r>
                      <a:r>
                        <a:rPr lang="zh-CN" altLang="en-US" sz="1100">
                          <a:effectLst/>
                        </a:rPr>
                        <a:t>传感器等驱动的内存占用）。</a:t>
                      </a:r>
                      <a:endParaRPr lang="zh-CN" altLang="en-US" sz="1100" dirty="0">
                        <a:effectLst/>
                      </a:endParaRP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2798771193"/>
                  </a:ext>
                </a:extLst>
              </a:tr>
              <a:tr h="411664">
                <a:tc>
                  <a:txBody>
                    <a:bodyPr/>
                    <a:lstStyle/>
                    <a:p>
                      <a:r>
                        <a:rPr lang="en" sz="1100" b="1">
                          <a:effectLst/>
                        </a:rPr>
                        <a:t>.so mmap</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zh-CN" altLang="en-US" sz="1100">
                          <a:effectLst/>
                        </a:rPr>
                        <a:t>动态链接库（如 </a:t>
                      </a:r>
                      <a:r>
                        <a:rPr lang="en-US" altLang="zh-CN" sz="1100">
                          <a:effectLst/>
                        </a:rPr>
                        <a:t>.</a:t>
                      </a:r>
                      <a:r>
                        <a:rPr lang="en" sz="1100">
                          <a:effectLst/>
                        </a:rPr>
                        <a:t>so </a:t>
                      </a:r>
                      <a:r>
                        <a:rPr lang="zh-CN" altLang="en-US" sz="1100">
                          <a:effectLst/>
                        </a:rPr>
                        <a:t>文件）的内存映射，包含代码和只读数据。</a:t>
                      </a:r>
                      <a:endParaRPr lang="zh-CN" altLang="en-US" sz="1100" dirty="0">
                        <a:effectLst/>
                      </a:endParaRP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3040423949"/>
                  </a:ext>
                </a:extLst>
              </a:tr>
              <a:tr h="367159">
                <a:tc>
                  <a:txBody>
                    <a:bodyPr/>
                    <a:lstStyle/>
                    <a:p>
                      <a:r>
                        <a:rPr lang="en" sz="1100" b="1">
                          <a:effectLst/>
                        </a:rPr>
                        <a:t>Other mmap</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zh-CN" altLang="en-US" sz="1100">
                          <a:effectLst/>
                        </a:rPr>
                        <a:t>其他文件或匿名内存映射（非 </a:t>
                      </a:r>
                      <a:r>
                        <a:rPr lang="en-US" altLang="zh-CN" sz="1100">
                          <a:effectLst/>
                        </a:rPr>
                        <a:t>.</a:t>
                      </a:r>
                      <a:r>
                        <a:rPr lang="en" sz="1100">
                          <a:effectLst/>
                        </a:rPr>
                        <a:t>so </a:t>
                      </a:r>
                      <a:r>
                        <a:rPr lang="zh-CN" altLang="en-US" sz="1100">
                          <a:effectLst/>
                        </a:rPr>
                        <a:t>文件）。</a:t>
                      </a:r>
                      <a:endParaRPr lang="zh-CN" altLang="en-US" sz="1100" dirty="0">
                        <a:effectLst/>
                      </a:endParaRP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023018759"/>
                  </a:ext>
                </a:extLst>
              </a:tr>
              <a:tr h="411664">
                <a:tc>
                  <a:txBody>
                    <a:bodyPr/>
                    <a:lstStyle/>
                    <a:p>
                      <a:r>
                        <a:rPr lang="en" sz="1100" b="1">
                          <a:effectLst/>
                        </a:rPr>
                        <a:t>EGL mtrack</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en" sz="1100" dirty="0">
                          <a:effectLst/>
                        </a:rPr>
                        <a:t>GPU </a:t>
                      </a:r>
                      <a:r>
                        <a:rPr lang="zh-CN" altLang="en-US" sz="1100" dirty="0">
                          <a:effectLst/>
                        </a:rPr>
                        <a:t>图形相关内存（如纹理、帧缓冲区），通常由 </a:t>
                      </a:r>
                      <a:r>
                        <a:rPr lang="en" sz="1100" dirty="0" err="1">
                          <a:effectLst/>
                        </a:rPr>
                        <a:t>SurfaceFlinger</a:t>
                      </a:r>
                      <a:r>
                        <a:rPr lang="en" sz="1100" dirty="0">
                          <a:effectLst/>
                        </a:rPr>
                        <a:t> </a:t>
                      </a:r>
                      <a:r>
                        <a:rPr lang="zh-CN" altLang="en-US" sz="1100" dirty="0">
                          <a:effectLst/>
                        </a:rPr>
                        <a:t>管理。</a:t>
                      </a: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1469991137"/>
                  </a:ext>
                </a:extLst>
              </a:tr>
              <a:tr h="411664">
                <a:tc>
                  <a:txBody>
                    <a:bodyPr/>
                    <a:lstStyle/>
                    <a:p>
                      <a:r>
                        <a:rPr lang="en" sz="1100" b="1">
                          <a:effectLst/>
                        </a:rPr>
                        <a:t>Unknown</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zh-CN" altLang="en-US" sz="1100">
                          <a:effectLst/>
                        </a:rPr>
                        <a:t>无法明确分类的内存（可能来自内核或未统计的 </a:t>
                      </a:r>
                      <a:r>
                        <a:rPr lang="en" sz="1100">
                          <a:effectLst/>
                        </a:rPr>
                        <a:t>Native </a:t>
                      </a:r>
                      <a:r>
                        <a:rPr lang="zh-CN" altLang="en-US" sz="1100">
                          <a:effectLst/>
                        </a:rPr>
                        <a:t>分配）。</a:t>
                      </a:r>
                      <a:endParaRPr lang="zh-CN" altLang="en-US" sz="1100" dirty="0">
                        <a:effectLst/>
                      </a:endParaRP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85522429"/>
                  </a:ext>
                </a:extLst>
              </a:tr>
              <a:tr h="367159">
                <a:tc>
                  <a:txBody>
                    <a:bodyPr/>
                    <a:lstStyle/>
                    <a:p>
                      <a:r>
                        <a:rPr lang="en" sz="1100" b="1">
                          <a:effectLst/>
                        </a:rPr>
                        <a:t>TOTAL</a:t>
                      </a:r>
                      <a:endParaRPr lang="en" sz="1100">
                        <a:effectLst/>
                      </a:endParaRPr>
                    </a:p>
                  </a:txBody>
                  <a:tcPr marL="54448"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r>
                        <a:rPr lang="zh-CN" altLang="en-US" sz="1100" dirty="0">
                          <a:effectLst/>
                        </a:rPr>
                        <a:t>所有类别的内存总和（</a:t>
                      </a:r>
                      <a:r>
                        <a:rPr lang="en" sz="1100" dirty="0">
                          <a:effectLst/>
                        </a:rPr>
                        <a:t>PSS/RSS/</a:t>
                      </a:r>
                      <a:r>
                        <a:rPr lang="en" sz="1100" dirty="0" err="1">
                          <a:effectLst/>
                        </a:rPr>
                        <a:t>SwapPSS</a:t>
                      </a:r>
                      <a:r>
                        <a:rPr lang="en" sz="1100" dirty="0">
                          <a:effectLst/>
                        </a:rPr>
                        <a:t> </a:t>
                      </a:r>
                      <a:r>
                        <a:rPr lang="zh-CN" altLang="en-US" sz="1100" dirty="0">
                          <a:effectLst/>
                        </a:rPr>
                        <a:t>等）。</a:t>
                      </a:r>
                    </a:p>
                  </a:txBody>
                  <a:tcPr marL="56717" marR="56717" marT="56717" marB="56717" anchor="ctr">
                    <a:lnL>
                      <a:noFill/>
                    </a:lnL>
                    <a:lnR>
                      <a:noFill/>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extLst>
                  <a:ext uri="{0D108BD9-81ED-4DB2-BD59-A6C34878D82A}">
                    <a16:rowId xmlns:a16="http://schemas.microsoft.com/office/drawing/2014/main" val="2118926441"/>
                  </a:ext>
                </a:extLst>
              </a:tr>
            </a:tbl>
          </a:graphicData>
        </a:graphic>
      </p:graphicFrame>
      <p:sp>
        <p:nvSpPr>
          <p:cNvPr id="7" name="文本框 6">
            <a:extLst>
              <a:ext uri="{FF2B5EF4-FFF2-40B4-BE49-F238E27FC236}">
                <a16:creationId xmlns:a16="http://schemas.microsoft.com/office/drawing/2014/main" id="{A8815C79-CD63-6996-7AD7-0DC3D540A09E}"/>
              </a:ext>
            </a:extLst>
          </p:cNvPr>
          <p:cNvSpPr txBox="1"/>
          <p:nvPr/>
        </p:nvSpPr>
        <p:spPr>
          <a:xfrm>
            <a:off x="313329" y="714796"/>
            <a:ext cx="11477995" cy="1477328"/>
          </a:xfrm>
          <a:prstGeom prst="rect">
            <a:avLst/>
          </a:prstGeom>
          <a:noFill/>
        </p:spPr>
        <p:txBody>
          <a:bodyPr wrap="square">
            <a:spAutoFit/>
          </a:bodyPr>
          <a:lstStyle/>
          <a:p>
            <a:r>
              <a:rPr lang="zh-CN" altLang="en-US" dirty="0"/>
              <a:t>在 </a:t>
            </a:r>
            <a:r>
              <a:rPr lang="en" altLang="zh-CN" dirty="0"/>
              <a:t>Android </a:t>
            </a:r>
            <a:r>
              <a:rPr lang="zh-CN" altLang="en-US" dirty="0"/>
              <a:t>内存分析中，</a:t>
            </a:r>
            <a:r>
              <a:rPr lang="en" altLang="zh-CN" dirty="0"/>
              <a:t>RSS</a:t>
            </a:r>
            <a:r>
              <a:rPr lang="zh-CN" altLang="en" dirty="0"/>
              <a:t>（</a:t>
            </a:r>
            <a:r>
              <a:rPr lang="en" altLang="zh-CN" dirty="0"/>
              <a:t>Resident Set Size</a:t>
            </a:r>
            <a:r>
              <a:rPr lang="zh-CN" altLang="en" dirty="0"/>
              <a:t>）</a:t>
            </a:r>
            <a:r>
              <a:rPr lang="en" altLang="zh-CN" dirty="0"/>
              <a:t> </a:t>
            </a:r>
            <a:r>
              <a:rPr lang="zh-CN" altLang="en-US" dirty="0"/>
              <a:t>表示进程实际占用的物理内存总量，包括独占内存和共享库，但会因共享内存重复计算而高估实际占用；</a:t>
            </a:r>
            <a:r>
              <a:rPr lang="en" altLang="zh-CN" dirty="0"/>
              <a:t>PSS</a:t>
            </a:r>
            <a:r>
              <a:rPr lang="zh-CN" altLang="en" dirty="0"/>
              <a:t>（</a:t>
            </a:r>
            <a:r>
              <a:rPr lang="en" altLang="zh-CN" dirty="0"/>
              <a:t>Proportional Set Size</a:t>
            </a:r>
            <a:r>
              <a:rPr lang="zh-CN" altLang="en" dirty="0"/>
              <a:t>）</a:t>
            </a:r>
            <a:r>
              <a:rPr lang="en" altLang="zh-CN" dirty="0"/>
              <a:t> </a:t>
            </a:r>
            <a:r>
              <a:rPr lang="zh-CN" altLang="en-US" dirty="0"/>
              <a:t>通过按进程数分摊共享内存，更精准反映真实内存负担，适合评估系统整体内存压力；</a:t>
            </a:r>
            <a:r>
              <a:rPr lang="en" altLang="zh-CN" dirty="0"/>
              <a:t>USS</a:t>
            </a:r>
            <a:r>
              <a:rPr lang="zh-CN" altLang="en" dirty="0"/>
              <a:t>（</a:t>
            </a:r>
            <a:r>
              <a:rPr lang="en" altLang="zh-CN" dirty="0"/>
              <a:t>Unique Set Size</a:t>
            </a:r>
            <a:r>
              <a:rPr lang="zh-CN" altLang="en" dirty="0"/>
              <a:t>）</a:t>
            </a:r>
            <a:r>
              <a:rPr lang="en" altLang="zh-CN" dirty="0"/>
              <a:t> </a:t>
            </a:r>
            <a:r>
              <a:rPr lang="zh-CN" altLang="en-US" dirty="0"/>
              <a:t>则仅计算进程独占的内存，直接对应进程释放后可回收的内存空间。三者的关系为 </a:t>
            </a:r>
            <a:r>
              <a:rPr lang="en" altLang="zh-CN" dirty="0"/>
              <a:t>RSS ≥ PSS ≥ USS</a:t>
            </a:r>
            <a:r>
              <a:rPr lang="zh-CN" altLang="en" dirty="0"/>
              <a:t>：</a:t>
            </a:r>
            <a:r>
              <a:rPr lang="en" altLang="zh-CN" dirty="0"/>
              <a:t>RSS </a:t>
            </a:r>
            <a:r>
              <a:rPr lang="zh-CN" altLang="en-US" dirty="0"/>
              <a:t>包含全部共享内存，</a:t>
            </a:r>
            <a:r>
              <a:rPr lang="en" altLang="zh-CN" dirty="0"/>
              <a:t>PSS </a:t>
            </a:r>
            <a:r>
              <a:rPr lang="zh-CN" altLang="en-US" dirty="0"/>
              <a:t>均摊后更合理，而 </a:t>
            </a:r>
            <a:r>
              <a:rPr lang="en" altLang="zh-CN" dirty="0"/>
              <a:t>USS </a:t>
            </a:r>
            <a:r>
              <a:rPr lang="zh-CN" altLang="en-US" dirty="0"/>
              <a:t>聚焦进程独占总和。</a:t>
            </a:r>
          </a:p>
        </p:txBody>
      </p:sp>
    </p:spTree>
    <p:extLst>
      <p:ext uri="{BB962C8B-B14F-4D97-AF65-F5344CB8AC3E}">
        <p14:creationId xmlns:p14="http://schemas.microsoft.com/office/powerpoint/2010/main" val="258216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1382EF3-62EB-1B0E-BB19-F732CE44B6A9}"/>
              </a:ext>
            </a:extLst>
          </p:cNvPr>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分析过程</a:t>
            </a:r>
          </a:p>
        </p:txBody>
      </p:sp>
      <p:sp>
        <p:nvSpPr>
          <p:cNvPr id="5" name="矩形 4">
            <a:extLst>
              <a:ext uri="{FF2B5EF4-FFF2-40B4-BE49-F238E27FC236}">
                <a16:creationId xmlns:a16="http://schemas.microsoft.com/office/drawing/2014/main" id="{A10EFFD7-7ABA-695D-20F6-8CD6401AF754}"/>
              </a:ext>
            </a:extLst>
          </p:cNvPr>
          <p:cNvSpPr/>
          <p:nvPr/>
        </p:nvSpPr>
        <p:spPr>
          <a:xfrm>
            <a:off x="355107" y="809572"/>
            <a:ext cx="11505459" cy="1295868"/>
          </a:xfrm>
          <a:prstGeom prst="rect">
            <a:avLst/>
          </a:prstGeom>
        </p:spPr>
        <p:txBody>
          <a:bodyPr wrap="square">
            <a:spAutoFit/>
          </a:bodyPr>
          <a:lstStyle/>
          <a:p>
            <a:pPr>
              <a:lnSpc>
                <a:spcPct val="150000"/>
              </a:lnSpc>
            </a:pPr>
            <a:r>
              <a:rPr lang="zh-CN" altLang="en-US" dirty="0"/>
              <a:t>先查看编解码进程虚拟地址空间映射，其中</a:t>
            </a:r>
            <a:r>
              <a:rPr lang="en-US" altLang="zh-CN" dirty="0"/>
              <a:t>[</a:t>
            </a:r>
            <a:r>
              <a:rPr lang="en-US" altLang="zh-CN" dirty="0" err="1"/>
              <a:t>anon:scudo:primary</a:t>
            </a:r>
            <a:r>
              <a:rPr lang="en-US" altLang="zh-CN" dirty="0"/>
              <a:t>] </a:t>
            </a:r>
            <a:r>
              <a:rPr lang="zh-CN" altLang="en-US" dirty="0"/>
              <a:t>是 </a:t>
            </a:r>
            <a:r>
              <a:rPr lang="en-US" altLang="zh-CN" dirty="0"/>
              <a:t>Android </a:t>
            </a:r>
            <a:r>
              <a:rPr lang="zh-CN" altLang="en-US" dirty="0"/>
              <a:t>内存映射中由 </a:t>
            </a:r>
            <a:r>
              <a:rPr lang="en-US" altLang="zh-CN" dirty="0"/>
              <a:t>Scudo </a:t>
            </a:r>
            <a:r>
              <a:rPr lang="zh-CN" altLang="en-US" dirty="0"/>
              <a:t>分配器管理的主堆内存区域。该值占比最高，相比于开机时有一倍多的残留，但不是该问题的根本原因。</a:t>
            </a:r>
            <a:endParaRPr lang="en-US" altLang="zh-CN" dirty="0"/>
          </a:p>
          <a:p>
            <a:pPr>
              <a:lnSpc>
                <a:spcPct val="150000"/>
              </a:lnSpc>
            </a:pPr>
            <a:r>
              <a:rPr lang="en-US" altLang="zh-CN" dirty="0" err="1"/>
              <a:t>adb</a:t>
            </a:r>
            <a:r>
              <a:rPr lang="en-US" altLang="zh-CN" dirty="0"/>
              <a:t> shell </a:t>
            </a:r>
            <a:r>
              <a:rPr lang="en-US" altLang="zh-CN" dirty="0" err="1"/>
              <a:t>showmap</a:t>
            </a:r>
            <a:r>
              <a:rPr lang="en-US" altLang="zh-CN" dirty="0"/>
              <a:t> $(</a:t>
            </a:r>
            <a:r>
              <a:rPr lang="en-US" altLang="zh-CN" dirty="0" err="1"/>
              <a:t>pidof</a:t>
            </a:r>
            <a:r>
              <a:rPr lang="en-US" altLang="zh-CN" dirty="0"/>
              <a:t> android.hardware.media.c2-mediatek-64b)</a:t>
            </a:r>
          </a:p>
        </p:txBody>
      </p:sp>
      <p:sp>
        <p:nvSpPr>
          <p:cNvPr id="3" name="文本框 2">
            <a:extLst>
              <a:ext uri="{FF2B5EF4-FFF2-40B4-BE49-F238E27FC236}">
                <a16:creationId xmlns:a16="http://schemas.microsoft.com/office/drawing/2014/main" id="{27BE8636-4734-E857-AB6B-95754CA76E45}"/>
              </a:ext>
            </a:extLst>
          </p:cNvPr>
          <p:cNvSpPr txBox="1"/>
          <p:nvPr/>
        </p:nvSpPr>
        <p:spPr>
          <a:xfrm>
            <a:off x="9336157" y="2494443"/>
            <a:ext cx="2438400" cy="2537874"/>
          </a:xfrm>
          <a:prstGeom prst="rect">
            <a:avLst/>
          </a:prstGeom>
          <a:noFill/>
        </p:spPr>
        <p:txBody>
          <a:bodyPr wrap="square">
            <a:spAutoFit/>
          </a:bodyPr>
          <a:lstStyle/>
          <a:p>
            <a:pPr>
              <a:lnSpc>
                <a:spcPct val="150000"/>
              </a:lnSpc>
            </a:pPr>
            <a:r>
              <a:rPr lang="zh-CN" altLang="en-US" dirty="0"/>
              <a:t>优化这部分增加的内存可借鉴历</a:t>
            </a:r>
            <a:r>
              <a:rPr lang="en-US" altLang="zh-CN" dirty="0"/>
              <a:t>M639</a:t>
            </a:r>
            <a:r>
              <a:rPr lang="zh-CN" altLang="en-US" dirty="0"/>
              <a:t>中的</a:t>
            </a:r>
            <a:r>
              <a:rPr lang="en-US" altLang="zh-CN" dirty="0" err="1"/>
              <a:t>mediaserver</a:t>
            </a:r>
            <a:r>
              <a:rPr lang="zh-CN" altLang="en-US" dirty="0"/>
              <a:t>内存优化方案（使用</a:t>
            </a:r>
            <a:r>
              <a:rPr lang="en" altLang="zh-CN" dirty="0" err="1"/>
              <a:t>mallopt</a:t>
            </a:r>
            <a:r>
              <a:rPr lang="en" altLang="zh-CN" dirty="0"/>
              <a:t> </a:t>
            </a:r>
            <a:r>
              <a:rPr lang="zh-CN" altLang="en" dirty="0"/>
              <a:t>回收</a:t>
            </a:r>
            <a:r>
              <a:rPr lang="en-US" altLang="zh-CN" dirty="0"/>
              <a:t>[</a:t>
            </a:r>
            <a:r>
              <a:rPr lang="en-US" altLang="zh-CN" dirty="0" err="1"/>
              <a:t>anon:scudo:primary</a:t>
            </a:r>
            <a:r>
              <a:rPr lang="en-US" altLang="zh-CN" dirty="0"/>
              <a:t>]</a:t>
            </a:r>
            <a:r>
              <a:rPr lang="zh-CN" altLang="en-US" dirty="0"/>
              <a:t>部分内存）。</a:t>
            </a:r>
            <a:endParaRPr lang="en-US" altLang="zh-CN" dirty="0"/>
          </a:p>
        </p:txBody>
      </p:sp>
      <p:pic>
        <p:nvPicPr>
          <p:cNvPr id="7" name="图片 6">
            <a:extLst>
              <a:ext uri="{FF2B5EF4-FFF2-40B4-BE49-F238E27FC236}">
                <a16:creationId xmlns:a16="http://schemas.microsoft.com/office/drawing/2014/main" id="{31E08AB6-0837-27DA-BD15-204CDC7BCF32}"/>
              </a:ext>
            </a:extLst>
          </p:cNvPr>
          <p:cNvPicPr>
            <a:picLocks noChangeAspect="1"/>
          </p:cNvPicPr>
          <p:nvPr/>
        </p:nvPicPr>
        <p:blipFill>
          <a:blip r:embed="rId2"/>
          <a:stretch>
            <a:fillRect/>
          </a:stretch>
        </p:blipFill>
        <p:spPr>
          <a:xfrm>
            <a:off x="417443" y="2393967"/>
            <a:ext cx="8655908" cy="3531151"/>
          </a:xfrm>
          <a:prstGeom prst="rect">
            <a:avLst/>
          </a:prstGeom>
        </p:spPr>
      </p:pic>
    </p:spTree>
    <p:extLst>
      <p:ext uri="{BB962C8B-B14F-4D97-AF65-F5344CB8AC3E}">
        <p14:creationId xmlns:p14="http://schemas.microsoft.com/office/powerpoint/2010/main" val="223056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467068" cy="461665"/>
          </a:xfrm>
          <a:prstGeom prst="rect">
            <a:avLst/>
          </a:prstGeom>
          <a:noFill/>
        </p:spPr>
        <p:txBody>
          <a:bodyPr wrap="none" rtlCol="0">
            <a:spAutoFit/>
          </a:bodyPr>
          <a:lstStyle/>
          <a:p>
            <a:r>
              <a:rPr lang="zh-CN" altLang="en-US" sz="2400" b="1" spc="100">
                <a:latin typeface="微软雅黑" panose="020B0503020204020204" pitchFamily="34" charset="-122"/>
                <a:ea typeface="微软雅黑" panose="020B0503020204020204" pitchFamily="34" charset="-122"/>
              </a:rPr>
              <a:t>分析过程</a:t>
            </a:r>
            <a:endParaRPr lang="zh-CN" altLang="en-US" sz="2400" b="1" spc="1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A8815C79-CD63-6996-7AD7-0DC3D540A09E}"/>
              </a:ext>
            </a:extLst>
          </p:cNvPr>
          <p:cNvSpPr txBox="1"/>
          <p:nvPr/>
        </p:nvSpPr>
        <p:spPr>
          <a:xfrm>
            <a:off x="313329" y="714796"/>
            <a:ext cx="11477995" cy="1477328"/>
          </a:xfrm>
          <a:prstGeom prst="rect">
            <a:avLst/>
          </a:prstGeom>
          <a:noFill/>
        </p:spPr>
        <p:txBody>
          <a:bodyPr wrap="square">
            <a:spAutoFit/>
          </a:bodyPr>
          <a:lstStyle/>
          <a:p>
            <a:r>
              <a:rPr lang="zh-CN" altLang="en-US" b="0" i="0" dirty="0">
                <a:solidFill>
                  <a:srgbClr val="404040"/>
                </a:solidFill>
                <a:effectLst/>
                <a:latin typeface="DeepSeek-CJK-patch"/>
              </a:rPr>
              <a:t>由于</a:t>
            </a:r>
            <a:r>
              <a:rPr lang="zh-CN" altLang="en-US" dirty="0">
                <a:solidFill>
                  <a:srgbClr val="404040"/>
                </a:solidFill>
                <a:latin typeface="DeepSeek-CJK-patch"/>
              </a:rPr>
              <a:t>多出的</a:t>
            </a:r>
            <a:r>
              <a:rPr lang="en-US" altLang="zh-CN" dirty="0">
                <a:solidFill>
                  <a:srgbClr val="404040"/>
                </a:solidFill>
                <a:latin typeface="DeepSeek-CJK-patch"/>
              </a:rPr>
              <a:t>18M</a:t>
            </a:r>
            <a:r>
              <a:rPr lang="zh-CN" altLang="en-US" dirty="0">
                <a:solidFill>
                  <a:srgbClr val="404040"/>
                </a:solidFill>
                <a:latin typeface="DeepSeek-CJK-patch"/>
              </a:rPr>
              <a:t>未释放内存</a:t>
            </a:r>
            <a:r>
              <a:rPr lang="zh-CN" altLang="en-US" b="0" i="0" dirty="0">
                <a:solidFill>
                  <a:srgbClr val="404040"/>
                </a:solidFill>
                <a:effectLst/>
                <a:latin typeface="DeepSeek-CJK-patch"/>
              </a:rPr>
              <a:t>是和图形相关，使用</a:t>
            </a:r>
            <a:r>
              <a:rPr lang="en" altLang="zh-CN" b="0" i="0" dirty="0" err="1">
                <a:solidFill>
                  <a:srgbClr val="404040"/>
                </a:solidFill>
                <a:effectLst/>
                <a:latin typeface="DeepSeek-CJK-patch"/>
              </a:rPr>
              <a:t>dmabuf_dump</a:t>
            </a:r>
            <a:r>
              <a:rPr lang="zh-CN" altLang="en-US" b="0" i="0" dirty="0">
                <a:solidFill>
                  <a:srgbClr val="404040"/>
                </a:solidFill>
                <a:effectLst/>
                <a:latin typeface="DeepSeek-CJK-patch"/>
              </a:rPr>
              <a:t>命令查看 </a:t>
            </a:r>
            <a:r>
              <a:rPr lang="en" altLang="zh-CN" b="0" i="0" dirty="0" err="1">
                <a:solidFill>
                  <a:srgbClr val="404040"/>
                </a:solidFill>
                <a:effectLst/>
                <a:latin typeface="DeepSeek-CJK-patch"/>
              </a:rPr>
              <a:t>dmabuf</a:t>
            </a:r>
            <a:r>
              <a:rPr lang="en" altLang="zh-CN" b="0" i="0" dirty="0">
                <a:solidFill>
                  <a:srgbClr val="404040"/>
                </a:solidFill>
                <a:effectLst/>
                <a:latin typeface="DeepSeek-CJK-patch"/>
              </a:rPr>
              <a:t> </a:t>
            </a:r>
            <a:r>
              <a:rPr lang="zh-CN" altLang="en-US" b="0" i="0" dirty="0">
                <a:solidFill>
                  <a:srgbClr val="404040"/>
                </a:solidFill>
                <a:effectLst/>
                <a:latin typeface="DeepSeek-CJK-patch"/>
              </a:rPr>
              <a:t>内存块的占用情况。再查看全部进程的持有情况，发现这部分内存只被编解码单个进程持有。</a:t>
            </a:r>
            <a:endParaRPr lang="en-US" altLang="zh-CN" b="0" i="0" dirty="0">
              <a:solidFill>
                <a:srgbClr val="404040"/>
              </a:solidFill>
              <a:effectLst/>
              <a:latin typeface="DeepSeek-CJK-patch"/>
            </a:endParaRPr>
          </a:p>
          <a:p>
            <a:r>
              <a:rPr lang="en-US" altLang="zh-CN" dirty="0" err="1">
                <a:solidFill>
                  <a:srgbClr val="404040"/>
                </a:solidFill>
                <a:latin typeface="DeepSeek-CJK-patch"/>
              </a:rPr>
              <a:t>adb</a:t>
            </a:r>
            <a:r>
              <a:rPr lang="en-US" altLang="zh-CN" dirty="0">
                <a:solidFill>
                  <a:srgbClr val="404040"/>
                </a:solidFill>
                <a:latin typeface="DeepSeek-CJK-patch"/>
              </a:rPr>
              <a:t> shell </a:t>
            </a:r>
            <a:r>
              <a:rPr lang="en-US" altLang="zh-CN" dirty="0" err="1">
                <a:solidFill>
                  <a:srgbClr val="404040"/>
                </a:solidFill>
                <a:latin typeface="DeepSeek-CJK-patch"/>
              </a:rPr>
              <a:t>dmabuf_dump</a:t>
            </a:r>
            <a:r>
              <a:rPr lang="en-US" altLang="zh-CN" dirty="0">
                <a:solidFill>
                  <a:srgbClr val="404040"/>
                </a:solidFill>
                <a:latin typeface="DeepSeek-CJK-patch"/>
              </a:rPr>
              <a:t> $(</a:t>
            </a:r>
            <a:r>
              <a:rPr lang="en-US" altLang="zh-CN" dirty="0" err="1">
                <a:solidFill>
                  <a:srgbClr val="404040"/>
                </a:solidFill>
                <a:latin typeface="DeepSeek-CJK-patch"/>
              </a:rPr>
              <a:t>pidof</a:t>
            </a:r>
            <a:r>
              <a:rPr lang="en-US" altLang="zh-CN" dirty="0">
                <a:solidFill>
                  <a:srgbClr val="404040"/>
                </a:solidFill>
                <a:latin typeface="DeepSeek-CJK-patch"/>
              </a:rPr>
              <a:t> android.hardware.media.c2-mediatek-64b)</a:t>
            </a:r>
          </a:p>
          <a:p>
            <a:endParaRPr lang="en-US" altLang="zh-CN" dirty="0">
              <a:solidFill>
                <a:srgbClr val="404040"/>
              </a:solidFill>
              <a:latin typeface="DeepSeek-CJK-patch"/>
            </a:endParaRPr>
          </a:p>
          <a:p>
            <a:r>
              <a:rPr lang="zh-CN" altLang="en-US" b="0" i="0" dirty="0">
                <a:solidFill>
                  <a:srgbClr val="404040"/>
                </a:solidFill>
                <a:effectLst/>
                <a:latin typeface="DeepSeek-CJK-patch"/>
              </a:rPr>
              <a:t>到这里我们就可以确定引发这个问题的主要原因就是强杀应用导致的</a:t>
            </a:r>
            <a:r>
              <a:rPr lang="en" altLang="zh-CN" b="0" i="0" dirty="0" err="1">
                <a:solidFill>
                  <a:srgbClr val="404040"/>
                </a:solidFill>
                <a:effectLst/>
                <a:latin typeface="DeepSeek-CJK-patch"/>
              </a:rPr>
              <a:t>dmabuf</a:t>
            </a:r>
            <a:r>
              <a:rPr lang="zh-CN" altLang="en" b="0" i="0" dirty="0">
                <a:solidFill>
                  <a:srgbClr val="404040"/>
                </a:solidFill>
                <a:effectLst/>
                <a:latin typeface="DeepSeek-CJK-patch"/>
              </a:rPr>
              <a:t>内存</a:t>
            </a:r>
            <a:r>
              <a:rPr lang="zh-CN" altLang="en-US" b="0" i="0" dirty="0">
                <a:solidFill>
                  <a:srgbClr val="404040"/>
                </a:solidFill>
                <a:effectLst/>
                <a:latin typeface="DeepSeek-CJK-patch"/>
              </a:rPr>
              <a:t>块</a:t>
            </a:r>
            <a:r>
              <a:rPr lang="zh-CN" altLang="en-US" dirty="0">
                <a:solidFill>
                  <a:srgbClr val="404040"/>
                </a:solidFill>
                <a:latin typeface="DeepSeek-CJK-patch"/>
              </a:rPr>
              <a:t>未被正常释放。</a:t>
            </a:r>
            <a:endParaRPr lang="zh-CN" altLang="en-US" dirty="0"/>
          </a:p>
        </p:txBody>
      </p:sp>
      <p:sp>
        <p:nvSpPr>
          <p:cNvPr id="5" name="文本框 4">
            <a:extLst>
              <a:ext uri="{FF2B5EF4-FFF2-40B4-BE49-F238E27FC236}">
                <a16:creationId xmlns:a16="http://schemas.microsoft.com/office/drawing/2014/main" id="{EABDC6E1-CACE-F237-32B7-FB20630D9017}"/>
              </a:ext>
            </a:extLst>
          </p:cNvPr>
          <p:cNvSpPr txBox="1"/>
          <p:nvPr/>
        </p:nvSpPr>
        <p:spPr>
          <a:xfrm>
            <a:off x="313329" y="2269687"/>
            <a:ext cx="9415557" cy="3970318"/>
          </a:xfrm>
          <a:prstGeom prst="rect">
            <a:avLst/>
          </a:prstGeom>
          <a:noFill/>
        </p:spPr>
        <p:txBody>
          <a:bodyPr wrap="square">
            <a:spAutoFit/>
          </a:bodyPr>
          <a:lstStyle/>
          <a:p>
            <a:r>
              <a:rPr lang="zh-CN" altLang="en-US" dirty="0"/>
              <a:t>binder:814_2:814                     </a:t>
            </a:r>
            <a:endParaRPr lang="en-US" altLang="zh-CN" dirty="0"/>
          </a:p>
          <a:p>
            <a:r>
              <a:rPr lang="zh-CN" altLang="en-US" dirty="0"/>
              <a:t>Name              </a:t>
            </a:r>
            <a:r>
              <a:rPr lang="en-US" altLang="zh-CN" dirty="0"/>
              <a:t>	</a:t>
            </a:r>
            <a:r>
              <a:rPr lang="zh-CN" altLang="en-US" dirty="0"/>
              <a:t>Rss                  Pss                         nr_procs            Inode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15678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15679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15680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15681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15690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15691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15692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15693                </a:t>
            </a:r>
            <a:endParaRPr lang="en-US" altLang="zh-CN" dirty="0"/>
          </a:p>
          <a:p>
            <a:r>
              <a:rPr lang="zh-CN" altLang="en-US" dirty="0"/>
              <a:t>vdec_bs          </a:t>
            </a:r>
            <a:r>
              <a:rPr lang="en-US" altLang="zh-CN" dirty="0"/>
              <a:t>	</a:t>
            </a:r>
            <a:r>
              <a:rPr lang="zh-CN" altLang="en-US" dirty="0"/>
              <a:t>2048 kB          2048 kB                1            </a:t>
            </a:r>
            <a:r>
              <a:rPr lang="en-US" altLang="zh-CN" dirty="0"/>
              <a:t>	</a:t>
            </a:r>
            <a:r>
              <a:rPr lang="zh-CN" altLang="en-US" dirty="0"/>
              <a:t>15736          </a:t>
            </a:r>
            <a:endParaRPr lang="en-US" altLang="zh-CN" dirty="0"/>
          </a:p>
          <a:p>
            <a:r>
              <a:rPr lang="zh-CN" altLang="en-US" dirty="0"/>
              <a:t>PROCESS TOTAL       18432 kB        18432 kB                  </a:t>
            </a:r>
            <a:endParaRPr lang="en-US" altLang="zh-CN" dirty="0"/>
          </a:p>
          <a:p>
            <a:r>
              <a:rPr lang="zh-CN" altLang="en-US" dirty="0"/>
              <a:t>---------------------- </a:t>
            </a:r>
            <a:endParaRPr lang="en-US" altLang="zh-CN" dirty="0"/>
          </a:p>
          <a:p>
            <a:r>
              <a:rPr lang="zh-CN" altLang="en-US" dirty="0"/>
              <a:t>dmabuf total: 115720 kB kernel_rss: 97288 kB userspace_rss: 18432 kB userspace_pss: 18432 kB</a:t>
            </a:r>
          </a:p>
        </p:txBody>
      </p:sp>
      <p:sp>
        <p:nvSpPr>
          <p:cNvPr id="6" name="圆角矩形 5">
            <a:extLst>
              <a:ext uri="{FF2B5EF4-FFF2-40B4-BE49-F238E27FC236}">
                <a16:creationId xmlns:a16="http://schemas.microsoft.com/office/drawing/2014/main" id="{6E3D781F-C458-9947-4CD0-B74638E6BCDD}"/>
              </a:ext>
            </a:extLst>
          </p:cNvPr>
          <p:cNvSpPr/>
          <p:nvPr/>
        </p:nvSpPr>
        <p:spPr>
          <a:xfrm>
            <a:off x="4695568" y="5815599"/>
            <a:ext cx="4819135" cy="403654"/>
          </a:xfrm>
          <a:prstGeom prst="round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284248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BF386E7-B7F1-82CB-44E8-82800E01B37A}"/>
              </a:ext>
            </a:extLst>
          </p:cNvPr>
          <p:cNvSpPr txBox="1"/>
          <p:nvPr/>
        </p:nvSpPr>
        <p:spPr>
          <a:xfrm>
            <a:off x="417443" y="827414"/>
            <a:ext cx="11510946" cy="1291379"/>
          </a:xfrm>
          <a:prstGeom prst="rect">
            <a:avLst/>
          </a:prstGeom>
          <a:noFill/>
        </p:spPr>
        <p:txBody>
          <a:bodyPr wrap="square">
            <a:spAutoFit/>
          </a:bodyPr>
          <a:lstStyle/>
          <a:p>
            <a:pPr>
              <a:lnSpc>
                <a:spcPct val="150000"/>
              </a:lnSpc>
            </a:pPr>
            <a:r>
              <a:rPr lang="zh-CN" altLang="en-US" dirty="0"/>
              <a:t>（</a:t>
            </a:r>
            <a:r>
              <a:rPr lang="en-US" altLang="zh-CN" dirty="0"/>
              <a:t>4</a:t>
            </a:r>
            <a:r>
              <a:rPr lang="zh-CN" altLang="en-US" dirty="0"/>
              <a:t>）观察到历史产品中曾有一个类似问题的解决方案：</a:t>
            </a:r>
            <a:r>
              <a:rPr lang="en-US" altLang="zh-CN" dirty="0"/>
              <a:t>【</a:t>
            </a:r>
            <a:r>
              <a:rPr lang="zh-CN" altLang="en-US" dirty="0"/>
              <a:t>共性问题</a:t>
            </a:r>
            <a:r>
              <a:rPr lang="en-US" altLang="zh-CN" dirty="0"/>
              <a:t>】</a:t>
            </a:r>
            <a:r>
              <a:rPr lang="zh-CN" altLang="en-US" dirty="0"/>
              <a:t>高通平台</a:t>
            </a:r>
            <a:r>
              <a:rPr lang="en" altLang="zh-CN" dirty="0" err="1"/>
              <a:t>media.hwcodec</a:t>
            </a:r>
            <a:r>
              <a:rPr lang="zh-CN" altLang="en-US" dirty="0"/>
              <a:t>和</a:t>
            </a:r>
            <a:r>
              <a:rPr lang="en" altLang="zh-CN" dirty="0"/>
              <a:t>MTK</a:t>
            </a:r>
            <a:r>
              <a:rPr lang="zh-CN" altLang="en-US" dirty="0"/>
              <a:t>平台</a:t>
            </a:r>
            <a:r>
              <a:rPr lang="en" altLang="zh-CN" dirty="0"/>
              <a:t>android.hardware.media.c2@1.2-mediatek</a:t>
            </a:r>
            <a:r>
              <a:rPr lang="zh-CN" altLang="en-US" dirty="0"/>
              <a:t>进程，在使用抖音等三方软件，播放视频时，强制杀死应用，会造成</a:t>
            </a:r>
            <a:r>
              <a:rPr lang="en" altLang="zh-CN" dirty="0" err="1"/>
              <a:t>dmabuf</a:t>
            </a:r>
            <a:r>
              <a:rPr lang="zh-CN" altLang="en-US" dirty="0"/>
              <a:t>残留。</a:t>
            </a:r>
            <a:endParaRPr lang="en-US" altLang="zh-CN" dirty="0"/>
          </a:p>
        </p:txBody>
      </p:sp>
      <p:sp>
        <p:nvSpPr>
          <p:cNvPr id="7" name="文本框 6">
            <a:extLst>
              <a:ext uri="{FF2B5EF4-FFF2-40B4-BE49-F238E27FC236}">
                <a16:creationId xmlns:a16="http://schemas.microsoft.com/office/drawing/2014/main" id="{3FBE13AF-DA4B-A49E-92CF-B37DAC464FE5}"/>
              </a:ext>
            </a:extLst>
          </p:cNvPr>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分析过程</a:t>
            </a:r>
          </a:p>
        </p:txBody>
      </p:sp>
      <p:sp>
        <p:nvSpPr>
          <p:cNvPr id="9" name="文本框 8">
            <a:extLst>
              <a:ext uri="{FF2B5EF4-FFF2-40B4-BE49-F238E27FC236}">
                <a16:creationId xmlns:a16="http://schemas.microsoft.com/office/drawing/2014/main" id="{FA946FD9-1E28-18E0-0A60-09CAACF4FB54}"/>
              </a:ext>
            </a:extLst>
          </p:cNvPr>
          <p:cNvSpPr txBox="1"/>
          <p:nvPr/>
        </p:nvSpPr>
        <p:spPr>
          <a:xfrm>
            <a:off x="4370779" y="2118793"/>
            <a:ext cx="7620133" cy="4524315"/>
          </a:xfrm>
          <a:prstGeom prst="rect">
            <a:avLst/>
          </a:prstGeom>
          <a:noFill/>
        </p:spPr>
        <p:txBody>
          <a:bodyPr wrap="square">
            <a:spAutoFit/>
          </a:bodyPr>
          <a:lstStyle/>
          <a:p>
            <a:r>
              <a:rPr lang="zh-CN" altLang="en-US" dirty="0"/>
              <a:t>Component::~Component() {</a:t>
            </a:r>
          </a:p>
          <a:p>
            <a:r>
              <a:rPr lang="zh-CN" altLang="en-US" dirty="0"/>
              <a:t>    auto connections = mBufferPoolSender.getConnections();</a:t>
            </a:r>
          </a:p>
          <a:p>
            <a:r>
              <a:rPr lang="zh-CN" altLang="en-US" dirty="0"/>
              <a:t>    for (auto&amp; connection : connections) {</a:t>
            </a:r>
          </a:p>
          <a:p>
            <a:r>
              <a:rPr lang="zh-CN" altLang="en-US" dirty="0"/>
              <a:t>        LOG(INFO) &lt;&lt; "Component 1.2 connection id is " &lt;&lt; connection;</a:t>
            </a:r>
          </a:p>
          <a:p>
            <a:r>
              <a:rPr lang="zh-CN" altLang="en-US" dirty="0"/>
              <a:t>        bufferpool::V2_0::implementation::ClientManager::getInstance()-&gt;close(</a:t>
            </a:r>
          </a:p>
          <a:p>
            <a:r>
              <a:rPr lang="zh-CN" altLang="en-US" dirty="0"/>
              <a:t>            (V1_0::utils::ConnectionId)connection);</a:t>
            </a:r>
          </a:p>
          <a:p>
            <a:r>
              <a:rPr lang="zh-CN" altLang="en-US" dirty="0"/>
              <a:t>    }</a:t>
            </a:r>
          </a:p>
          <a:p>
            <a:r>
              <a:rPr lang="zh-CN" altLang="en-US" dirty="0"/>
              <a:t>    bufferpool::V2_0::implementation::ClientManager::getInstance()-&gt;cleanUp();</a:t>
            </a:r>
          </a:p>
          <a:p>
            <a:r>
              <a:rPr lang="zh-CN" altLang="en-US" dirty="0"/>
              <a:t>    InputBufferManager::unregisterFrameData(mListener);</a:t>
            </a:r>
          </a:p>
          <a:p>
            <a:r>
              <a:rPr lang="zh-CN" altLang="en-US" dirty="0"/>
              <a:t>    mStore-&gt;reportComponentDeath(this);</a:t>
            </a:r>
          </a:p>
          <a:p>
            <a:endParaRPr lang="zh-CN" altLang="en-US" dirty="0"/>
          </a:p>
          <a:p>
            <a:r>
              <a:rPr lang="zh-CN" altLang="en-US" dirty="0"/>
              <a:t>    if (mallopt(M_PURGE_ALL, 0) != 1) {</a:t>
            </a:r>
          </a:p>
          <a:p>
            <a:r>
              <a:rPr lang="zh-CN" altLang="en-US" dirty="0"/>
              <a:t>        ALOGI("%s: mallopt(M_PURGE, 0)", __func__);</a:t>
            </a:r>
          </a:p>
          <a:p>
            <a:r>
              <a:rPr lang="zh-CN" altLang="en-US" dirty="0"/>
              <a:t>        mallopt(M_PURGE, 0);</a:t>
            </a:r>
          </a:p>
          <a:p>
            <a:r>
              <a:rPr lang="zh-CN" altLang="en-US" dirty="0"/>
              <a:t>    }</a:t>
            </a:r>
          </a:p>
          <a:p>
            <a:r>
              <a:rPr lang="zh-CN" altLang="en-US" dirty="0"/>
              <a:t>}</a:t>
            </a:r>
          </a:p>
        </p:txBody>
      </p:sp>
      <p:sp>
        <p:nvSpPr>
          <p:cNvPr id="11" name="文本框 10">
            <a:extLst>
              <a:ext uri="{FF2B5EF4-FFF2-40B4-BE49-F238E27FC236}">
                <a16:creationId xmlns:a16="http://schemas.microsoft.com/office/drawing/2014/main" id="{DC717A96-E057-041A-B057-45F73F06BF25}"/>
              </a:ext>
            </a:extLst>
          </p:cNvPr>
          <p:cNvSpPr txBox="1"/>
          <p:nvPr/>
        </p:nvSpPr>
        <p:spPr>
          <a:xfrm>
            <a:off x="417442" y="2554606"/>
            <a:ext cx="3167005" cy="369332"/>
          </a:xfrm>
          <a:prstGeom prst="rect">
            <a:avLst/>
          </a:prstGeom>
          <a:noFill/>
        </p:spPr>
        <p:txBody>
          <a:bodyPr wrap="square">
            <a:spAutoFit/>
          </a:bodyPr>
          <a:lstStyle/>
          <a:p>
            <a:r>
              <a:rPr lang="zh-CN" altLang="en-US" dirty="0"/>
              <a:t>使用小包验证发现没有效果？</a:t>
            </a:r>
          </a:p>
        </p:txBody>
      </p:sp>
      <p:pic>
        <p:nvPicPr>
          <p:cNvPr id="6145" name="Picture 1">
            <a:extLst>
              <a:ext uri="{FF2B5EF4-FFF2-40B4-BE49-F238E27FC236}">
                <a16:creationId xmlns:a16="http://schemas.microsoft.com/office/drawing/2014/main" id="{C4A487A3-7CFD-BFD6-0A7B-531DF57C8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965" y="2923522"/>
            <a:ext cx="3104482" cy="3631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552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解决方案</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C66D7FDB-BAC6-BEF1-AA7F-23E9BC280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685" y="3714285"/>
            <a:ext cx="4697547" cy="1148689"/>
          </a:xfrm>
          <a:prstGeom prst="rect">
            <a:avLst/>
          </a:prstGeom>
          <a:noFill/>
        </p:spPr>
      </p:pic>
      <p:sp>
        <p:nvSpPr>
          <p:cNvPr id="6" name="文本框 5">
            <a:extLst>
              <a:ext uri="{FF2B5EF4-FFF2-40B4-BE49-F238E27FC236}">
                <a16:creationId xmlns:a16="http://schemas.microsoft.com/office/drawing/2014/main" id="{0BF386E7-B7F1-82CB-44E8-82800E01B37A}"/>
              </a:ext>
            </a:extLst>
          </p:cNvPr>
          <p:cNvSpPr txBox="1"/>
          <p:nvPr/>
        </p:nvSpPr>
        <p:spPr>
          <a:xfrm>
            <a:off x="417443" y="827414"/>
            <a:ext cx="11510946" cy="875881"/>
          </a:xfrm>
          <a:prstGeom prst="rect">
            <a:avLst/>
          </a:prstGeom>
          <a:noFill/>
        </p:spPr>
        <p:txBody>
          <a:bodyPr wrap="square">
            <a:spAutoFit/>
          </a:bodyPr>
          <a:lstStyle/>
          <a:p>
            <a:pPr>
              <a:lnSpc>
                <a:spcPct val="150000"/>
              </a:lnSpc>
            </a:pPr>
            <a:r>
              <a:rPr lang="zh-CN" altLang="en-US" dirty="0"/>
              <a:t>进一步调试发现是代码没有生效，排查后发现当前项目芯片组件是</a:t>
            </a:r>
            <a:r>
              <a:rPr lang="en" altLang="zh-CN" dirty="0"/>
              <a:t>Android V</a:t>
            </a:r>
            <a:r>
              <a:rPr lang="zh-CN" altLang="en" dirty="0"/>
              <a:t>，</a:t>
            </a:r>
            <a:r>
              <a:rPr lang="en" altLang="zh-CN" dirty="0"/>
              <a:t>binder</a:t>
            </a:r>
            <a:r>
              <a:rPr lang="zh-CN" altLang="en-US" dirty="0"/>
              <a:t>使用的是</a:t>
            </a:r>
            <a:r>
              <a:rPr lang="en" altLang="zh-CN" dirty="0" err="1"/>
              <a:t>aidl</a:t>
            </a:r>
            <a:r>
              <a:rPr lang="zh-CN" altLang="en" dirty="0"/>
              <a:t>，</a:t>
            </a:r>
            <a:r>
              <a:rPr lang="zh-CN" altLang="en-US" dirty="0"/>
              <a:t>不再是</a:t>
            </a:r>
            <a:r>
              <a:rPr lang="en" altLang="zh-CN" dirty="0" err="1"/>
              <a:t>hidl</a:t>
            </a:r>
            <a:r>
              <a:rPr lang="zh-CN" altLang="en-US" dirty="0"/>
              <a:t>了。通过修改</a:t>
            </a:r>
            <a:r>
              <a:rPr lang="en" altLang="zh-CN" dirty="0" err="1"/>
              <a:t>aidl</a:t>
            </a:r>
            <a:r>
              <a:rPr lang="zh-CN" altLang="en-US" dirty="0"/>
              <a:t>的相关代码后问题解决。</a:t>
            </a:r>
            <a:endParaRPr lang="en-US" altLang="zh-CN" dirty="0"/>
          </a:p>
        </p:txBody>
      </p:sp>
      <p:sp>
        <p:nvSpPr>
          <p:cNvPr id="7" name="文本框 6">
            <a:extLst>
              <a:ext uri="{FF2B5EF4-FFF2-40B4-BE49-F238E27FC236}">
                <a16:creationId xmlns:a16="http://schemas.microsoft.com/office/drawing/2014/main" id="{3FBE13AF-DA4B-A49E-92CF-B37DAC464FE5}"/>
              </a:ext>
            </a:extLst>
          </p:cNvPr>
          <p:cNvSpPr txBox="1"/>
          <p:nvPr/>
        </p:nvSpPr>
        <p:spPr>
          <a:xfrm>
            <a:off x="417443" y="178904"/>
            <a:ext cx="1467068" cy="461665"/>
          </a:xfrm>
          <a:prstGeom prst="rect">
            <a:avLst/>
          </a:prstGeom>
          <a:noFill/>
        </p:spPr>
        <p:txBody>
          <a:bodyPr wrap="none" rtlCol="0">
            <a:spAutoFit/>
          </a:bodyPr>
          <a:lstStyle/>
          <a:p>
            <a:r>
              <a:rPr lang="zh-CN" altLang="en-US" sz="2400" b="1" spc="100">
                <a:latin typeface="微软雅黑" panose="020B0503020204020204" pitchFamily="34" charset="-122"/>
                <a:ea typeface="微软雅黑" panose="020B0503020204020204" pitchFamily="34" charset="-122"/>
              </a:rPr>
              <a:t>解决方案</a:t>
            </a:r>
            <a:endParaRPr lang="zh-CN" altLang="en-US" sz="2400" b="1" spc="1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FA946FD9-1E28-18E0-0A60-09CAACF4FB54}"/>
              </a:ext>
            </a:extLst>
          </p:cNvPr>
          <p:cNvSpPr txBox="1"/>
          <p:nvPr/>
        </p:nvSpPr>
        <p:spPr>
          <a:xfrm>
            <a:off x="417443" y="1803220"/>
            <a:ext cx="5036006" cy="3416320"/>
          </a:xfrm>
          <a:prstGeom prst="rect">
            <a:avLst/>
          </a:prstGeom>
          <a:noFill/>
        </p:spPr>
        <p:txBody>
          <a:bodyPr wrap="square">
            <a:spAutoFit/>
          </a:bodyPr>
          <a:lstStyle/>
          <a:p>
            <a:r>
              <a:rPr lang="en" altLang="zh-CN" dirty="0"/>
              <a:t>void </a:t>
            </a:r>
            <a:r>
              <a:rPr lang="en" altLang="zh-CN" dirty="0" err="1"/>
              <a:t>DefaultBufferPoolSender</a:t>
            </a:r>
            <a:r>
              <a:rPr lang="en" altLang="zh-CN" dirty="0"/>
              <a:t>::</a:t>
            </a:r>
            <a:r>
              <a:rPr lang="en" altLang="zh-CN" dirty="0" err="1"/>
              <a:t>cleanUp</a:t>
            </a:r>
            <a:r>
              <a:rPr lang="en" altLang="zh-CN" dirty="0"/>
              <a:t>() {</a:t>
            </a:r>
          </a:p>
          <a:p>
            <a:r>
              <a:rPr lang="en" altLang="zh-CN" dirty="0"/>
              <a:t>    for (auto it : </a:t>
            </a:r>
            <a:r>
              <a:rPr lang="en" altLang="zh-CN" dirty="0" err="1"/>
              <a:t>mConnections</a:t>
            </a:r>
            <a:r>
              <a:rPr lang="en" altLang="zh-CN" dirty="0"/>
              <a:t>) {</a:t>
            </a:r>
          </a:p>
          <a:p>
            <a:r>
              <a:rPr lang="en" altLang="zh-CN" dirty="0"/>
              <a:t>        </a:t>
            </a:r>
            <a:r>
              <a:rPr lang="en" altLang="zh-CN" dirty="0" err="1"/>
              <a:t>ClientManager</a:t>
            </a:r>
            <a:r>
              <a:rPr lang="en" altLang="zh-CN" dirty="0"/>
              <a:t>::</a:t>
            </a:r>
            <a:r>
              <a:rPr lang="en" altLang="zh-CN" dirty="0" err="1"/>
              <a:t>getInstance</a:t>
            </a:r>
            <a:r>
              <a:rPr lang="en" altLang="zh-CN" dirty="0"/>
              <a:t>()-&gt;close(</a:t>
            </a:r>
            <a:r>
              <a:rPr lang="en" altLang="zh-CN" dirty="0" err="1"/>
              <a:t>it.first</a:t>
            </a:r>
            <a:r>
              <a:rPr lang="en" altLang="zh-CN" dirty="0"/>
              <a:t>);</a:t>
            </a:r>
          </a:p>
          <a:p>
            <a:r>
              <a:rPr lang="en" altLang="zh-CN" dirty="0"/>
              <a:t>    }</a:t>
            </a:r>
          </a:p>
          <a:p>
            <a:r>
              <a:rPr lang="en" altLang="zh-CN" dirty="0"/>
              <a:t>    </a:t>
            </a:r>
            <a:r>
              <a:rPr lang="en" altLang="zh-CN" dirty="0" err="1"/>
              <a:t>mConnections.clear</a:t>
            </a:r>
            <a:r>
              <a:rPr lang="en" altLang="zh-CN" dirty="0"/>
              <a:t>();</a:t>
            </a:r>
          </a:p>
          <a:p>
            <a:r>
              <a:rPr lang="en" altLang="zh-CN" dirty="0"/>
              <a:t>    </a:t>
            </a:r>
            <a:r>
              <a:rPr lang="en" altLang="zh-CN" dirty="0" err="1"/>
              <a:t>ClientManager</a:t>
            </a:r>
            <a:r>
              <a:rPr lang="en" altLang="zh-CN" dirty="0"/>
              <a:t>::</a:t>
            </a:r>
            <a:r>
              <a:rPr lang="en" altLang="zh-CN" dirty="0" err="1"/>
              <a:t>getInstance</a:t>
            </a:r>
            <a:r>
              <a:rPr lang="en" altLang="zh-CN" dirty="0"/>
              <a:t>()-&gt;</a:t>
            </a:r>
            <a:r>
              <a:rPr lang="en" altLang="zh-CN" dirty="0" err="1"/>
              <a:t>cleanUp</a:t>
            </a:r>
            <a:r>
              <a:rPr lang="en" altLang="zh-CN" dirty="0"/>
              <a:t>();</a:t>
            </a:r>
          </a:p>
          <a:p>
            <a:endParaRPr lang="en" altLang="zh-CN" dirty="0"/>
          </a:p>
          <a:p>
            <a:r>
              <a:rPr lang="en" altLang="zh-CN" dirty="0"/>
              <a:t>    if (</a:t>
            </a:r>
            <a:r>
              <a:rPr lang="en" altLang="zh-CN" dirty="0" err="1"/>
              <a:t>mallopt</a:t>
            </a:r>
            <a:r>
              <a:rPr lang="en" altLang="zh-CN" dirty="0"/>
              <a:t>(M_PURGE_ALL, 0) != 1) {</a:t>
            </a:r>
          </a:p>
          <a:p>
            <a:r>
              <a:rPr lang="en" altLang="zh-CN" dirty="0"/>
              <a:t>        ALOGI("%s: </a:t>
            </a:r>
            <a:r>
              <a:rPr lang="en" altLang="zh-CN" dirty="0" err="1"/>
              <a:t>mallopt</a:t>
            </a:r>
            <a:r>
              <a:rPr lang="en" altLang="zh-CN" dirty="0"/>
              <a:t>(M_PURGE, 0)", __</a:t>
            </a:r>
            <a:r>
              <a:rPr lang="en" altLang="zh-CN" dirty="0" err="1"/>
              <a:t>func</a:t>
            </a:r>
            <a:r>
              <a:rPr lang="en" altLang="zh-CN" dirty="0"/>
              <a:t>__);</a:t>
            </a:r>
          </a:p>
          <a:p>
            <a:r>
              <a:rPr lang="en" altLang="zh-CN" dirty="0"/>
              <a:t>        </a:t>
            </a:r>
            <a:r>
              <a:rPr lang="en" altLang="zh-CN" dirty="0" err="1"/>
              <a:t>mallopt</a:t>
            </a:r>
            <a:r>
              <a:rPr lang="en" altLang="zh-CN" dirty="0"/>
              <a:t>(M_PURGE, 0);</a:t>
            </a:r>
          </a:p>
          <a:p>
            <a:r>
              <a:rPr lang="en" altLang="zh-CN" dirty="0"/>
              <a:t>    }</a:t>
            </a:r>
          </a:p>
          <a:p>
            <a:r>
              <a:rPr lang="en" altLang="zh-CN" dirty="0"/>
              <a:t>}</a:t>
            </a:r>
            <a:endParaRPr lang="zh-CN" altLang="en-US" dirty="0"/>
          </a:p>
        </p:txBody>
      </p:sp>
      <p:pic>
        <p:nvPicPr>
          <p:cNvPr id="5" name="图片 4">
            <a:extLst>
              <a:ext uri="{FF2B5EF4-FFF2-40B4-BE49-F238E27FC236}">
                <a16:creationId xmlns:a16="http://schemas.microsoft.com/office/drawing/2014/main" id="{B1D19547-887C-FCE9-C5AF-9F7B96316820}"/>
              </a:ext>
            </a:extLst>
          </p:cNvPr>
          <p:cNvPicPr>
            <a:picLocks noChangeAspect="1"/>
          </p:cNvPicPr>
          <p:nvPr/>
        </p:nvPicPr>
        <p:blipFill>
          <a:blip r:embed="rId3"/>
          <a:stretch>
            <a:fillRect/>
          </a:stretch>
        </p:blipFill>
        <p:spPr>
          <a:xfrm>
            <a:off x="4155989" y="4917808"/>
            <a:ext cx="7772400" cy="1415083"/>
          </a:xfrm>
          <a:prstGeom prst="rect">
            <a:avLst/>
          </a:prstGeom>
          <a:effectLst>
            <a:softEdge rad="0"/>
          </a:effectLst>
        </p:spPr>
      </p:pic>
      <p:sp>
        <p:nvSpPr>
          <p:cNvPr id="10" name="文本框 9">
            <a:extLst>
              <a:ext uri="{FF2B5EF4-FFF2-40B4-BE49-F238E27FC236}">
                <a16:creationId xmlns:a16="http://schemas.microsoft.com/office/drawing/2014/main" id="{2D2D8BD6-616C-235F-F2C5-7C59F85E2A49}"/>
              </a:ext>
            </a:extLst>
          </p:cNvPr>
          <p:cNvSpPr txBox="1"/>
          <p:nvPr/>
        </p:nvSpPr>
        <p:spPr>
          <a:xfrm>
            <a:off x="5678557" y="2422906"/>
            <a:ext cx="6096000" cy="1291379"/>
          </a:xfrm>
          <a:prstGeom prst="rect">
            <a:avLst/>
          </a:prstGeom>
          <a:noFill/>
        </p:spPr>
        <p:txBody>
          <a:bodyPr wrap="square">
            <a:spAutoFit/>
          </a:bodyPr>
          <a:lstStyle/>
          <a:p>
            <a:pPr>
              <a:lnSpc>
                <a:spcPct val="150000"/>
              </a:lnSpc>
            </a:pPr>
            <a:r>
              <a:rPr lang="zh-CN" altLang="en-US" dirty="0"/>
              <a:t>考虑到[anon:scudo:primary]内存也有部分增长，添加了历史</a:t>
            </a:r>
            <a:r>
              <a:rPr lang="en-US" altLang="zh-CN" dirty="0" err="1"/>
              <a:t>mediaserver</a:t>
            </a:r>
            <a:r>
              <a:rPr lang="zh-CN" altLang="en-US" dirty="0"/>
              <a:t>内存优化方案。该方案对[anon:scudo:primary]内存的优化也有平均约50%的提升。</a:t>
            </a:r>
          </a:p>
        </p:txBody>
      </p:sp>
      <p:pic>
        <p:nvPicPr>
          <p:cNvPr id="8193" name="Picture 1">
            <a:extLst>
              <a:ext uri="{FF2B5EF4-FFF2-40B4-BE49-F238E27FC236}">
                <a16:creationId xmlns:a16="http://schemas.microsoft.com/office/drawing/2014/main" id="{30E4233F-8F74-5CAE-4C9C-AE2D8EF572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3693" y="2578607"/>
            <a:ext cx="164459" cy="1082129"/>
          </a:xfrm>
          <a:prstGeom prst="rect">
            <a:avLst/>
          </a:prstGeom>
          <a:solidFill>
            <a:schemeClr val="bg1"/>
          </a:solidFill>
        </p:spPr>
      </p:pic>
      <p:sp>
        <p:nvSpPr>
          <p:cNvPr id="12" name="右箭头 11">
            <a:extLst>
              <a:ext uri="{FF2B5EF4-FFF2-40B4-BE49-F238E27FC236}">
                <a16:creationId xmlns:a16="http://schemas.microsoft.com/office/drawing/2014/main" id="{E1F4C3D6-D464-1AB0-2670-D6C30AEC8FAA}"/>
              </a:ext>
            </a:extLst>
          </p:cNvPr>
          <p:cNvSpPr/>
          <p:nvPr/>
        </p:nvSpPr>
        <p:spPr>
          <a:xfrm rot="19687330">
            <a:off x="5350902" y="3894424"/>
            <a:ext cx="936818" cy="3081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右箭头 12">
            <a:extLst>
              <a:ext uri="{FF2B5EF4-FFF2-40B4-BE49-F238E27FC236}">
                <a16:creationId xmlns:a16="http://schemas.microsoft.com/office/drawing/2014/main" id="{6E0DD19E-BDE6-C72C-4A67-043EF4A49068}"/>
              </a:ext>
            </a:extLst>
          </p:cNvPr>
          <p:cNvSpPr/>
          <p:nvPr/>
        </p:nvSpPr>
        <p:spPr>
          <a:xfrm rot="5400000">
            <a:off x="7710970" y="3907303"/>
            <a:ext cx="719467" cy="620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97847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FBE13AF-DA4B-A49E-92CF-B37DAC464FE5}"/>
              </a:ext>
            </a:extLst>
          </p:cNvPr>
          <p:cNvSpPr txBox="1"/>
          <p:nvPr/>
        </p:nvSpPr>
        <p:spPr>
          <a:xfrm>
            <a:off x="417443" y="178904"/>
            <a:ext cx="1467068" cy="461665"/>
          </a:xfrm>
          <a:prstGeom prst="rect">
            <a:avLst/>
          </a:prstGeom>
          <a:noFill/>
        </p:spPr>
        <p:txBody>
          <a:bodyPr wrap="none" rtlCol="0">
            <a:spAutoFit/>
          </a:bodyPr>
          <a:lstStyle/>
          <a:p>
            <a:r>
              <a:rPr lang="zh-CN" altLang="en-US" sz="2400" b="1" spc="100">
                <a:latin typeface="微软雅黑" panose="020B0503020204020204" pitchFamily="34" charset="-122"/>
                <a:ea typeface="微软雅黑" panose="020B0503020204020204" pitchFamily="34" charset="-122"/>
              </a:rPr>
              <a:t>解决方案</a:t>
            </a:r>
            <a:endParaRPr lang="zh-CN" altLang="en-US" sz="2400" b="1" spc="100" dirty="0">
              <a:latin typeface="微软雅黑" panose="020B0503020204020204" pitchFamily="34" charset="-122"/>
              <a:ea typeface="微软雅黑" panose="020B0503020204020204" pitchFamily="34" charset="-122"/>
            </a:endParaRPr>
          </a:p>
        </p:txBody>
      </p:sp>
      <p:pic>
        <p:nvPicPr>
          <p:cNvPr id="5122" name="Picture 2">
            <a:extLst>
              <a:ext uri="{FF2B5EF4-FFF2-40B4-BE49-F238E27FC236}">
                <a16:creationId xmlns:a16="http://schemas.microsoft.com/office/drawing/2014/main" id="{B17AFB0D-DC97-53B1-BB8B-267AE6A82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86" y="1301578"/>
            <a:ext cx="3916760" cy="5243384"/>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419D1AA7-F1E2-1C22-D4CB-6048CA20E64D}"/>
              </a:ext>
            </a:extLst>
          </p:cNvPr>
          <p:cNvSpPr txBox="1"/>
          <p:nvPr/>
        </p:nvSpPr>
        <p:spPr>
          <a:xfrm>
            <a:off x="417443" y="786407"/>
            <a:ext cx="3750903" cy="369332"/>
          </a:xfrm>
          <a:prstGeom prst="rect">
            <a:avLst/>
          </a:prstGeom>
          <a:noFill/>
        </p:spPr>
        <p:txBody>
          <a:bodyPr wrap="square">
            <a:spAutoFit/>
          </a:bodyPr>
          <a:lstStyle/>
          <a:p>
            <a:r>
              <a:rPr lang="en" altLang="zh-CN" b="0" i="0" dirty="0">
                <a:solidFill>
                  <a:srgbClr val="333333"/>
                </a:solidFill>
                <a:effectLst/>
                <a:latin typeface="PingFang SC" panose="020B0400000000000000" pitchFamily="34" charset="-122"/>
                <a:ea typeface="PingFang SC" panose="020B0400000000000000" pitchFamily="34" charset="-122"/>
              </a:rPr>
              <a:t>codec2</a:t>
            </a:r>
            <a:r>
              <a:rPr lang="zh-CN" altLang="en-US" b="0" i="0" dirty="0">
                <a:solidFill>
                  <a:srgbClr val="333333"/>
                </a:solidFill>
                <a:effectLst/>
                <a:latin typeface="PingFang SC" panose="020B0400000000000000" pitchFamily="34" charset="-122"/>
                <a:ea typeface="PingFang SC" panose="020B0400000000000000" pitchFamily="34" charset="-122"/>
              </a:rPr>
              <a:t>的基本架构：</a:t>
            </a:r>
            <a:endParaRPr lang="zh-CN" altLang="en-US" dirty="0"/>
          </a:p>
        </p:txBody>
      </p:sp>
      <p:cxnSp>
        <p:nvCxnSpPr>
          <p:cNvPr id="22" name="直线连接符 21">
            <a:extLst>
              <a:ext uri="{FF2B5EF4-FFF2-40B4-BE49-F238E27FC236}">
                <a16:creationId xmlns:a16="http://schemas.microsoft.com/office/drawing/2014/main" id="{C83ABB8D-65E6-9BA9-2BF5-A303C169141D}"/>
              </a:ext>
            </a:extLst>
          </p:cNvPr>
          <p:cNvCxnSpPr/>
          <p:nvPr/>
        </p:nvCxnSpPr>
        <p:spPr>
          <a:xfrm>
            <a:off x="4679092" y="720503"/>
            <a:ext cx="0" cy="6071593"/>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79EDA67E-D1F8-3CA8-5482-6AE4CC68426A}"/>
              </a:ext>
            </a:extLst>
          </p:cNvPr>
          <p:cNvSpPr txBox="1"/>
          <p:nvPr/>
        </p:nvSpPr>
        <p:spPr>
          <a:xfrm>
            <a:off x="4761466" y="786407"/>
            <a:ext cx="7356388" cy="4524315"/>
          </a:xfrm>
          <a:prstGeom prst="rect">
            <a:avLst/>
          </a:prstGeom>
          <a:noFill/>
        </p:spPr>
        <p:txBody>
          <a:bodyPr wrap="square">
            <a:spAutoFit/>
          </a:bodyPr>
          <a:lstStyle/>
          <a:p>
            <a:r>
              <a:rPr lang="en-US" altLang="zh-CN" dirty="0"/>
              <a:t>AIDL/HIDL</a:t>
            </a:r>
            <a:r>
              <a:rPr lang="zh-CN" altLang="en-US" dirty="0"/>
              <a:t>判断：</a:t>
            </a:r>
            <a:endParaRPr lang="en-US" altLang="zh-CN" dirty="0"/>
          </a:p>
          <a:p>
            <a:r>
              <a:rPr lang="en-US" altLang="zh-CN" dirty="0"/>
              <a:t>1.</a:t>
            </a:r>
            <a:r>
              <a:rPr lang="zh-CN" altLang="en-US" dirty="0"/>
              <a:t>通过查看属性</a:t>
            </a:r>
            <a:endParaRPr lang="en-US" altLang="zh-CN" dirty="0"/>
          </a:p>
          <a:p>
            <a:r>
              <a:rPr lang="en-US" altLang="zh-CN" dirty="0"/>
              <a:t>#</a:t>
            </a:r>
            <a:r>
              <a:rPr lang="zh-CN" altLang="en-US" dirty="0"/>
              <a:t> 查看</a:t>
            </a:r>
            <a:r>
              <a:rPr lang="en-US" altLang="zh-CN" dirty="0" err="1"/>
              <a:t>api</a:t>
            </a:r>
            <a:r>
              <a:rPr lang="zh-CN" altLang="en-US" dirty="0"/>
              <a:t> </a:t>
            </a:r>
            <a:r>
              <a:rPr lang="en-US" altLang="zh-CN" dirty="0"/>
              <a:t>level</a:t>
            </a:r>
            <a:r>
              <a:rPr lang="zh-CN" altLang="en-US" dirty="0"/>
              <a:t>，需要是</a:t>
            </a:r>
            <a:r>
              <a:rPr lang="en-US" altLang="zh-CN" dirty="0"/>
              <a:t>202404</a:t>
            </a:r>
            <a:r>
              <a:rPr lang="zh-CN" altLang="en-US" dirty="0"/>
              <a:t>及以后</a:t>
            </a:r>
            <a:r>
              <a:rPr lang="en" altLang="zh-CN" dirty="0" err="1"/>
              <a:t>adb</a:t>
            </a:r>
            <a:r>
              <a:rPr lang="en" altLang="zh-CN" dirty="0"/>
              <a:t> shell </a:t>
            </a:r>
            <a:r>
              <a:rPr lang="en" altLang="zh-CN" dirty="0" err="1"/>
              <a:t>getprop</a:t>
            </a:r>
            <a:r>
              <a:rPr lang="en" altLang="zh-CN" dirty="0"/>
              <a:t> </a:t>
            </a:r>
            <a:r>
              <a:rPr lang="en" altLang="zh-CN" dirty="0" err="1"/>
              <a:t>ro.vendor.api_level</a:t>
            </a:r>
            <a:endParaRPr lang="en" altLang="zh-CN" dirty="0"/>
          </a:p>
          <a:p>
            <a:r>
              <a:rPr lang="en-US" altLang="zh-CN" dirty="0"/>
              <a:t>#</a:t>
            </a:r>
            <a:r>
              <a:rPr lang="zh-CN" altLang="en-US" dirty="0"/>
              <a:t> </a:t>
            </a:r>
            <a:r>
              <a:rPr lang="zh-CN" altLang="en" dirty="0"/>
              <a:t>查看</a:t>
            </a:r>
            <a:r>
              <a:rPr lang="en-US" altLang="zh-CN" dirty="0" err="1"/>
              <a:t>hal</a:t>
            </a:r>
            <a:r>
              <a:rPr lang="zh-CN" altLang="en-US" dirty="0"/>
              <a:t>的方式：</a:t>
            </a:r>
            <a:r>
              <a:rPr lang="en-US" altLang="zh-CN" dirty="0" err="1"/>
              <a:t>adb</a:t>
            </a:r>
            <a:r>
              <a:rPr lang="en-US" altLang="zh-CN" dirty="0"/>
              <a:t> shell </a:t>
            </a:r>
            <a:r>
              <a:rPr lang="en-US" altLang="zh-CN" dirty="0" err="1"/>
              <a:t>getprop</a:t>
            </a:r>
            <a:r>
              <a:rPr lang="en-US" altLang="zh-CN" dirty="0"/>
              <a:t> media.c2.hal.selection</a:t>
            </a:r>
          </a:p>
          <a:p>
            <a:r>
              <a:rPr lang="en-US" altLang="zh-CN" dirty="0"/>
              <a:t>2.</a:t>
            </a:r>
            <a:r>
              <a:rPr lang="zh-CN" altLang="en-US" dirty="0"/>
              <a:t>通过查看</a:t>
            </a:r>
            <a:r>
              <a:rPr lang="en-US" altLang="zh-CN" dirty="0"/>
              <a:t>manifest</a:t>
            </a:r>
            <a:r>
              <a:rPr lang="zh-CN" altLang="en-US" dirty="0"/>
              <a:t>文件</a:t>
            </a:r>
            <a:endParaRPr lang="en-US" altLang="zh-CN" dirty="0"/>
          </a:p>
          <a:p>
            <a:r>
              <a:rPr lang="en-US" altLang="zh-CN" dirty="0"/>
              <a:t>#</a:t>
            </a:r>
            <a:r>
              <a:rPr lang="zh-CN" altLang="en-US" dirty="0"/>
              <a:t> 定位</a:t>
            </a:r>
            <a:r>
              <a:rPr lang="en-US" altLang="zh-CN" dirty="0"/>
              <a:t>c2store</a:t>
            </a:r>
            <a:r>
              <a:rPr lang="zh-CN" altLang="en-US" dirty="0"/>
              <a:t>的声明文件 ：</a:t>
            </a:r>
            <a:r>
              <a:rPr lang="en-US" altLang="zh-CN" dirty="0" err="1"/>
              <a:t>adb</a:t>
            </a:r>
            <a:r>
              <a:rPr lang="en-US" altLang="zh-CN" dirty="0"/>
              <a:t> shell grep –nr c2 /vendor/</a:t>
            </a:r>
            <a:r>
              <a:rPr lang="en-US" altLang="zh-CN" dirty="0" err="1"/>
              <a:t>etc</a:t>
            </a:r>
            <a:r>
              <a:rPr lang="en-US" altLang="zh-CN" dirty="0"/>
              <a:t>/</a:t>
            </a:r>
            <a:r>
              <a:rPr lang="en-US" altLang="zh-CN" dirty="0" err="1"/>
              <a:t>vintf</a:t>
            </a:r>
            <a:endParaRPr lang="en-US" altLang="zh-CN" dirty="0"/>
          </a:p>
          <a:p>
            <a:r>
              <a:rPr lang="en-US" altLang="zh-CN" dirty="0"/>
              <a:t># </a:t>
            </a:r>
            <a:r>
              <a:rPr lang="zh-CN" altLang="en-US" dirty="0"/>
              <a:t>使用</a:t>
            </a:r>
            <a:r>
              <a:rPr lang="en-US" altLang="zh-CN" dirty="0"/>
              <a:t>cat</a:t>
            </a:r>
            <a:r>
              <a:rPr lang="zh-CN" altLang="en-US" dirty="0"/>
              <a:t>查看获取到的文件内容：</a:t>
            </a:r>
            <a:r>
              <a:rPr lang="en-US" altLang="zh-CN" dirty="0" err="1"/>
              <a:t>adb</a:t>
            </a:r>
            <a:r>
              <a:rPr lang="en-US" altLang="zh-CN" dirty="0"/>
              <a:t> cat …</a:t>
            </a:r>
          </a:p>
          <a:p>
            <a:r>
              <a:rPr lang="en-US" altLang="zh-CN" dirty="0"/>
              <a:t>&lt;manifest version="1.0" type="device"&gt;</a:t>
            </a:r>
          </a:p>
          <a:p>
            <a:r>
              <a:rPr lang="en-US" altLang="zh-CN" dirty="0"/>
              <a:t>   &lt;!-- AIDL fragment --&gt;</a:t>
            </a:r>
          </a:p>
          <a:p>
            <a:r>
              <a:rPr lang="en-US" altLang="zh-CN" dirty="0"/>
              <a:t>      &lt;</a:t>
            </a:r>
            <a:r>
              <a:rPr lang="en-US" altLang="zh-CN" dirty="0" err="1"/>
              <a:t>hal</a:t>
            </a:r>
            <a:r>
              <a:rPr lang="en-US" altLang="zh-CN" dirty="0"/>
              <a:t> format="</a:t>
            </a:r>
            <a:r>
              <a:rPr lang="en-US" altLang="zh-CN" dirty="0" err="1"/>
              <a:t>aidl</a:t>
            </a:r>
            <a:r>
              <a:rPr lang="en-US" altLang="zh-CN" dirty="0"/>
              <a:t>"&gt;</a:t>
            </a:r>
          </a:p>
          <a:p>
            <a:r>
              <a:rPr lang="en-US" altLang="zh-CN" dirty="0"/>
              <a:t>        &lt;name&gt;android.hardware.media.c2&lt;/name&gt;</a:t>
            </a:r>
          </a:p>
          <a:p>
            <a:r>
              <a:rPr lang="en-US" altLang="zh-CN" dirty="0"/>
              <a:t>        &lt;version&gt;1&lt;/version&gt;</a:t>
            </a:r>
          </a:p>
          <a:p>
            <a:r>
              <a:rPr lang="en-US" altLang="zh-CN" dirty="0"/>
              <a:t>        &lt;</a:t>
            </a:r>
            <a:r>
              <a:rPr lang="en-US" altLang="zh-CN" dirty="0" err="1"/>
              <a:t>fqname</a:t>
            </a:r>
            <a:r>
              <a:rPr lang="en-US" altLang="zh-CN" dirty="0"/>
              <a:t>&gt;</a:t>
            </a:r>
            <a:r>
              <a:rPr lang="en-US" altLang="zh-CN" dirty="0" err="1"/>
              <a:t>IComponentStore</a:t>
            </a:r>
            <a:r>
              <a:rPr lang="en-US" altLang="zh-CN" dirty="0"/>
              <a:t>/default&lt;/</a:t>
            </a:r>
            <a:r>
              <a:rPr lang="en-US" altLang="zh-CN" dirty="0" err="1"/>
              <a:t>fqname</a:t>
            </a:r>
            <a:r>
              <a:rPr lang="en-US" altLang="zh-CN" dirty="0"/>
              <a:t>&gt;</a:t>
            </a:r>
          </a:p>
          <a:p>
            <a:r>
              <a:rPr lang="en-US" altLang="zh-CN" dirty="0"/>
              <a:t>      &lt;/</a:t>
            </a:r>
            <a:r>
              <a:rPr lang="en-US" altLang="zh-CN" dirty="0" err="1"/>
              <a:t>hal</a:t>
            </a:r>
            <a:r>
              <a:rPr lang="en-US" altLang="zh-CN" dirty="0"/>
              <a:t>&gt;</a:t>
            </a:r>
          </a:p>
          <a:p>
            <a:r>
              <a:rPr lang="en-US" altLang="zh-CN" dirty="0"/>
              <a:t>&lt;/manifest&gt;</a:t>
            </a:r>
          </a:p>
          <a:p>
            <a:r>
              <a:rPr lang="en-US" altLang="zh-CN" dirty="0"/>
              <a:t>3.</a:t>
            </a:r>
            <a:r>
              <a:rPr lang="zh-CN" altLang="en-US" dirty="0"/>
              <a:t>通过代码调试</a:t>
            </a:r>
            <a:endParaRPr lang="en-US" altLang="zh-CN" dirty="0"/>
          </a:p>
        </p:txBody>
      </p:sp>
      <p:pic>
        <p:nvPicPr>
          <p:cNvPr id="26" name="图片 25">
            <a:extLst>
              <a:ext uri="{FF2B5EF4-FFF2-40B4-BE49-F238E27FC236}">
                <a16:creationId xmlns:a16="http://schemas.microsoft.com/office/drawing/2014/main" id="{7C4E135F-D7FC-2199-CF65-10AD91126DFC}"/>
              </a:ext>
            </a:extLst>
          </p:cNvPr>
          <p:cNvPicPr>
            <a:picLocks noChangeAspect="1"/>
          </p:cNvPicPr>
          <p:nvPr/>
        </p:nvPicPr>
        <p:blipFill rotWithShape="1">
          <a:blip r:embed="rId3"/>
          <a:srcRect r="4769"/>
          <a:stretch/>
        </p:blipFill>
        <p:spPr>
          <a:xfrm>
            <a:off x="4798439" y="5238420"/>
            <a:ext cx="7401785" cy="1619580"/>
          </a:xfrm>
          <a:prstGeom prst="rect">
            <a:avLst/>
          </a:prstGeom>
        </p:spPr>
      </p:pic>
      <p:sp>
        <p:nvSpPr>
          <p:cNvPr id="28" name="下箭头 27">
            <a:extLst>
              <a:ext uri="{FF2B5EF4-FFF2-40B4-BE49-F238E27FC236}">
                <a16:creationId xmlns:a16="http://schemas.microsoft.com/office/drawing/2014/main" id="{3BF377CD-D16A-5A9E-5B51-CC151794481A}"/>
              </a:ext>
            </a:extLst>
          </p:cNvPr>
          <p:cNvSpPr/>
          <p:nvPr/>
        </p:nvSpPr>
        <p:spPr>
          <a:xfrm rot="16200000">
            <a:off x="3750976" y="2855621"/>
            <a:ext cx="863028" cy="993191"/>
          </a:xfrm>
          <a:prstGeom prst="downArrow">
            <a:avLst/>
          </a:prstGeom>
          <a:solidFill>
            <a:srgbClr val="BA494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9291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FBE13AF-DA4B-A49E-92CF-B37DAC464FE5}"/>
              </a:ext>
            </a:extLst>
          </p:cNvPr>
          <p:cNvSpPr txBox="1"/>
          <p:nvPr/>
        </p:nvSpPr>
        <p:spPr>
          <a:xfrm>
            <a:off x="417443" y="178904"/>
            <a:ext cx="1467068" cy="461665"/>
          </a:xfrm>
          <a:prstGeom prst="rect">
            <a:avLst/>
          </a:prstGeom>
          <a:noFill/>
        </p:spPr>
        <p:txBody>
          <a:bodyPr wrap="none" rtlCol="0">
            <a:spAutoFit/>
          </a:bodyPr>
          <a:lstStyle/>
          <a:p>
            <a:r>
              <a:rPr lang="zh-CN" altLang="en-US" sz="2400" b="1" spc="100">
                <a:latin typeface="微软雅黑" panose="020B0503020204020204" pitchFamily="34" charset="-122"/>
                <a:ea typeface="微软雅黑" panose="020B0503020204020204" pitchFamily="34" charset="-122"/>
              </a:rPr>
              <a:t>解决方案</a:t>
            </a:r>
            <a:endParaRPr lang="zh-CN" altLang="en-US" sz="2400" b="1" spc="100" dirty="0">
              <a:latin typeface="微软雅黑" panose="020B0503020204020204" pitchFamily="34" charset="-122"/>
              <a:ea typeface="微软雅黑" panose="020B0503020204020204" pitchFamily="34" charset="-122"/>
            </a:endParaRPr>
          </a:p>
        </p:txBody>
      </p:sp>
      <p:pic>
        <p:nvPicPr>
          <p:cNvPr id="14" name="图片 13" descr="日程表&#10;&#10;描述已自动生成">
            <a:extLst>
              <a:ext uri="{FF2B5EF4-FFF2-40B4-BE49-F238E27FC236}">
                <a16:creationId xmlns:a16="http://schemas.microsoft.com/office/drawing/2014/main" id="{BB5B73BF-7AF0-1749-7D9D-B1C47EC72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653" y="762820"/>
            <a:ext cx="8727978" cy="5774098"/>
          </a:xfrm>
          <a:prstGeom prst="rect">
            <a:avLst/>
          </a:prstGeom>
        </p:spPr>
      </p:pic>
      <p:sp>
        <p:nvSpPr>
          <p:cNvPr id="15" name="文本框 14">
            <a:extLst>
              <a:ext uri="{FF2B5EF4-FFF2-40B4-BE49-F238E27FC236}">
                <a16:creationId xmlns:a16="http://schemas.microsoft.com/office/drawing/2014/main" id="{8C4FCF6A-ABC0-6016-C80A-89351B0636EF}"/>
              </a:ext>
            </a:extLst>
          </p:cNvPr>
          <p:cNvSpPr txBox="1"/>
          <p:nvPr/>
        </p:nvSpPr>
        <p:spPr>
          <a:xfrm>
            <a:off x="9045146" y="768430"/>
            <a:ext cx="2743201" cy="4247317"/>
          </a:xfrm>
          <a:prstGeom prst="rect">
            <a:avLst/>
          </a:prstGeom>
          <a:noFill/>
        </p:spPr>
        <p:txBody>
          <a:bodyPr wrap="square" rtlCol="0">
            <a:spAutoFit/>
          </a:bodyPr>
          <a:lstStyle/>
          <a:p>
            <a:r>
              <a:rPr kumimoji="1" lang="zh-CN" altLang="en-US" dirty="0"/>
              <a:t>正常的应用退出或者应用对编解码器的释放会触发</a:t>
            </a:r>
            <a:r>
              <a:rPr kumimoji="1" lang="en-US" altLang="zh-CN" dirty="0"/>
              <a:t>looper</a:t>
            </a:r>
            <a:r>
              <a:rPr kumimoji="1" lang="zh-CN" altLang="en-US" dirty="0"/>
              <a:t>线程对</a:t>
            </a:r>
            <a:r>
              <a:rPr kumimoji="1" lang="en-US" altLang="zh-CN" dirty="0"/>
              <a:t>Observer</a:t>
            </a:r>
            <a:r>
              <a:rPr kumimoji="1" lang="zh-CN" altLang="en-US" dirty="0"/>
              <a:t>的</a:t>
            </a:r>
            <a:r>
              <a:rPr kumimoji="1" lang="en-US" altLang="zh-CN" dirty="0"/>
              <a:t>binder</a:t>
            </a:r>
            <a:r>
              <a:rPr kumimoji="1" lang="zh-CN" altLang="en-US" dirty="0"/>
              <a:t>调用，直接通过消息机制来释放图形内存。当使用</a:t>
            </a:r>
            <a:r>
              <a:rPr kumimoji="1" lang="en-US" altLang="zh-CN" dirty="0"/>
              <a:t>kill</a:t>
            </a:r>
            <a:r>
              <a:rPr kumimoji="1" lang="zh-CN" altLang="en-US" dirty="0"/>
              <a:t>的方式则不会有该调用，但无论是哪种方式退出，当编解码业务结束后都会调用到</a:t>
            </a:r>
            <a:r>
              <a:rPr kumimoji="1" lang="en-US" altLang="zh-CN" dirty="0"/>
              <a:t>Component</a:t>
            </a:r>
            <a:r>
              <a:rPr kumimoji="1" lang="zh-CN" altLang="en-US" dirty="0"/>
              <a:t>的析构函数。因此通过在</a:t>
            </a:r>
            <a:r>
              <a:rPr kumimoji="1" lang="en-US" altLang="zh-CN" dirty="0"/>
              <a:t>Component</a:t>
            </a:r>
            <a:r>
              <a:rPr kumimoji="1" lang="zh-CN" altLang="en-US" dirty="0"/>
              <a:t>的析构函数中添加</a:t>
            </a:r>
            <a:r>
              <a:rPr kumimoji="1" lang="en-US" altLang="zh-CN" dirty="0"/>
              <a:t>buffer</a:t>
            </a:r>
            <a:r>
              <a:rPr kumimoji="1" lang="zh-CN" altLang="en-US" dirty="0"/>
              <a:t>的清理动作即可保证问题场景中图形内存也可以被正常释放。</a:t>
            </a:r>
          </a:p>
        </p:txBody>
      </p:sp>
    </p:spTree>
    <p:extLst>
      <p:ext uri="{BB962C8B-B14F-4D97-AF65-F5344CB8AC3E}">
        <p14:creationId xmlns:p14="http://schemas.microsoft.com/office/powerpoint/2010/main" val="2871414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DDABA-C8CE-47A3-2275-D0C0F8712FAD}"/>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791BB4B-64D1-1546-2E97-87C39105102E}"/>
              </a:ext>
            </a:extLst>
          </p:cNvPr>
          <p:cNvSpPr txBox="1"/>
          <p:nvPr/>
        </p:nvSpPr>
        <p:spPr>
          <a:xfrm>
            <a:off x="417443" y="178904"/>
            <a:ext cx="1467068" cy="461665"/>
          </a:xfrm>
          <a:prstGeom prst="rect">
            <a:avLst/>
          </a:prstGeom>
          <a:noFill/>
        </p:spPr>
        <p:txBody>
          <a:bodyPr wrap="none" rtlCol="0">
            <a:spAutoFit/>
          </a:bodyPr>
          <a:lstStyle/>
          <a:p>
            <a:r>
              <a:rPr lang="zh-CN" altLang="en-US" sz="2400" b="1" spc="100">
                <a:latin typeface="微软雅黑" panose="020B0503020204020204" pitchFamily="34" charset="-122"/>
                <a:ea typeface="微软雅黑" panose="020B0503020204020204" pitchFamily="34" charset="-122"/>
              </a:rPr>
              <a:t>解决方案</a:t>
            </a:r>
            <a:endParaRPr lang="zh-CN" altLang="en-US" sz="2400" b="1" spc="100"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D0857EAD-FE10-8C86-054C-4A9964A0D33B}"/>
              </a:ext>
            </a:extLst>
          </p:cNvPr>
          <p:cNvSpPr txBox="1"/>
          <p:nvPr/>
        </p:nvSpPr>
        <p:spPr>
          <a:xfrm>
            <a:off x="417442" y="827414"/>
            <a:ext cx="9928633" cy="460382"/>
          </a:xfrm>
          <a:prstGeom prst="rect">
            <a:avLst/>
          </a:prstGeom>
          <a:noFill/>
        </p:spPr>
        <p:txBody>
          <a:bodyPr wrap="square">
            <a:spAutoFit/>
          </a:bodyPr>
          <a:lstStyle/>
          <a:p>
            <a:pPr>
              <a:lnSpc>
                <a:spcPct val="150000"/>
              </a:lnSpc>
            </a:pPr>
            <a:r>
              <a:rPr lang="zh-CN" altLang="en-US" dirty="0"/>
              <a:t>修改后，多媒体编解码进程的内存被拉起后应用被杀掉，该进程内存正常回落。</a:t>
            </a:r>
            <a:endParaRPr lang="en-US" altLang="zh-CN" dirty="0"/>
          </a:p>
        </p:txBody>
      </p:sp>
      <p:pic>
        <p:nvPicPr>
          <p:cNvPr id="5" name="图片 4">
            <a:extLst>
              <a:ext uri="{FF2B5EF4-FFF2-40B4-BE49-F238E27FC236}">
                <a16:creationId xmlns:a16="http://schemas.microsoft.com/office/drawing/2014/main" id="{71BEAED9-AB98-5B6A-CEEF-13C461AB6726}"/>
              </a:ext>
            </a:extLst>
          </p:cNvPr>
          <p:cNvPicPr>
            <a:picLocks noChangeAspect="1"/>
          </p:cNvPicPr>
          <p:nvPr/>
        </p:nvPicPr>
        <p:blipFill>
          <a:blip r:embed="rId2"/>
          <a:stretch>
            <a:fillRect/>
          </a:stretch>
        </p:blipFill>
        <p:spPr>
          <a:xfrm>
            <a:off x="162068" y="1721248"/>
            <a:ext cx="11343701" cy="4309338"/>
          </a:xfrm>
          <a:prstGeom prst="rect">
            <a:avLst/>
          </a:prstGeom>
        </p:spPr>
      </p:pic>
    </p:spTree>
    <p:extLst>
      <p:ext uri="{BB962C8B-B14F-4D97-AF65-F5344CB8AC3E}">
        <p14:creationId xmlns:p14="http://schemas.microsoft.com/office/powerpoint/2010/main" val="1916959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总结</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7442" y="640569"/>
            <a:ext cx="11497189" cy="5959645"/>
          </a:xfrm>
          <a:prstGeom prst="rect">
            <a:avLst/>
          </a:prstGeom>
        </p:spPr>
        <p:txBody>
          <a:bodyPr wrap="none">
            <a:noAutofit/>
          </a:bodyPr>
          <a:lstStyle/>
          <a:p>
            <a:pPr>
              <a:lnSpc>
                <a:spcPct val="250000"/>
              </a:lnSpc>
            </a:pPr>
            <a:r>
              <a:rPr lang="zh-CN" altLang="en-US" sz="1400" b="1" dirty="0">
                <a:latin typeface="微软雅黑" panose="020B0503020204020204" pitchFamily="34" charset="-122"/>
                <a:ea typeface="微软雅黑" panose="020B0503020204020204" pitchFamily="34" charset="-122"/>
              </a:rPr>
              <a:t>因为客户常驻内存的要求，该问题需要被解决。该问题不只是单纯的</a:t>
            </a:r>
            <a:r>
              <a:rPr lang="en-US" altLang="zh-CN" sz="1400" b="1" dirty="0" err="1">
                <a:latin typeface="微软雅黑" panose="020B0503020204020204" pitchFamily="34" charset="-122"/>
                <a:ea typeface="微软雅黑" panose="020B0503020204020204" pitchFamily="34" charset="-122"/>
              </a:rPr>
              <a:t>mtk</a:t>
            </a:r>
            <a:r>
              <a:rPr lang="zh-CN" altLang="en-US" sz="1400" b="1" dirty="0">
                <a:latin typeface="微软雅黑" panose="020B0503020204020204" pitchFamily="34" charset="-122"/>
                <a:ea typeface="微软雅黑" panose="020B0503020204020204" pitchFamily="34" charset="-122"/>
              </a:rPr>
              <a:t>编解码进程的问题，如果切换到</a:t>
            </a:r>
            <a:r>
              <a:rPr lang="en-US" altLang="zh-CN" sz="1400" b="1" dirty="0">
                <a:latin typeface="微软雅黑" panose="020B0503020204020204" pitchFamily="34" charset="-122"/>
                <a:ea typeface="微软雅黑" panose="020B0503020204020204" pitchFamily="34" charset="-122"/>
              </a:rPr>
              <a:t>Google</a:t>
            </a:r>
            <a:r>
              <a:rPr lang="zh-CN" altLang="en-US" sz="1400" b="1" dirty="0">
                <a:latin typeface="微软雅黑" panose="020B0503020204020204" pitchFamily="34" charset="-122"/>
                <a:ea typeface="微软雅黑" panose="020B0503020204020204" pitchFamily="34" charset="-122"/>
              </a:rPr>
              <a:t>软解，该问题同样可以复现。</a:t>
            </a:r>
            <a:endParaRPr lang="en-US" altLang="zh-CN" sz="1400" b="1" dirty="0">
              <a:latin typeface="微软雅黑" panose="020B0503020204020204" pitchFamily="34" charset="-122"/>
              <a:ea typeface="微软雅黑" panose="020B0503020204020204" pitchFamily="34" charset="-122"/>
            </a:endParaRPr>
          </a:p>
          <a:p>
            <a:pPr>
              <a:lnSpc>
                <a:spcPct val="250000"/>
              </a:lnSpc>
            </a:pPr>
            <a:r>
              <a:rPr lang="zh-CN" altLang="en-US" sz="1400" b="1" dirty="0">
                <a:latin typeface="微软雅黑" panose="020B0503020204020204" pitchFamily="34" charset="-122"/>
                <a:ea typeface="微软雅黑" panose="020B0503020204020204" pitchFamily="34" charset="-122"/>
              </a:rPr>
              <a:t>但从实际用户角度上出发，即使应用被系统强杀导致了</a:t>
            </a:r>
            <a:r>
              <a:rPr lang="en-US" altLang="zh-CN" sz="1400" b="1" dirty="0" err="1">
                <a:latin typeface="微软雅黑" panose="020B0503020204020204" pitchFamily="34" charset="-122"/>
                <a:ea typeface="微软雅黑" panose="020B0503020204020204" pitchFamily="34" charset="-122"/>
              </a:rPr>
              <a:t>dmabuf</a:t>
            </a:r>
            <a:r>
              <a:rPr lang="zh-CN" altLang="en-US" sz="1400" b="1" dirty="0">
                <a:latin typeface="微软雅黑" panose="020B0503020204020204" pitchFamily="34" charset="-122"/>
                <a:ea typeface="微软雅黑" panose="020B0503020204020204" pitchFamily="34" charset="-122"/>
              </a:rPr>
              <a:t>的残留，在后续的编解码业务结束后也可以将该部分内存释放，该部分内存不会</a:t>
            </a:r>
            <a:endParaRPr lang="en-US" altLang="zh-CN" sz="1400" b="1" dirty="0">
              <a:latin typeface="微软雅黑" panose="020B0503020204020204" pitchFamily="34" charset="-122"/>
              <a:ea typeface="微软雅黑" panose="020B0503020204020204" pitchFamily="34" charset="-122"/>
            </a:endParaRPr>
          </a:p>
          <a:p>
            <a:pPr>
              <a:lnSpc>
                <a:spcPct val="250000"/>
              </a:lnSpc>
            </a:pPr>
            <a:r>
              <a:rPr lang="zh-CN" altLang="en-US" sz="1400" b="1" dirty="0">
                <a:latin typeface="微软雅黑" panose="020B0503020204020204" pitchFamily="34" charset="-122"/>
                <a:ea typeface="微软雅黑" panose="020B0503020204020204" pitchFamily="34" charset="-122"/>
              </a:rPr>
              <a:t>一直升高，并不存在内存泄漏的风险。</a:t>
            </a:r>
            <a:endParaRPr lang="en-US" altLang="zh-CN" sz="1400" b="1" dirty="0">
              <a:latin typeface="微软雅黑" panose="020B0503020204020204" pitchFamily="34" charset="-122"/>
              <a:ea typeface="微软雅黑" panose="020B0503020204020204" pitchFamily="34" charset="-122"/>
            </a:endParaRPr>
          </a:p>
          <a:p>
            <a:pPr>
              <a:lnSpc>
                <a:spcPct val="250000"/>
              </a:lnSpc>
            </a:pPr>
            <a:r>
              <a:rPr lang="zh-CN" altLang="en-US" dirty="0">
                <a:latin typeface="微软雅黑" panose="020B0503020204020204" pitchFamily="34" charset="-122"/>
                <a:ea typeface="微软雅黑" panose="020B0503020204020204" pitchFamily="34" charset="-122"/>
              </a:rPr>
              <a:t>方法论：</a:t>
            </a:r>
            <a:endParaRPr lang="en-US" altLang="zh-CN" dirty="0">
              <a:latin typeface="微软雅黑" panose="020B0503020204020204" pitchFamily="34" charset="-122"/>
              <a:ea typeface="微软雅黑" panose="020B0503020204020204" pitchFamily="34" charset="-122"/>
            </a:endParaRPr>
          </a:p>
          <a:p>
            <a:pPr>
              <a:lnSpc>
                <a:spcPct val="250000"/>
              </a:lnSpc>
            </a:pPr>
            <a:r>
              <a:rPr lang="zh-CN" altLang="en-US" sz="1400" dirty="0">
                <a:latin typeface="微软雅黑" panose="020B0503020204020204" pitchFamily="34" charset="-122"/>
                <a:ea typeface="微软雅黑" panose="020B0503020204020204" pitchFamily="34" charset="-122"/>
              </a:rPr>
              <a:t>当项目中遇到和</a:t>
            </a:r>
            <a:r>
              <a:rPr lang="en-US" altLang="zh-CN" sz="1400" dirty="0">
                <a:latin typeface="微软雅黑" panose="020B0503020204020204" pitchFamily="34" charset="-122"/>
                <a:ea typeface="微软雅黑" panose="020B0503020204020204" pitchFamily="34" charset="-122"/>
              </a:rPr>
              <a:t>LL</a:t>
            </a:r>
            <a:r>
              <a:rPr lang="zh-CN" altLang="en-US" sz="1400" dirty="0">
                <a:latin typeface="微软雅黑" panose="020B0503020204020204" pitchFamily="34" charset="-122"/>
                <a:ea typeface="微软雅黑" panose="020B0503020204020204" pitchFamily="34" charset="-122"/>
              </a:rPr>
              <a:t>文档中类似的问题时，参考其分享的宝贵经验和分析思路来进行问题分析。当发现</a:t>
            </a:r>
            <a:endParaRPr lang="en-US" altLang="zh-CN" sz="1400" dirty="0">
              <a:latin typeface="微软雅黑" panose="020B0503020204020204" pitchFamily="34" charset="-122"/>
              <a:ea typeface="微软雅黑" panose="020B0503020204020204" pitchFamily="34" charset="-122"/>
            </a:endParaRPr>
          </a:p>
          <a:p>
            <a:pPr>
              <a:lnSpc>
                <a:spcPct val="250000"/>
              </a:lnSpc>
            </a:pPr>
            <a:r>
              <a:rPr lang="zh-CN" altLang="en-US" sz="1400" dirty="0">
                <a:latin typeface="微软雅黑" panose="020B0503020204020204" pitchFamily="34" charset="-122"/>
                <a:ea typeface="微软雅黑" panose="020B0503020204020204" pitchFamily="34" charset="-122"/>
              </a:rPr>
              <a:t>类似的方案在当前项目上无法生效时，应当首先通过调试的方式确认该方案在当前项目上是否已经生效。</a:t>
            </a:r>
            <a:endParaRPr lang="en-US" altLang="zh-CN" sz="1400" dirty="0">
              <a:latin typeface="微软雅黑" panose="020B0503020204020204" pitchFamily="34" charset="-122"/>
              <a:ea typeface="微软雅黑" panose="020B0503020204020204" pitchFamily="34" charset="-122"/>
            </a:endParaRPr>
          </a:p>
          <a:p>
            <a:pPr>
              <a:lnSpc>
                <a:spcPct val="250000"/>
              </a:lnSpc>
            </a:pPr>
            <a:r>
              <a:rPr lang="zh-CN" altLang="en-US" sz="1400" dirty="0">
                <a:latin typeface="微软雅黑" panose="020B0503020204020204" pitchFamily="34" charset="-122"/>
                <a:ea typeface="微软雅黑" panose="020B0503020204020204" pitchFamily="34" charset="-122"/>
              </a:rPr>
              <a:t>若不能，则需要进一步排查原因。</a:t>
            </a:r>
            <a:endParaRPr lang="en-US" altLang="zh-CN" sz="1400" dirty="0">
              <a:latin typeface="微软雅黑" panose="020B0503020204020204" pitchFamily="34" charset="-122"/>
              <a:ea typeface="微软雅黑" panose="020B0503020204020204" pitchFamily="34" charset="-122"/>
            </a:endParaRPr>
          </a:p>
          <a:p>
            <a:pPr>
              <a:lnSpc>
                <a:spcPct val="250000"/>
              </a:lnSpc>
            </a:pPr>
            <a:r>
              <a:rPr lang="zh-CN" altLang="en-US" sz="1400" dirty="0">
                <a:latin typeface="微软雅黑" panose="020B0503020204020204" pitchFamily="34" charset="-122"/>
                <a:ea typeface="微软雅黑" panose="020B0503020204020204" pitchFamily="34" charset="-122"/>
              </a:rPr>
              <a:t>该问题场景中，参考于</a:t>
            </a:r>
            <a:r>
              <a:rPr lang="en-US" altLang="zh-CN" sz="1400" dirty="0">
                <a:latin typeface="微软雅黑" panose="020B0503020204020204" pitchFamily="34" charset="-122"/>
                <a:ea typeface="微软雅黑" panose="020B0503020204020204" pitchFamily="34" charset="-122"/>
              </a:rPr>
              <a:t>M639</a:t>
            </a:r>
            <a:r>
              <a:rPr lang="zh-CN" altLang="en-US" sz="1400" dirty="0">
                <a:latin typeface="微软雅黑" panose="020B0503020204020204" pitchFamily="34" charset="-122"/>
                <a:ea typeface="微软雅黑" panose="020B0503020204020204" pitchFamily="34" charset="-122"/>
              </a:rPr>
              <a:t>项目中的</a:t>
            </a:r>
            <a:r>
              <a:rPr lang="en-US" altLang="zh-CN" sz="1400" dirty="0" err="1">
                <a:latin typeface="微软雅黑" panose="020B0503020204020204" pitchFamily="34" charset="-122"/>
                <a:ea typeface="微软雅黑" panose="020B0503020204020204" pitchFamily="34" charset="-122"/>
              </a:rPr>
              <a:t>mediaserver</a:t>
            </a:r>
            <a:r>
              <a:rPr lang="zh-CN" altLang="en-US" sz="1400" dirty="0">
                <a:latin typeface="微软雅黑" panose="020B0503020204020204" pitchFamily="34" charset="-122"/>
                <a:ea typeface="微软雅黑" panose="020B0503020204020204" pitchFamily="34" charset="-122"/>
              </a:rPr>
              <a:t>进程内存优化经验，通过排查编解码实例是否全部</a:t>
            </a:r>
            <a:endParaRPr lang="en-US" altLang="zh-CN" sz="1400" dirty="0">
              <a:latin typeface="微软雅黑" panose="020B0503020204020204" pitchFamily="34" charset="-122"/>
              <a:ea typeface="微软雅黑" panose="020B0503020204020204" pitchFamily="34" charset="-122"/>
            </a:endParaRPr>
          </a:p>
          <a:p>
            <a:pPr>
              <a:lnSpc>
                <a:spcPct val="250000"/>
              </a:lnSpc>
            </a:pPr>
            <a:r>
              <a:rPr lang="zh-CN" altLang="en-US" sz="1400" dirty="0">
                <a:latin typeface="微软雅黑" panose="020B0503020204020204" pitchFamily="34" charset="-122"/>
                <a:ea typeface="微软雅黑" panose="020B0503020204020204" pitchFamily="34" charset="-122"/>
              </a:rPr>
              <a:t>释放、是否存在</a:t>
            </a:r>
            <a:r>
              <a:rPr lang="en-US" altLang="zh-CN" sz="1400" dirty="0" err="1">
                <a:latin typeface="微软雅黑" panose="020B0503020204020204" pitchFamily="34" charset="-122"/>
                <a:ea typeface="微软雅黑" panose="020B0503020204020204" pitchFamily="34" charset="-122"/>
              </a:rPr>
              <a:t>mtk</a:t>
            </a:r>
            <a:r>
              <a:rPr lang="zh-CN" altLang="en-US" sz="1400" dirty="0">
                <a:latin typeface="微软雅黑" panose="020B0503020204020204" pitchFamily="34" charset="-122"/>
                <a:ea typeface="微软雅黑" panose="020B0503020204020204" pitchFamily="34" charset="-122"/>
              </a:rPr>
              <a:t>编解码内存泄漏后再通过</a:t>
            </a:r>
            <a:r>
              <a:rPr lang="en-US" altLang="zh-CN" sz="1400" dirty="0" err="1">
                <a:latin typeface="微软雅黑" panose="020B0503020204020204" pitchFamily="34" charset="-122"/>
                <a:ea typeface="微软雅黑" panose="020B0503020204020204" pitchFamily="34" charset="-122"/>
              </a:rPr>
              <a:t>meminfo</a:t>
            </a:r>
            <a:r>
              <a:rPr lang="zh-CN" altLang="en-US" sz="1400" dirty="0">
                <a:latin typeface="微软雅黑" panose="020B0503020204020204" pitchFamily="34" charset="-122"/>
                <a:ea typeface="微软雅黑" panose="020B0503020204020204" pitchFamily="34" charset="-122"/>
              </a:rPr>
              <a:t>和</a:t>
            </a:r>
            <a:r>
              <a:rPr lang="en-US" altLang="zh-CN" sz="1400" dirty="0" err="1">
                <a:latin typeface="微软雅黑" panose="020B0503020204020204" pitchFamily="34" charset="-122"/>
                <a:ea typeface="微软雅黑" panose="020B0503020204020204" pitchFamily="34" charset="-122"/>
              </a:rPr>
              <a:t>showmap</a:t>
            </a:r>
            <a:r>
              <a:rPr lang="zh-CN" altLang="en-US" sz="1400" dirty="0">
                <a:latin typeface="微软雅黑" panose="020B0503020204020204" pitchFamily="34" charset="-122"/>
                <a:ea typeface="微软雅黑" panose="020B0503020204020204" pitchFamily="34" charset="-122"/>
              </a:rPr>
              <a:t>定位具体的内存异常点。最后在通过历</a:t>
            </a:r>
            <a:endParaRPr lang="en-US" altLang="zh-CN" sz="1400" dirty="0">
              <a:latin typeface="微软雅黑" panose="020B0503020204020204" pitchFamily="34" charset="-122"/>
              <a:ea typeface="微软雅黑" panose="020B0503020204020204" pitchFamily="34" charset="-122"/>
            </a:endParaRPr>
          </a:p>
          <a:p>
            <a:pPr>
              <a:lnSpc>
                <a:spcPct val="250000"/>
              </a:lnSpc>
            </a:pPr>
            <a:r>
              <a:rPr lang="zh-CN" altLang="en-US" sz="1400" dirty="0">
                <a:latin typeface="微软雅黑" panose="020B0503020204020204" pitchFamily="34" charset="-122"/>
                <a:ea typeface="微软雅黑" panose="020B0503020204020204" pitchFamily="34" charset="-122"/>
              </a:rPr>
              <a:t>史项目的类似经验的基础上去调试出最终方案。</a:t>
            </a:r>
            <a:endParaRPr lang="en-US" altLang="zh-CN" sz="14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417443" y="178904"/>
            <a:ext cx="825867"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总结</a:t>
            </a:r>
          </a:p>
        </p:txBody>
      </p:sp>
      <p:pic>
        <p:nvPicPr>
          <p:cNvPr id="7169" name="Picture 1">
            <a:extLst>
              <a:ext uri="{FF2B5EF4-FFF2-40B4-BE49-F238E27FC236}">
                <a16:creationId xmlns:a16="http://schemas.microsoft.com/office/drawing/2014/main" id="{8A9227C8-703E-B80C-585B-46B369E62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9428" y="1678520"/>
            <a:ext cx="4142572" cy="5179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940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4219827" y="2572068"/>
            <a:ext cx="6552730" cy="922020"/>
          </a:xfrm>
          <a:prstGeom prst="rect">
            <a:avLst/>
          </a:prstGeom>
          <a:noFill/>
          <a:effec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愿景</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成为领先的智能产品和服务提供商</a:t>
            </a:r>
          </a:p>
        </p:txBody>
      </p:sp>
      <p:sp>
        <p:nvSpPr>
          <p:cNvPr id="8" name="矩形 7"/>
          <p:cNvSpPr/>
          <p:nvPr/>
        </p:nvSpPr>
        <p:spPr>
          <a:xfrm>
            <a:off x="4219827" y="1593273"/>
            <a:ext cx="6552730" cy="922020"/>
          </a:xfrm>
          <a:prstGeom prst="rect">
            <a:avLst/>
          </a:prstGeom>
          <a:noFill/>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使命</a:t>
            </a:r>
            <a:br>
              <a:rPr kumimoji="0" lang="en-US" altLang="zh-CN" sz="16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用科技为社会创造新价值</a:t>
            </a:r>
          </a:p>
        </p:txBody>
      </p:sp>
      <p:sp>
        <p:nvSpPr>
          <p:cNvPr id="9" name="矩形 8"/>
          <p:cNvSpPr/>
          <p:nvPr/>
        </p:nvSpPr>
        <p:spPr>
          <a:xfrm>
            <a:off x="4208735" y="3556261"/>
            <a:ext cx="3320619" cy="1660525"/>
          </a:xfrm>
          <a:prstGeom prst="rect">
            <a:avLst/>
          </a:prstGeom>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核心价值观</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以客户为中心</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以贡献者为本</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长期主义</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14743de0-5e1a-441d-be10-301dd693b907"/>
  <p:tag name="COMMONDATA" val="eyJoZGlkIjoiMGRmYjFhMjIwNDUzYWFiMGEwYTJlN2M1MTIxYjZmYTI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2cf2efd-bf1c-49fc-87d7-9106375ae17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3423</Words>
  <Application>Microsoft Macintosh PowerPoint</Application>
  <PresentationFormat>宽屏</PresentationFormat>
  <Paragraphs>240</Paragraphs>
  <Slides>26</Slides>
  <Notes>0</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26</vt:i4>
      </vt:variant>
    </vt:vector>
  </HeadingPairs>
  <TitlesOfParts>
    <vt:vector size="39" baseType="lpstr">
      <vt:lpstr>等线</vt:lpstr>
      <vt:lpstr>等线 Light</vt:lpstr>
      <vt:lpstr>楷体</vt:lpstr>
      <vt:lpstr>微软雅黑</vt:lpstr>
      <vt:lpstr>DeepSeek-CJK-patch</vt:lpstr>
      <vt:lpstr>PingFang SC</vt:lpstr>
      <vt:lpstr>Arial</vt:lpstr>
      <vt:lpstr>Arial Black</vt:lpstr>
      <vt:lpstr>Calibri</vt:lpstr>
      <vt:lpstr>Office 主题</vt:lpstr>
      <vt:lpstr>1_Office 主题​​</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2025-02-28T01:38:42Z</dcterms:created>
  <dcterms:modified xsi:type="dcterms:W3CDTF">2025-05-15T12:49:40Z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13D70385650B408FAEB72BEBD79E2F81</vt:lpwstr>
  </property>
  <property fmtid="{D5CDD505-2E9C-101B-9397-08002B2CF9AE}" pid="3" name="KSOProductBuildVer">
    <vt:lpwstr>2052-0.0.0.0</vt:lpwstr>
  </property>
</Properties>
</file>