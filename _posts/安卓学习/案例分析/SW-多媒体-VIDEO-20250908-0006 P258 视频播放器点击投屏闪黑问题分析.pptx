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57" r:id="rId2"/>
    <p:sldMasterId id="2147483669" r:id="rId3"/>
    <p:sldMasterId id="2147483680" r:id="rId4"/>
  </p:sldMasterIdLst>
  <p:notesMasterIdLst>
    <p:notesMasterId r:id="rId23"/>
  </p:notesMasterIdLst>
  <p:sldIdLst>
    <p:sldId id="6170" r:id="rId5"/>
    <p:sldId id="1394" r:id="rId6"/>
    <p:sldId id="6162" r:id="rId7"/>
    <p:sldId id="1401" r:id="rId8"/>
    <p:sldId id="6171" r:id="rId9"/>
    <p:sldId id="1379" r:id="rId10"/>
    <p:sldId id="6172" r:id="rId11"/>
    <p:sldId id="1389" r:id="rId12"/>
    <p:sldId id="6173" r:id="rId13"/>
    <p:sldId id="1385" r:id="rId14"/>
    <p:sldId id="6194" r:id="rId15"/>
    <p:sldId id="6195" r:id="rId16"/>
    <p:sldId id="6196" r:id="rId17"/>
    <p:sldId id="6174" r:id="rId18"/>
    <p:sldId id="6193" r:id="rId19"/>
    <p:sldId id="6175" r:id="rId20"/>
    <p:sldId id="1380" r:id="rId21"/>
    <p:sldId id="6176" r:id="rId22"/>
  </p:sldIdLst>
  <p:sldSz cx="12192000" cy="6858000"/>
  <p:notesSz cx="6858000" cy="9144000"/>
  <p:custDataLst>
    <p:tags r:id="rId2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0609"/>
    <a:srgbClr val="CF3138"/>
    <a:srgbClr val="3333FF"/>
    <a:srgbClr val="BA494F"/>
    <a:srgbClr val="FFFFFF"/>
    <a:srgbClr val="C44F3C"/>
    <a:srgbClr val="7CA193"/>
    <a:srgbClr val="1010F0"/>
    <a:srgbClr val="A5B07B"/>
    <a:srgbClr val="F1F1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633" autoAdjust="0"/>
    <p:restoredTop sz="93963" autoAdjust="0"/>
  </p:normalViewPr>
  <p:slideViewPr>
    <p:cSldViewPr snapToGrid="0" showGuides="1">
      <p:cViewPr varScale="1">
        <p:scale>
          <a:sx n="127" d="100"/>
          <a:sy n="127" d="100"/>
        </p:scale>
        <p:origin x="720" y="19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7" d="100"/>
          <a:sy n="57" d="100"/>
        </p:scale>
        <p:origin x="2808" y="3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800AD-93AD-4C4C-85DD-6086F39F5F44}" type="datetimeFigureOut">
              <a:rPr lang="zh-CN" altLang="en-US" smtClean="0"/>
              <a:t>2025/9/28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A8361D-8C5B-4832-B897-84B74FD7AE5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387501" y="94782"/>
            <a:ext cx="7052899" cy="889066"/>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2387501" y="94782"/>
            <a:ext cx="7052899" cy="889066"/>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2387501" y="94782"/>
            <a:ext cx="7052899" cy="889066"/>
          </a:xfrm>
          <a:prstGeom prst="rect">
            <a:avLst/>
          </a:prstGeom>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6" name="Footer Placeholder 3"/>
          <p:cNvSpPr>
            <a:spLocks noGrp="1"/>
          </p:cNvSpPr>
          <p:nvPr>
            <p:ph type="ftr" sz="quarter" idx="11"/>
          </p:nvPr>
        </p:nvSpPr>
        <p:spPr>
          <a:xfrm>
            <a:off x="171669" y="6401522"/>
            <a:ext cx="4114800" cy="365125"/>
          </a:xfrm>
        </p:spPr>
        <p:txBody>
          <a:bodyPr/>
          <a:lstStyle>
            <a:lvl1pPr algn="l">
              <a:defRPr sz="1600" i="1">
                <a:solidFill>
                  <a:schemeClr val="bg1">
                    <a:lumMod val="50000"/>
                  </a:schemeClr>
                </a:solidFill>
              </a:defRPr>
            </a:lvl1pPr>
          </a:lstStyle>
          <a:p>
            <a:r>
              <a:rPr lang="en-GB"/>
              <a:t>Company Name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69B57F1-69E0-47C0-93B4-D0FAD86E9417}" type="datetimeFigureOut">
              <a:rPr lang="zh-CN" altLang="en-US" smtClean="0"/>
              <a:t>2025/9/28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69B57F1-69E0-47C0-93B4-D0FAD86E9417}" type="datetimeFigureOut">
              <a:rPr lang="zh-CN" altLang="en-US" smtClean="0"/>
              <a:t>2025/9/28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369B57F1-69E0-47C0-93B4-D0FAD86E9417}" type="datetimeFigureOut">
              <a:rPr lang="zh-CN" altLang="en-US" smtClean="0"/>
              <a:t>2025/9/28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369B57F1-69E0-47C0-93B4-D0FAD86E9417}" type="datetimeFigureOut">
              <a:rPr lang="zh-CN" altLang="en-US" smtClean="0"/>
              <a:t>2025/9/28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369B57F1-69E0-47C0-93B4-D0FAD86E9417}" type="datetimeFigureOut">
              <a:rPr lang="zh-CN" altLang="en-US" smtClean="0"/>
              <a:t>2025/9/28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69B57F1-69E0-47C0-93B4-D0FAD86E9417}" type="datetimeFigureOut">
              <a:rPr lang="zh-CN" altLang="en-US" smtClean="0"/>
              <a:t>2025/9/28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69B57F1-69E0-47C0-93B4-D0FAD86E9417}" type="datetimeFigureOut">
              <a:rPr lang="zh-CN" altLang="en-US" smtClean="0"/>
              <a:t>2025/9/28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69B57F1-69E0-47C0-93B4-D0FAD86E9417}" type="datetimeFigureOut">
              <a:rPr lang="zh-CN" altLang="en-US" smtClean="0"/>
              <a:t>2025/9/28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69B57F1-69E0-47C0-93B4-D0FAD86E9417}" type="datetimeFigureOut">
              <a:rPr lang="zh-CN" altLang="en-US" smtClean="0"/>
              <a:t>2025/9/28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69B57F1-69E0-47C0-93B4-D0FAD86E9417}" type="datetimeFigureOut">
              <a:rPr lang="zh-CN" altLang="en-US" smtClean="0"/>
              <a:t>2025/9/28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69B57F1-69E0-47C0-93B4-D0FAD86E9417}" type="datetimeFigureOut">
              <a:rPr lang="zh-CN" altLang="en-US" smtClean="0"/>
              <a:t>2025/9/28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2025/9/28</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2025/9/28</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2025/9/28</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2025/9/28</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2025/9/28</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2025/9/28</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2025/9/28</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EFD9D74-47D9-4702-A33C-335B63B48DBF}"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2025/9/28</a:t>
            </a:fld>
            <a:endParaRPr kumimoji="0" lang="zh-CN" altLang="en-US" sz="1200" b="0" i="0" u="none" strike="noStrike" kern="1200" cap="none" spc="0" normalizeH="0" baseline="0" noProof="0" dirty="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ABC47A4-756D-490B-A52F-7D9E2C9FC05F}"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2025/9/28</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2025/9/28</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2025/9/28</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2025/9/28</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2025/9/28</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2025/9/28</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2025/9/28</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2025/9/28</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2025/9/28</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EFD9D74-47D9-4702-A33C-335B63B48DBF}"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2025/9/28</a:t>
            </a:fld>
            <a:endParaRPr kumimoji="0" lang="zh-CN" altLang="en-US" sz="1200" b="0" i="0" u="none" strike="noStrike" kern="1200" cap="none" spc="0" normalizeH="0" baseline="0" noProof="0" dirty="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ABC47A4-756D-490B-A52F-7D9E2C9FC05F}"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2025/9/28</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2025/9/28</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theme" Target="../theme/theme3.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theme" Target="../theme/theme4.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2400" b="0" kern="1200" spc="200" baseline="0">
          <a:ln>
            <a:noFill/>
          </a:ln>
          <a:solidFill>
            <a:srgbClr val="53585B"/>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9B57F1-69E0-47C0-93B4-D0FAD86E9417}" type="datetimeFigureOut">
              <a:rPr lang="zh-CN" altLang="en-US" smtClean="0"/>
              <a:t>2025/9/28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6A2691-C292-4C45-BE27-81DB2E21649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2025/9/28</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2025/9/28</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标题 4"/>
          <p:cNvSpPr txBox="1"/>
          <p:nvPr/>
        </p:nvSpPr>
        <p:spPr>
          <a:xfrm>
            <a:off x="0" y="2722999"/>
            <a:ext cx="12192022" cy="1243584"/>
          </a:xfrm>
          <a:prstGeom prst="rect">
            <a:avLst/>
          </a:prstGeom>
          <a:effectLst>
            <a:outerShdw blurRad="152400" dist="190500" dir="5400000" algn="t" rotWithShape="0">
              <a:srgbClr val="000000">
                <a:alpha val="37000"/>
              </a:srgbClr>
            </a:outerShdw>
          </a:effectLst>
        </p:spPr>
        <p:txBody>
          <a:bodyPr vert="horz" wrap="square" lIns="91440" tIns="45720" rIns="91440" bIns="45720" rtlCol="0" anchor="ctr">
            <a:noAutofit/>
          </a:bodyPr>
          <a:lstStyle>
            <a:lvl1pPr algn="l" defTabSz="914400" rtl="0" eaLnBrk="1" latinLnBrk="0" hangingPunct="1">
              <a:lnSpc>
                <a:spcPct val="90000"/>
              </a:lnSpc>
              <a:spcBef>
                <a:spcPct val="0"/>
              </a:spcBef>
              <a:buNone/>
              <a:defRPr lang="zh-CN" altLang="en-US" sz="4800" b="1" kern="1200" spc="300">
                <a:ln w="635">
                  <a:noFill/>
                </a:ln>
                <a:solidFill>
                  <a:schemeClr val="bg1"/>
                </a:solidFill>
                <a:latin typeface="微软雅黑" panose="020B0503020204020204" pitchFamily="34" charset="-122"/>
                <a:ea typeface="微软雅黑" panose="020B0503020204020204" pitchFamily="34" charset="-122"/>
                <a:cs typeface="+mn-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altLang="zh-CN" sz="1800" b="1" i="0" u="none" strike="noStrike" kern="1200" cap="none" spc="300" normalizeH="0" baseline="0" noProof="0">
                <a:ln w="635">
                  <a:noFill/>
                </a:ln>
                <a:solidFill>
                  <a:srgbClr val="FFFFFF"/>
                </a:solidFill>
                <a:effectLst/>
                <a:uLnTx/>
                <a:uFillTx/>
                <a:latin typeface="微软雅黑" panose="020B0503020204020204" pitchFamily="34" charset="-122"/>
                <a:ea typeface="微软雅黑" panose="020B0503020204020204" pitchFamily="34" charset="-122"/>
                <a:cs typeface="+mn-cs"/>
              </a:rPr>
              <a:t>SW-</a:t>
            </a:r>
            <a:r>
              <a:rPr kumimoji="0" lang="zh-CN" altLang="en-US" sz="1800" b="1" i="0" u="none" strike="noStrike" kern="1200" cap="none" spc="300" normalizeH="0" baseline="0" noProof="0">
                <a:ln w="635">
                  <a:noFill/>
                </a:ln>
                <a:solidFill>
                  <a:srgbClr val="FFFFFF"/>
                </a:solidFill>
                <a:effectLst/>
                <a:uLnTx/>
                <a:uFillTx/>
                <a:latin typeface="微软雅黑" panose="020B0503020204020204" pitchFamily="34" charset="-122"/>
                <a:ea typeface="微软雅黑" panose="020B0503020204020204" pitchFamily="34" charset="-122"/>
                <a:cs typeface="+mn-cs"/>
              </a:rPr>
              <a:t>多媒体</a:t>
            </a:r>
            <a:r>
              <a:rPr kumimoji="0" lang="en-US" altLang="zh-CN" sz="1800" b="1" i="0" u="none" strike="noStrike" kern="1200" cap="none" spc="300" normalizeH="0" baseline="0" noProof="0">
                <a:ln w="635">
                  <a:noFill/>
                </a:ln>
                <a:solidFill>
                  <a:srgbClr val="FFFFFF"/>
                </a:solidFill>
                <a:effectLst/>
                <a:uLnTx/>
                <a:uFillTx/>
                <a:latin typeface="微软雅黑" panose="020B0503020204020204" pitchFamily="34" charset="-122"/>
                <a:ea typeface="微软雅黑" panose="020B0503020204020204" pitchFamily="34" charset="-122"/>
                <a:cs typeface="+mn-cs"/>
              </a:rPr>
              <a:t>-VIDEO-20250908-0006 P258 </a:t>
            </a:r>
            <a:r>
              <a:rPr kumimoji="0" lang="zh-CN" altLang="en-US" sz="1800" b="1" i="0" u="none" strike="noStrike" kern="1200" cap="none" spc="300" normalizeH="0" baseline="0" noProof="0">
                <a:ln w="635">
                  <a:noFill/>
                </a:ln>
                <a:solidFill>
                  <a:srgbClr val="FFFFFF"/>
                </a:solidFill>
                <a:effectLst/>
                <a:uLnTx/>
                <a:uFillTx/>
                <a:latin typeface="微软雅黑" panose="020B0503020204020204" pitchFamily="34" charset="-122"/>
                <a:ea typeface="微软雅黑" panose="020B0503020204020204" pitchFamily="34" charset="-122"/>
                <a:cs typeface="+mn-cs"/>
              </a:rPr>
              <a:t>视频播放器点击投屏闪黑问题分析</a:t>
            </a:r>
            <a:endParaRPr kumimoji="0" lang="zh-CN" altLang="en-US" sz="1800" b="0" i="0" u="none" strike="noStrike" kern="1200" cap="none" spc="300" normalizeH="0" baseline="0" noProof="0" dirty="0">
              <a:ln w="635">
                <a:noFill/>
              </a:ln>
              <a:solidFill>
                <a:schemeClr val="bg1">
                  <a:lumMod val="65000"/>
                </a:schemeClr>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8" name="表格 7"/>
          <p:cNvGraphicFramePr>
            <a:graphicFrameLocks noGrp="1"/>
          </p:cNvGraphicFramePr>
          <p:nvPr>
            <p:extLst>
              <p:ext uri="{D42A27DB-BD31-4B8C-83A1-F6EECF244321}">
                <p14:modId xmlns:p14="http://schemas.microsoft.com/office/powerpoint/2010/main" val="173259683"/>
              </p:ext>
            </p:extLst>
          </p:nvPr>
        </p:nvGraphicFramePr>
        <p:xfrm>
          <a:off x="3731466" y="4650874"/>
          <a:ext cx="6502779" cy="1318335"/>
        </p:xfrm>
        <a:graphic>
          <a:graphicData uri="http://schemas.openxmlformats.org/drawingml/2006/table">
            <a:tbl>
              <a:tblPr/>
              <a:tblGrid>
                <a:gridCol w="1980979">
                  <a:extLst>
                    <a:ext uri="{9D8B030D-6E8A-4147-A177-3AD203B41FA5}">
                      <a16:colId xmlns:a16="http://schemas.microsoft.com/office/drawing/2014/main" val="20000"/>
                    </a:ext>
                  </a:extLst>
                </a:gridCol>
                <a:gridCol w="4521800">
                  <a:extLst>
                    <a:ext uri="{9D8B030D-6E8A-4147-A177-3AD203B41FA5}">
                      <a16:colId xmlns:a16="http://schemas.microsoft.com/office/drawing/2014/main" val="20001"/>
                    </a:ext>
                  </a:extLst>
                </a:gridCol>
              </a:tblGrid>
              <a:tr h="439445">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r" fontAlgn="ct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提交人</a:t>
                      </a:r>
                      <a:r>
                        <a:rPr lang="en-US" altLang="zh-CN" sz="1800" b="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团队</a:t>
                      </a:r>
                      <a:r>
                        <a:rPr lang="en-US" altLang="zh-CN" sz="1800" b="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l" fontAlgn="ctr"/>
                      <a:r>
                        <a:rPr lang="zh-CN" altLang="en-US" sz="1800" b="0" u="none" strike="noStrike">
                          <a:solidFill>
                            <a:schemeClr val="tx1"/>
                          </a:solidFill>
                          <a:effectLst/>
                          <a:latin typeface="微软雅黑" panose="020B0503020204020204" pitchFamily="34" charset="-122"/>
                          <a:ea typeface="微软雅黑" panose="020B0503020204020204" pitchFamily="34" charset="-122"/>
                        </a:rPr>
                        <a:t>第一事业部</a:t>
                      </a:r>
                      <a:r>
                        <a:rPr lang="en-US" altLang="zh-CN" sz="1800" b="0" u="none" strike="noStrike">
                          <a:solidFill>
                            <a:schemeClr val="tx1"/>
                          </a:solidFill>
                          <a:effectLst/>
                          <a:latin typeface="微软雅黑" panose="020B0503020204020204" pitchFamily="34" charset="-122"/>
                          <a:ea typeface="微软雅黑" panose="020B0503020204020204" pitchFamily="34" charset="-122"/>
                        </a:rPr>
                        <a:t>/</a:t>
                      </a:r>
                      <a:r>
                        <a:rPr lang="zh-CN" altLang="en-US" sz="1800" b="0" u="none" strike="noStrike">
                          <a:solidFill>
                            <a:schemeClr val="tx1"/>
                          </a:solidFill>
                          <a:effectLst/>
                          <a:latin typeface="微软雅黑" panose="020B0503020204020204" pitchFamily="34" charset="-122"/>
                          <a:ea typeface="微软雅黑" panose="020B0503020204020204" pitchFamily="34" charset="-122"/>
                        </a:rPr>
                        <a:t>伍方健</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39445">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r" fontAlgn="ct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审核人员：</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l" fontAlgn="ctr"/>
                      <a:r>
                        <a:rPr lang="zh-CN" altLang="en-US" sz="1800" b="0" i="0" u="none" strike="noStrike">
                          <a:solidFill>
                            <a:schemeClr val="tx1"/>
                          </a:solidFill>
                          <a:effectLst/>
                          <a:latin typeface="微软雅黑" panose="020B0503020204020204" pitchFamily="34" charset="-122"/>
                          <a:ea typeface="微软雅黑" panose="020B0503020204020204" pitchFamily="34" charset="-122"/>
                        </a:rPr>
                        <a:t>项俊</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39445">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r" fontAlgn="ct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提交日期：</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l" fontAlgn="ctr"/>
                      <a:r>
                        <a:rPr lang="en-US" sz="1800" b="0" u="none" strike="noStrike">
                          <a:solidFill>
                            <a:schemeClr val="tx1"/>
                          </a:solidFill>
                          <a:effectLst/>
                          <a:latin typeface="微软雅黑" panose="020B0503020204020204" pitchFamily="34" charset="-122"/>
                          <a:ea typeface="微软雅黑" panose="020B0503020204020204" pitchFamily="34" charset="-122"/>
                        </a:rPr>
                        <a:t>2025</a:t>
                      </a:r>
                      <a:r>
                        <a:rPr lang="zh-CN" altLang="en-US" sz="1800" b="0" u="none" strike="noStrike">
                          <a:solidFill>
                            <a:schemeClr val="tx1"/>
                          </a:solidFill>
                          <a:effectLst/>
                          <a:latin typeface="微软雅黑" panose="020B0503020204020204" pitchFamily="34" charset="-122"/>
                          <a:ea typeface="微软雅黑" panose="020B0503020204020204" pitchFamily="34" charset="-122"/>
                        </a:rPr>
                        <a:t>年</a:t>
                      </a:r>
                      <a:r>
                        <a:rPr lang="en-US" altLang="zh-CN" sz="1800" b="0" u="none" strike="noStrike">
                          <a:solidFill>
                            <a:schemeClr val="tx1"/>
                          </a:solidFill>
                          <a:effectLst/>
                          <a:latin typeface="微软雅黑" panose="020B0503020204020204" pitchFamily="34" charset="-122"/>
                          <a:ea typeface="微软雅黑" panose="020B0503020204020204" pitchFamily="34" charset="-122"/>
                        </a:rPr>
                        <a:t>9</a:t>
                      </a:r>
                      <a:r>
                        <a:rPr lang="zh-CN" altLang="en-US" sz="1800" b="0" u="none" strike="noStrike">
                          <a:solidFill>
                            <a:schemeClr val="tx1"/>
                          </a:solidFill>
                          <a:effectLst/>
                          <a:latin typeface="微软雅黑" panose="020B0503020204020204" pitchFamily="34" charset="-122"/>
                          <a:ea typeface="微软雅黑" panose="020B0503020204020204" pitchFamily="34" charset="-122"/>
                        </a:rPr>
                        <a:t>月</a:t>
                      </a:r>
                      <a:r>
                        <a:rPr lang="en-US" altLang="zh-CN" sz="1800" b="0" u="none" strike="noStrike">
                          <a:solidFill>
                            <a:schemeClr val="tx1"/>
                          </a:solidFill>
                          <a:effectLst/>
                          <a:latin typeface="微软雅黑" panose="020B0503020204020204" pitchFamily="34" charset="-122"/>
                          <a:ea typeface="微软雅黑" panose="020B0503020204020204" pitchFamily="34" charset="-122"/>
                        </a:rPr>
                        <a:t>8</a:t>
                      </a:r>
                      <a:r>
                        <a:rPr lang="zh-CN" altLang="en-US" sz="1800" b="0" u="none" strike="noStrike">
                          <a:solidFill>
                            <a:schemeClr val="tx1"/>
                          </a:solidFill>
                          <a:effectLst/>
                          <a:latin typeface="微软雅黑" panose="020B0503020204020204" pitchFamily="34" charset="-122"/>
                          <a:ea typeface="微软雅黑" panose="020B0503020204020204" pitchFamily="34" charset="-122"/>
                        </a:rPr>
                        <a:t>日</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custDataLst>
              <p:tags r:id="rId1"/>
            </p:custDataLst>
            <p:extLst>
              <p:ext uri="{D42A27DB-BD31-4B8C-83A1-F6EECF244321}">
                <p14:modId xmlns:p14="http://schemas.microsoft.com/office/powerpoint/2010/main" val="1729835915"/>
              </p:ext>
            </p:extLst>
          </p:nvPr>
        </p:nvGraphicFramePr>
        <p:xfrm>
          <a:off x="175581" y="584352"/>
          <a:ext cx="11840837" cy="782810"/>
        </p:xfrm>
        <a:graphic>
          <a:graphicData uri="http://schemas.openxmlformats.org/drawingml/2006/table">
            <a:tbl>
              <a:tblPr/>
              <a:tblGrid>
                <a:gridCol w="1120079">
                  <a:extLst>
                    <a:ext uri="{9D8B030D-6E8A-4147-A177-3AD203B41FA5}">
                      <a16:colId xmlns:a16="http://schemas.microsoft.com/office/drawing/2014/main" val="20000"/>
                    </a:ext>
                  </a:extLst>
                </a:gridCol>
                <a:gridCol w="1060075">
                  <a:extLst>
                    <a:ext uri="{9D8B030D-6E8A-4147-A177-3AD203B41FA5}">
                      <a16:colId xmlns:a16="http://schemas.microsoft.com/office/drawing/2014/main" val="20001"/>
                    </a:ext>
                  </a:extLst>
                </a:gridCol>
                <a:gridCol w="1060075">
                  <a:extLst>
                    <a:ext uri="{9D8B030D-6E8A-4147-A177-3AD203B41FA5}">
                      <a16:colId xmlns:a16="http://schemas.microsoft.com/office/drawing/2014/main" val="20002"/>
                    </a:ext>
                  </a:extLst>
                </a:gridCol>
                <a:gridCol w="1060075">
                  <a:extLst>
                    <a:ext uri="{9D8B030D-6E8A-4147-A177-3AD203B41FA5}">
                      <a16:colId xmlns:a16="http://schemas.microsoft.com/office/drawing/2014/main" val="20003"/>
                    </a:ext>
                  </a:extLst>
                </a:gridCol>
                <a:gridCol w="1060075">
                  <a:extLst>
                    <a:ext uri="{9D8B030D-6E8A-4147-A177-3AD203B41FA5}">
                      <a16:colId xmlns:a16="http://schemas.microsoft.com/office/drawing/2014/main" val="20004"/>
                    </a:ext>
                  </a:extLst>
                </a:gridCol>
                <a:gridCol w="1060075">
                  <a:extLst>
                    <a:ext uri="{9D8B030D-6E8A-4147-A177-3AD203B41FA5}">
                      <a16:colId xmlns:a16="http://schemas.microsoft.com/office/drawing/2014/main" val="20005"/>
                    </a:ext>
                  </a:extLst>
                </a:gridCol>
                <a:gridCol w="1060075">
                  <a:extLst>
                    <a:ext uri="{9D8B030D-6E8A-4147-A177-3AD203B41FA5}">
                      <a16:colId xmlns:a16="http://schemas.microsoft.com/office/drawing/2014/main" val="20006"/>
                    </a:ext>
                  </a:extLst>
                </a:gridCol>
                <a:gridCol w="1120079">
                  <a:extLst>
                    <a:ext uri="{9D8B030D-6E8A-4147-A177-3AD203B41FA5}">
                      <a16:colId xmlns:a16="http://schemas.microsoft.com/office/drawing/2014/main" val="20007"/>
                    </a:ext>
                  </a:extLst>
                </a:gridCol>
                <a:gridCol w="1060075">
                  <a:extLst>
                    <a:ext uri="{9D8B030D-6E8A-4147-A177-3AD203B41FA5}">
                      <a16:colId xmlns:a16="http://schemas.microsoft.com/office/drawing/2014/main" val="20008"/>
                    </a:ext>
                  </a:extLst>
                </a:gridCol>
                <a:gridCol w="1120079">
                  <a:extLst>
                    <a:ext uri="{9D8B030D-6E8A-4147-A177-3AD203B41FA5}">
                      <a16:colId xmlns:a16="http://schemas.microsoft.com/office/drawing/2014/main" val="20009"/>
                    </a:ext>
                  </a:extLst>
                </a:gridCol>
                <a:gridCol w="1060075">
                  <a:extLst>
                    <a:ext uri="{9D8B030D-6E8A-4147-A177-3AD203B41FA5}">
                      <a16:colId xmlns:a16="http://schemas.microsoft.com/office/drawing/2014/main" val="20010"/>
                    </a:ext>
                  </a:extLst>
                </a:gridCol>
              </a:tblGrid>
              <a:tr h="391405">
                <a:tc>
                  <a:txBody>
                    <a:bodyPr/>
                    <a:lstStyle/>
                    <a:p>
                      <a:pPr algn="ctr" fontAlgn="ctr"/>
                      <a:r>
                        <a:rPr lang="zh-CN" altLang="en-US" sz="1800" b="1" i="0" u="none" strike="noStrike" dirty="0">
                          <a:solidFill>
                            <a:srgbClr val="000000"/>
                          </a:solidFill>
                          <a:effectLst/>
                          <a:latin typeface="微软雅黑" panose="020B0503020204020204" pitchFamily="34" charset="-122"/>
                          <a:ea typeface="微软雅黑" panose="020B0503020204020204" pitchFamily="34" charset="-122"/>
                        </a:rPr>
                        <a:t>文件密级</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绝密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机密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秘密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内部公开</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800" b="1" i="0" u="none" strike="noStrike">
                          <a:solidFill>
                            <a:srgbClr val="FF0000"/>
                          </a:solidFill>
                          <a:effectLst/>
                          <a:latin typeface="楷体" panose="02010609060101010101" pitchFamily="49" charset="-122"/>
                          <a:ea typeface="楷体" panose="02010609060101010101" pitchFamily="49" charset="-122"/>
                        </a:rPr>
                        <a:t>√</a:t>
                      </a:r>
                      <a:endParaRPr lang="zh-CN" altLang="en-US" sz="1800" b="0" i="0" u="none" strike="noStrike" dirty="0">
                        <a:solidFill>
                          <a:srgbClr val="FF0000"/>
                        </a:solidFill>
                        <a:effectLst/>
                        <a:latin typeface="微软雅黑" panose="020B0503020204020204" pitchFamily="34" charset="-122"/>
                        <a:ea typeface="微软雅黑" panose="020B0503020204020204" pitchFamily="34"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外部公开</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　</a:t>
                      </a: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0"/>
                  </a:ext>
                </a:extLst>
              </a:tr>
              <a:tr h="391405">
                <a:tc>
                  <a:txBody>
                    <a:bodyPr/>
                    <a:lstStyle/>
                    <a:p>
                      <a:pPr algn="ctr" fontAlgn="ctr"/>
                      <a:r>
                        <a:rPr lang="zh-CN" altLang="en-US" sz="1800" b="1" i="0" u="none" strike="noStrike" dirty="0">
                          <a:solidFill>
                            <a:srgbClr val="000000"/>
                          </a:solidFill>
                          <a:effectLst/>
                          <a:latin typeface="微软雅黑" panose="020B0503020204020204" pitchFamily="34" charset="-122"/>
                          <a:ea typeface="微软雅黑" panose="020B0503020204020204" pitchFamily="34" charset="-122"/>
                        </a:rPr>
                        <a:t>分享范围</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全员</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　</a:t>
                      </a: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领域内</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1" i="0" u="none" strike="noStrike">
                          <a:solidFill>
                            <a:srgbClr val="FF0000"/>
                          </a:solidFill>
                          <a:effectLst/>
                          <a:latin typeface="楷体" panose="02010609060101010101" pitchFamily="49" charset="-122"/>
                          <a:ea typeface="楷体" panose="02010609060101010101" pitchFamily="49" charset="-122"/>
                        </a:rPr>
                        <a:t>√</a:t>
                      </a:r>
                      <a:endParaRPr lang="zh-CN" altLang="en-US" sz="1800" b="0" i="0" u="none" strike="noStrike" dirty="0">
                        <a:solidFill>
                          <a:srgbClr val="FF0000"/>
                        </a:solidFill>
                        <a:effectLst/>
                        <a:latin typeface="微软雅黑" panose="020B0503020204020204" pitchFamily="34" charset="-122"/>
                        <a:ea typeface="微软雅黑" panose="020B0503020204020204" pitchFamily="34"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en-US" sz="1800" b="0" i="0" u="none" strike="noStrike" dirty="0">
                          <a:solidFill>
                            <a:srgbClr val="000000"/>
                          </a:solidFill>
                          <a:effectLst/>
                          <a:latin typeface="微软雅黑" panose="020B0503020204020204" pitchFamily="34" charset="-122"/>
                          <a:ea typeface="微软雅黑" panose="020B0503020204020204" pitchFamily="34" charset="-122"/>
                        </a:rPr>
                        <a:t>BU</a:t>
                      </a: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内</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部门内</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项目内</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1"/>
                  </a:ext>
                </a:extLst>
              </a:tr>
            </a:tbl>
          </a:graphicData>
        </a:graphic>
      </p:graphicFrame>
      <p:sp>
        <p:nvSpPr>
          <p:cNvPr id="7" name="文本框 6"/>
          <p:cNvSpPr txBox="1"/>
          <p:nvPr/>
        </p:nvSpPr>
        <p:spPr>
          <a:xfrm>
            <a:off x="175581" y="121614"/>
            <a:ext cx="11840836" cy="369332"/>
          </a:xfrm>
          <a:prstGeom prst="rect">
            <a:avLst/>
          </a:prstGeom>
          <a:noFill/>
        </p:spPr>
        <p:txBody>
          <a:bodyPr wrap="square">
            <a:spAutoFit/>
          </a:bodyPr>
          <a:lstStyle/>
          <a:p>
            <a:pPr algn="l" fontAlgn="ctr"/>
            <a:r>
              <a:rPr lang="en-US" altLang="zh-CN" sz="1800" b="1" i="0" u="none" strike="noStrike" dirty="0">
                <a:solidFill>
                  <a:srgbClr val="000000"/>
                </a:solidFill>
                <a:effectLst/>
                <a:latin typeface="微软雅黑" panose="020B0503020204020204" pitchFamily="34" charset="-122"/>
                <a:ea typeface="微软雅黑" panose="020B0503020204020204" pitchFamily="34" charset="-122"/>
              </a:rPr>
              <a:t>Lesson Learn</a:t>
            </a:r>
            <a:r>
              <a:rPr lang="zh-CN" altLang="en-US" sz="1800" b="1" i="0" u="none" strike="noStrike" dirty="0">
                <a:solidFill>
                  <a:srgbClr val="000000"/>
                </a:solidFill>
                <a:effectLst/>
                <a:latin typeface="微软雅黑" panose="020B0503020204020204" pitchFamily="34" charset="-122"/>
                <a:ea typeface="微软雅黑" panose="020B0503020204020204" pitchFamily="34" charset="-122"/>
              </a:rPr>
              <a:t>案例信息安全要求与权限分配</a:t>
            </a:r>
            <a:r>
              <a:rPr lang="zh-CN" altLang="en-US" sz="1800" b="1" i="0" u="none" strike="noStrike" dirty="0">
                <a:solidFill>
                  <a:srgbClr val="FF0000"/>
                </a:solidFill>
                <a:effectLst/>
                <a:latin typeface="楷体" panose="02010609060101010101" pitchFamily="49" charset="-122"/>
                <a:ea typeface="楷体" panose="02010609060101010101" pitchFamily="49" charset="-122"/>
              </a:rPr>
              <a:t>（按照文档实际情况对应选项打“√” ）</a:t>
            </a:r>
          </a:p>
        </p:txBody>
      </p:sp>
      <p:graphicFrame>
        <p:nvGraphicFramePr>
          <p:cNvPr id="8" name="表格 7"/>
          <p:cNvGraphicFramePr>
            <a:graphicFrameLocks noGrp="1"/>
          </p:cNvGraphicFramePr>
          <p:nvPr/>
        </p:nvGraphicFramePr>
        <p:xfrm>
          <a:off x="179526" y="1460570"/>
          <a:ext cx="11840836" cy="5301828"/>
        </p:xfrm>
        <a:graphic>
          <a:graphicData uri="http://schemas.openxmlformats.org/drawingml/2006/table">
            <a:tbl>
              <a:tblPr/>
              <a:tblGrid>
                <a:gridCol w="5883923">
                  <a:extLst>
                    <a:ext uri="{9D8B030D-6E8A-4147-A177-3AD203B41FA5}">
                      <a16:colId xmlns:a16="http://schemas.microsoft.com/office/drawing/2014/main" val="20000"/>
                    </a:ext>
                  </a:extLst>
                </a:gridCol>
                <a:gridCol w="5956913">
                  <a:extLst>
                    <a:ext uri="{9D8B030D-6E8A-4147-A177-3AD203B41FA5}">
                      <a16:colId xmlns:a16="http://schemas.microsoft.com/office/drawing/2014/main" val="20001"/>
                    </a:ext>
                  </a:extLst>
                </a:gridCol>
              </a:tblGrid>
              <a:tr h="219673">
                <a:tc gridSpan="2">
                  <a:txBody>
                    <a:bodyPr/>
                    <a:lstStyle/>
                    <a:p>
                      <a:pPr algn="ctr" fontAlgn="ct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知识库</a:t>
                      </a: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KM</a:t>
                      </a: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的信息安全规范及要求</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p>
                  </a:txBody>
                  <a:tcPr/>
                </a:tc>
                <a:extLst>
                  <a:ext uri="{0D108BD9-81ED-4DB2-BD59-A6C34878D82A}">
                    <a16:rowId xmlns:a16="http://schemas.microsoft.com/office/drawing/2014/main" val="10000"/>
                  </a:ext>
                </a:extLst>
              </a:tr>
              <a:tr h="219673">
                <a:tc>
                  <a:txBody>
                    <a:bodyPr/>
                    <a:lstStyle/>
                    <a:p>
                      <a:pPr algn="ctr" fontAlgn="ct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内容</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备注</a:t>
                      </a:r>
                      <a:r>
                        <a:rPr lang="en-US" altLang="zh-CN" sz="12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说明</a:t>
                      </a:r>
                      <a:r>
                        <a:rPr lang="en-US" altLang="zh-CN" sz="12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答疑</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287721">
                <a:tc>
                  <a:txBody>
                    <a:bodyPr/>
                    <a:lstStyle/>
                    <a:p>
                      <a:pPr algn="l" fontAlgn="ct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1</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、知识文档</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Owner</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需要对其进行文件密级（绝密、机密、秘密、内部公开、外部公开）定级并给出使用范围（项目、部门、领域、</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BU</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、全员）；</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r>
                        <a:rPr lang="en-US" sz="1200" b="0" i="0" u="none" strike="noStrike" dirty="0">
                          <a:solidFill>
                            <a:srgbClr val="0000FF"/>
                          </a:solidFill>
                          <a:effectLst/>
                          <a:latin typeface="微软雅黑" panose="020B0503020204020204" pitchFamily="34" charset="-122"/>
                          <a:ea typeface="微软雅黑" panose="020B0503020204020204" pitchFamily="34" charset="-122"/>
                        </a:rPr>
                        <a:t>a.</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文件密级如何认定（绝密、机密、秘密、内部公开、外部公开），认定标准有哪些？</a:t>
                      </a:r>
                      <a:endParaRPr lang="en-US" altLang="zh-CN" sz="1200" b="0" i="0" u="none" strike="noStrike" dirty="0">
                        <a:solidFill>
                          <a:srgbClr val="0000FF"/>
                        </a:solidFill>
                        <a:effectLst/>
                        <a:latin typeface="微软雅黑" panose="020B0503020204020204" pitchFamily="34" charset="-122"/>
                        <a:ea typeface="微软雅黑" panose="020B0503020204020204" pitchFamily="34" charset="-122"/>
                      </a:endParaRPr>
                    </a:p>
                    <a:p>
                      <a:pPr algn="l" fontAlgn="ct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信安：</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有对应体系文件规范</a:t>
                      </a: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200" b="1" i="0" u="none" strike="noStrike" dirty="0">
                          <a:solidFill>
                            <a:schemeClr val="tx1"/>
                          </a:solidFill>
                          <a:effectLst/>
                          <a:latin typeface="微软雅黑" panose="020B0503020204020204" pitchFamily="34" charset="-122"/>
                          <a:ea typeface="微软雅黑" panose="020B0503020204020204" pitchFamily="34" charset="-122"/>
                        </a:rPr>
                        <a:t>保密信息等级分类及授权管理办法</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a:t>
                      </a:r>
                      <a:r>
                        <a:rPr lang="en-US" sz="1200" b="0" i="0" u="sng" strike="noStrike" dirty="0">
                          <a:solidFill>
                            <a:srgbClr val="C00000"/>
                          </a:solidFill>
                          <a:effectLst/>
                          <a:latin typeface="微软雅黑" panose="020B0503020204020204" pitchFamily="34" charset="-122"/>
                          <a:ea typeface="微软雅黑" panose="020B0503020204020204" pitchFamily="34" charset="-122"/>
                        </a:rPr>
                        <a:t>https://epros.longcheer.com:8080/static-web/#/view?p=1&amp;app=false&amp;t=fileContent&amp;f=search&amp;h=0&amp;id=5659</a:t>
                      </a:r>
                      <a:br>
                        <a:rPr 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en-US" sz="1200" b="0" i="0" u="none" strike="noStrike" dirty="0">
                          <a:solidFill>
                            <a:srgbClr val="0000FF"/>
                          </a:solidFill>
                          <a:effectLst/>
                          <a:latin typeface="微软雅黑" panose="020B0503020204020204" pitchFamily="34" charset="-122"/>
                          <a:ea typeface="微软雅黑" panose="020B0503020204020204" pitchFamily="34" charset="-122"/>
                        </a:rPr>
                        <a:t>b.</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知识文档</a:t>
                      </a:r>
                      <a:r>
                        <a:rPr lang="en-US" sz="1200" b="0" i="0" u="none" strike="noStrike" dirty="0">
                          <a:solidFill>
                            <a:srgbClr val="0000FF"/>
                          </a:solidFill>
                          <a:effectLst/>
                          <a:latin typeface="微软雅黑" panose="020B0503020204020204" pitchFamily="34" charset="-122"/>
                          <a:ea typeface="微软雅黑" panose="020B0503020204020204" pitchFamily="34" charset="-122"/>
                        </a:rPr>
                        <a:t>Owner，</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包含哪些人？</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信安：</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一般指文档作者本人，建议由文档作者进行脱敏，有文档作者直属领导进行审查并确定分享范围权限</a:t>
                      </a:r>
                      <a:endParaRPr lang="zh-CN" altLang="en-US" sz="1200" b="0" i="0" u="none" strike="noStrike" dirty="0">
                        <a:solidFill>
                          <a:srgbClr val="0000FF"/>
                        </a:solidFill>
                        <a:effectLst/>
                        <a:latin typeface="微软雅黑" panose="020B0503020204020204" pitchFamily="34" charset="-122"/>
                        <a:ea typeface="微软雅黑" panose="020B0503020204020204" pitchFamily="34" charset="-122"/>
                      </a:endParaRP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94443">
                <a:tc>
                  <a:txBody>
                    <a:bodyPr/>
                    <a:lstStyle/>
                    <a:p>
                      <a:pPr algn="l" fontAlgn="ct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2</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、知识库</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KM</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不应存放绝密、机密、秘密级内容；内部公开、外部公开可适用全员访问；公司鼓励全员对可公开的知识文档上传知识库分享，跨领域全员分享需由领域</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KMO/KMC</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评估后决策；</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a.</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知识库平台分享属性强烈，要上传密级内容？</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信安：不上传密级以上内容，风险更小。知识也是公司的经验成果，建议依然还是要控制分享范围，勿随意做全员分享，需做一定的保护，确定无关的部门或岗位建议不要对其分享（譬如研发的知识分享给行政），避免内部经验知识被外部轻易复制获取。</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ctr" latinLnBrk="0" hangingPunct="1">
                        <a:lnSpc>
                          <a:spcPct val="100000"/>
                        </a:lnSpc>
                        <a:spcBef>
                          <a:spcPts val="0"/>
                        </a:spcBef>
                        <a:spcAft>
                          <a:spcPts val="0"/>
                        </a:spcAft>
                        <a:buClrTx/>
                        <a:buSzTx/>
                        <a:buFontTx/>
                        <a:buNone/>
                        <a:defRPr/>
                      </a:pPr>
                      <a:r>
                        <a:rPr lang="en-US" altLang="zh-CN" sz="1200" b="0" i="0" u="none" strike="noStrike" dirty="0">
                          <a:solidFill>
                            <a:srgbClr val="3333FF"/>
                          </a:solidFill>
                          <a:effectLst/>
                          <a:latin typeface="微软雅黑" panose="020B0503020204020204" pitchFamily="34" charset="-122"/>
                          <a:ea typeface="微软雅黑" panose="020B0503020204020204" pitchFamily="34" charset="-122"/>
                        </a:rPr>
                        <a:t>b.</a:t>
                      </a:r>
                      <a:r>
                        <a:rPr lang="zh-CN" altLang="en-US" sz="1200" b="0" i="0" u="none" strike="noStrike" dirty="0">
                          <a:solidFill>
                            <a:srgbClr val="3333FF"/>
                          </a:solidFill>
                          <a:effectLst/>
                          <a:latin typeface="微软雅黑" panose="020B0503020204020204" pitchFamily="34" charset="-122"/>
                          <a:ea typeface="微软雅黑" panose="020B0503020204020204" pitchFamily="34" charset="-122"/>
                        </a:rPr>
                        <a:t>内部公开指领域内部公开，外部公开指公司全员公开。</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33281">
                <a:tc>
                  <a:txBody>
                    <a:bodyPr/>
                    <a:lstStyle/>
                    <a:p>
                      <a:pPr algn="l" fontAlgn="ct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3</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、领域管理</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Owner</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需对本领域知识进行分类、分级，对不同的人员设置上传、下载、预览等不同的权限，遵循最小授权要求，默认只有预览权限；</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a.</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领域管理</a:t>
                      </a: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Owner</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en-US" altLang="zh-CN" sz="1200" b="1" i="0" u="none" strike="noStrike" dirty="0">
                          <a:solidFill>
                            <a:schemeClr val="tx1"/>
                          </a:solidFill>
                          <a:effectLst/>
                          <a:latin typeface="微软雅黑" panose="020B0503020204020204" pitchFamily="34" charset="-122"/>
                          <a:ea typeface="微软雅黑" panose="020B0503020204020204" pitchFamily="34" charset="-122"/>
                        </a:rPr>
                        <a:t>KM</a:t>
                      </a:r>
                      <a:r>
                        <a:rPr lang="zh-CN" altLang="en-US" sz="1200" b="1"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知识库领域内拥有“管理”权限的知识管理员或部门知识接口人</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921533">
                <a:tc>
                  <a:txBody>
                    <a:bodyPr/>
                    <a:lstStyle/>
                    <a:p>
                      <a:pPr algn="l" fontAlgn="ct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4</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、知识文档</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Owner</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需对文件名及文件内容进行脱敏，不可出现客户及客户项目、客户型号名称、</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LOGO</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等相关信息，需使用龙旗内部代码及项目名称替代，避免出现价格，重大项目问题等敏感信息；</a:t>
                      </a:r>
                      <a:r>
                        <a:rPr lang="zh-CN" altLang="en-US" sz="1380" b="1" i="0" u="none" strike="noStrike" dirty="0">
                          <a:solidFill>
                            <a:schemeClr val="tx1"/>
                          </a:solidFill>
                          <a:effectLst/>
                          <a:latin typeface="微软雅黑" panose="020B0503020204020204" pitchFamily="34" charset="-122"/>
                          <a:ea typeface="微软雅黑" panose="020B0503020204020204" pitchFamily="34" charset="-122"/>
                        </a:rPr>
                        <a:t>避免出现敏感词</a:t>
                      </a:r>
                      <a:r>
                        <a:rPr lang="en-US" altLang="zh-CN" sz="1380" b="1"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380" b="1" i="0" u="none" strike="noStrike" dirty="0">
                          <a:solidFill>
                            <a:schemeClr val="tx1"/>
                          </a:solidFill>
                          <a:effectLst/>
                          <a:latin typeface="微软雅黑" panose="020B0503020204020204" pitchFamily="34" charset="-122"/>
                          <a:ea typeface="微软雅黑" panose="020B0503020204020204" pitchFamily="34" charset="-122"/>
                        </a:rPr>
                        <a:t>信息安全部规定的为准</a:t>
                      </a:r>
                      <a:r>
                        <a:rPr lang="en-US" altLang="zh-CN" sz="1380" b="1"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380" b="1" i="0" u="none" strike="noStrike" dirty="0">
                          <a:solidFill>
                            <a:schemeClr val="tx1"/>
                          </a:solidFill>
                          <a:effectLst/>
                          <a:latin typeface="微软雅黑" panose="020B0503020204020204" pitchFamily="34" charset="-122"/>
                          <a:ea typeface="微软雅黑" panose="020B0503020204020204" pitchFamily="34" charset="-122"/>
                        </a:rPr>
                        <a:t>；</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a.</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重大项目问题：重大如何理解？</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信安：何为重大应由业务部门做界定，信安可以给出建议譬如给公司带来超过</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100</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万损失的问题，本应获标而丢标的问题等；建议可通过脱敏模糊化进行知识分享。</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项目问题：部分知识案例就是对项目问题进行复盘</a:t>
                      </a: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总结并加以改善的。</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信安：做好内容脱敏即可</a:t>
                      </a:r>
                      <a:endParaRPr lang="zh-CN" altLang="en-US" sz="1200" b="0" i="0" u="none" strike="noStrike" dirty="0">
                        <a:solidFill>
                          <a:srgbClr val="0000FF"/>
                        </a:solidFill>
                        <a:effectLst/>
                        <a:latin typeface="微软雅黑" panose="020B0503020204020204" pitchFamily="34" charset="-122"/>
                        <a:ea typeface="微软雅黑" panose="020B0503020204020204" pitchFamily="34" charset="-122"/>
                      </a:endParaRP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652601">
                <a:tc>
                  <a:txBody>
                    <a:bodyPr/>
                    <a:lstStyle/>
                    <a:p>
                      <a:pPr algn="l" fontAlgn="ctr"/>
                      <a:r>
                        <a:rPr lang="en-US" altLang="zh-CN" sz="1380" b="1" i="0" u="none" strike="noStrike">
                          <a:solidFill>
                            <a:srgbClr val="000000"/>
                          </a:solidFill>
                          <a:effectLst/>
                          <a:latin typeface="微软雅黑" panose="020B0503020204020204" pitchFamily="34" charset="-122"/>
                          <a:ea typeface="微软雅黑" panose="020B0503020204020204" pitchFamily="34" charset="-122"/>
                        </a:rPr>
                        <a:t>5</a:t>
                      </a:r>
                      <a:r>
                        <a:rPr lang="zh-CN" altLang="en-US" sz="1380" b="1" i="0" u="none" strike="noStrike">
                          <a:solidFill>
                            <a:srgbClr val="000000"/>
                          </a:solidFill>
                          <a:effectLst/>
                          <a:latin typeface="微软雅黑" panose="020B0503020204020204" pitchFamily="34" charset="-122"/>
                          <a:ea typeface="微软雅黑" panose="020B0503020204020204" pitchFamily="34" charset="-122"/>
                        </a:rPr>
                        <a:t>、知识文档需要注意个人隐私保护，未经授权避免出现他人姓名、肖像、住址、身份证、银行卡号、电话号码等个人隐私内容；</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rowSpan="2">
                  <a:txBody>
                    <a:bodyPr/>
                    <a:lstStyle/>
                    <a:p>
                      <a:pPr algn="l" fontAlgn="ct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a..</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知识文档萃取需要写上流程文档</a:t>
                      </a:r>
                      <a:r>
                        <a:rPr lang="en-US" altLang="zh-CN" sz="1200" b="0" i="0" u="none" strike="noStrike" dirty="0" err="1">
                          <a:solidFill>
                            <a:srgbClr val="0000FF"/>
                          </a:solidFill>
                          <a:effectLst/>
                          <a:latin typeface="微软雅黑" panose="020B0503020204020204" pitchFamily="34" charset="-122"/>
                          <a:ea typeface="微软雅黑" panose="020B0503020204020204" pitchFamily="34" charset="-122"/>
                        </a:rPr>
                        <a:t>Owenr</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作者姓名甚至工号，怎么处理？</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信安：流程文档</a:t>
                      </a:r>
                      <a:r>
                        <a:rPr lang="en-US" altLang="zh-CN" sz="1200" b="0" i="0" u="none" strike="noStrike" dirty="0" err="1">
                          <a:solidFill>
                            <a:srgbClr val="000000"/>
                          </a:solidFill>
                          <a:effectLst/>
                          <a:latin typeface="微软雅黑" panose="020B0503020204020204" pitchFamily="34" charset="-122"/>
                          <a:ea typeface="微软雅黑" panose="020B0503020204020204" pitchFamily="34" charset="-122"/>
                        </a:rPr>
                        <a:t>Owenr</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作者姓名甚至工号属于个人产出标注，是公司工作的标准要求需遵循的，也可认定是自愿行为并已授权</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p>
                      <a:pPr algn="l" fontAlgn="ctr"/>
                      <a:r>
                        <a:rPr lang="en-US" altLang="zh-CN" sz="1200" b="1" i="0" u="none" strike="noStrike" dirty="0" err="1">
                          <a:solidFill>
                            <a:srgbClr val="3333FF"/>
                          </a:solidFill>
                          <a:effectLst/>
                          <a:latin typeface="微软雅黑" panose="020B0503020204020204" pitchFamily="34" charset="-122"/>
                          <a:ea typeface="微软雅黑" panose="020B0503020204020204" pitchFamily="34" charset="-122"/>
                        </a:rPr>
                        <a:t>b.LL</a:t>
                      </a:r>
                      <a:r>
                        <a:rPr lang="zh-CN" altLang="en-US" sz="1200" b="1" i="0" u="none" strike="noStrike" dirty="0">
                          <a:solidFill>
                            <a:srgbClr val="3333FF"/>
                          </a:solidFill>
                          <a:effectLst/>
                          <a:latin typeface="微软雅黑" panose="020B0503020204020204" pitchFamily="34" charset="-122"/>
                          <a:ea typeface="微软雅黑" panose="020B0503020204020204" pitchFamily="34" charset="-122"/>
                        </a:rPr>
                        <a:t>案例属于哪一类文件密级分类？</a:t>
                      </a:r>
                      <a:endParaRPr lang="en-US" altLang="zh-CN" sz="1200" b="1" i="0" u="none" strike="noStrike" dirty="0">
                        <a:solidFill>
                          <a:srgbClr val="3333FF"/>
                        </a:solidFill>
                        <a:effectLst/>
                        <a:latin typeface="微软雅黑" panose="020B0503020204020204" pitchFamily="34" charset="-122"/>
                        <a:ea typeface="微软雅黑" panose="020B0503020204020204" pitchFamily="34" charset="-122"/>
                      </a:endParaRPr>
                    </a:p>
                    <a:p>
                      <a:pPr algn="l" fontAlgn="ct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信安：案例脱敏后一般属于内部公开。如果案例在短期内具有高价值，建议可以定为秘密，限定领域范围分享。秘密的内容经过一段时间也可以经过评估后降级为内部公开。</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646891">
                <a:tc>
                  <a:txBody>
                    <a:bodyPr/>
                    <a:lstStyle/>
                    <a:p>
                      <a:pPr algn="l" fontAlgn="ct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6</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、避免出现法律侵权内容，譬如使用未授权的字体、图片等相关侵权内容；避免上传未经授权的非原创的有版权合规风险的知识内容，譬如，未经授权的著作等；</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vMerge="1">
                  <a:txBody>
                    <a:bodyPr/>
                    <a:lstStyle/>
                    <a:p>
                      <a:endParaRPr lang="zh-CN"/>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p:cNvGraphicFramePr>
            <a:graphicFrameLocks noGrp="1"/>
          </p:cNvGraphicFramePr>
          <p:nvPr>
            <p:extLst>
              <p:ext uri="{D42A27DB-BD31-4B8C-83A1-F6EECF244321}">
                <p14:modId xmlns:p14="http://schemas.microsoft.com/office/powerpoint/2010/main" val="2746113498"/>
              </p:ext>
            </p:extLst>
          </p:nvPr>
        </p:nvGraphicFramePr>
        <p:xfrm>
          <a:off x="230819" y="119955"/>
          <a:ext cx="11718526" cy="3601749"/>
        </p:xfrm>
        <a:graphic>
          <a:graphicData uri="http://schemas.openxmlformats.org/drawingml/2006/table">
            <a:tbl>
              <a:tblPr/>
              <a:tblGrid>
                <a:gridCol w="995672">
                  <a:extLst>
                    <a:ext uri="{9D8B030D-6E8A-4147-A177-3AD203B41FA5}">
                      <a16:colId xmlns:a16="http://schemas.microsoft.com/office/drawing/2014/main" val="20000"/>
                    </a:ext>
                  </a:extLst>
                </a:gridCol>
                <a:gridCol w="1100009">
                  <a:extLst>
                    <a:ext uri="{9D8B030D-6E8A-4147-A177-3AD203B41FA5}">
                      <a16:colId xmlns:a16="http://schemas.microsoft.com/office/drawing/2014/main" val="20001"/>
                    </a:ext>
                  </a:extLst>
                </a:gridCol>
                <a:gridCol w="1430906">
                  <a:extLst>
                    <a:ext uri="{9D8B030D-6E8A-4147-A177-3AD203B41FA5}">
                      <a16:colId xmlns:a16="http://schemas.microsoft.com/office/drawing/2014/main" val="20002"/>
                    </a:ext>
                  </a:extLst>
                </a:gridCol>
                <a:gridCol w="1520337">
                  <a:extLst>
                    <a:ext uri="{9D8B030D-6E8A-4147-A177-3AD203B41FA5}">
                      <a16:colId xmlns:a16="http://schemas.microsoft.com/office/drawing/2014/main" val="20003"/>
                    </a:ext>
                  </a:extLst>
                </a:gridCol>
                <a:gridCol w="1525460">
                  <a:extLst>
                    <a:ext uri="{9D8B030D-6E8A-4147-A177-3AD203B41FA5}">
                      <a16:colId xmlns:a16="http://schemas.microsoft.com/office/drawing/2014/main" val="20004"/>
                    </a:ext>
                  </a:extLst>
                </a:gridCol>
                <a:gridCol w="3507804">
                  <a:extLst>
                    <a:ext uri="{9D8B030D-6E8A-4147-A177-3AD203B41FA5}">
                      <a16:colId xmlns:a16="http://schemas.microsoft.com/office/drawing/2014/main" val="20005"/>
                    </a:ext>
                  </a:extLst>
                </a:gridCol>
                <a:gridCol w="1638338">
                  <a:extLst>
                    <a:ext uri="{9D8B030D-6E8A-4147-A177-3AD203B41FA5}">
                      <a16:colId xmlns:a16="http://schemas.microsoft.com/office/drawing/2014/main" val="20006"/>
                    </a:ext>
                  </a:extLst>
                </a:gridCol>
              </a:tblGrid>
              <a:tr h="465971">
                <a:tc gridSpan="7">
                  <a:txBody>
                    <a:bodyPr/>
                    <a:lstStyle/>
                    <a:p>
                      <a:pPr algn="l" fontAlgn="ctr"/>
                      <a:r>
                        <a:rPr lang="en-US" sz="1600" b="1" i="0" u="none" strike="noStrike" dirty="0">
                          <a:solidFill>
                            <a:srgbClr val="000000"/>
                          </a:solidFill>
                          <a:effectLst/>
                          <a:latin typeface="微软雅黑" panose="020B0503020204020204" pitchFamily="34" charset="-122"/>
                          <a:ea typeface="微软雅黑" panose="020B0503020204020204" pitchFamily="34" charset="-122"/>
                        </a:rPr>
                        <a:t>Lesson Learn</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转化</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标准化行动</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一览表</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1156149">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问题阶段</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是否</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跨领域</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是否有</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checklist/</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sop</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测试用例</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操作手册等</a:t>
                      </a:r>
                      <a:endParaRPr 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是否有</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流程</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机制</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是否需要</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checklist/sop/</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测试用例</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操作手册</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流程</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机制等</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转化</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审核结果</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Action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备注</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其他</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1"/>
                  </a:ext>
                </a:extLst>
              </a:tr>
              <a:tr h="1979629">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TR4</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　</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N</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　</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Y</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　</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N</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Y</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N</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2" name="组合 21"/>
          <p:cNvGrpSpPr/>
          <p:nvPr/>
        </p:nvGrpSpPr>
        <p:grpSpPr>
          <a:xfrm>
            <a:off x="7113786" y="590196"/>
            <a:ext cx="4353926" cy="919401"/>
            <a:chOff x="7187492" y="801429"/>
            <a:chExt cx="4353926" cy="1340742"/>
          </a:xfrm>
        </p:grpSpPr>
        <p:sp>
          <p:nvSpPr>
            <p:cNvPr id="23" name="文本框 22"/>
            <p:cNvSpPr txBox="1"/>
            <p:nvPr/>
          </p:nvSpPr>
          <p:spPr>
            <a:xfrm>
              <a:off x="7187492" y="801429"/>
              <a:ext cx="4353926" cy="1340742"/>
            </a:xfrm>
            <a:prstGeom prst="roundRect">
              <a:avLst/>
            </a:prstGeom>
            <a:solidFill>
              <a:srgbClr val="CF3138"/>
            </a:solid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en-US" altLang="zh-CN"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01</a:t>
              </a:r>
            </a:p>
          </p:txBody>
        </p:sp>
        <p:sp>
          <p:nvSpPr>
            <p:cNvPr id="24" name="文本框 23"/>
            <p:cNvSpPr txBox="1"/>
            <p:nvPr/>
          </p:nvSpPr>
          <p:spPr>
            <a:xfrm>
              <a:off x="8554986" y="1135181"/>
              <a:ext cx="1578383" cy="673236"/>
            </a:xfrm>
            <a:prstGeom prst="rect">
              <a:avLst/>
            </a:prstGeom>
            <a:noFill/>
          </p:spPr>
          <p:txBody>
            <a:bodyPr wrap="square" rtlCol="0">
              <a:spAutoFit/>
            </a:bodyPr>
            <a:lstStyle>
              <a:defPPr>
                <a:defRPr lang="zh-CN"/>
              </a:defPPr>
              <a:lvl1pPr>
                <a:defRPr kumimoji="0" sz="1400" b="1" i="0" u="none" strike="noStrike" cap="none" spc="0" normalizeH="0" baseline="0">
                  <a:ln>
                    <a:noFill/>
                  </a:ln>
                  <a:solidFill>
                    <a:srgbClr val="FFFFFF"/>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latin typeface="微软雅黑" panose="020B0503020204020204" pitchFamily="34" charset="-122"/>
                  <a:ea typeface="微软雅黑" panose="020B0503020204020204" pitchFamily="34" charset="-122"/>
                </a:rPr>
                <a:t>关键字</a:t>
              </a:r>
              <a:endParaRPr kumimoji="0"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grpSp>
        <p:nvGrpSpPr>
          <p:cNvPr id="25" name="组合 24"/>
          <p:cNvGrpSpPr/>
          <p:nvPr/>
        </p:nvGrpSpPr>
        <p:grpSpPr>
          <a:xfrm>
            <a:off x="7113786" y="1769422"/>
            <a:ext cx="4353926" cy="919401"/>
            <a:chOff x="7187492" y="801429"/>
            <a:chExt cx="4353926" cy="1340742"/>
          </a:xfrm>
        </p:grpSpPr>
        <p:sp>
          <p:nvSpPr>
            <p:cNvPr id="26" name="文本框 25"/>
            <p:cNvSpPr txBox="1"/>
            <p:nvPr/>
          </p:nvSpPr>
          <p:spPr>
            <a:xfrm>
              <a:off x="7187492" y="801429"/>
              <a:ext cx="4353926" cy="1340742"/>
            </a:xfrm>
            <a:prstGeom prst="roundRect">
              <a:avLst/>
            </a:prstGeom>
            <a:solidFill>
              <a:srgbClr val="CF3138"/>
            </a:solid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en-US" altLang="zh-CN"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02</a:t>
              </a:r>
            </a:p>
          </p:txBody>
        </p:sp>
        <p:sp>
          <p:nvSpPr>
            <p:cNvPr id="27" name="文本框 26"/>
            <p:cNvSpPr txBox="1"/>
            <p:nvPr/>
          </p:nvSpPr>
          <p:spPr>
            <a:xfrm>
              <a:off x="8554986" y="1135181"/>
              <a:ext cx="1578383" cy="673236"/>
            </a:xfrm>
            <a:prstGeom prst="rect">
              <a:avLst/>
            </a:prstGeom>
            <a:noFill/>
          </p:spPr>
          <p:txBody>
            <a:bodyPr wrap="square" rtlCol="0">
              <a:spAutoFit/>
            </a:bodyPr>
            <a:lstStyle>
              <a:defPPr>
                <a:defRPr lang="zh-CN"/>
              </a:defPPr>
              <a:lvl1pPr>
                <a:defRPr kumimoji="0" sz="1400" b="1" i="0" u="none" strike="noStrike" cap="none" spc="0" normalizeH="0" baseline="0">
                  <a:ln>
                    <a:noFill/>
                  </a:ln>
                  <a:solidFill>
                    <a:srgbClr val="FFFFFF"/>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latin typeface="微软雅黑" panose="020B0503020204020204" pitchFamily="34" charset="-122"/>
                  <a:ea typeface="微软雅黑" panose="020B0503020204020204" pitchFamily="34" charset="-122"/>
                </a:rPr>
                <a:t>问题描述</a:t>
              </a:r>
              <a:endParaRPr kumimoji="0"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grpSp>
        <p:nvGrpSpPr>
          <p:cNvPr id="28" name="组合 27"/>
          <p:cNvGrpSpPr/>
          <p:nvPr/>
        </p:nvGrpSpPr>
        <p:grpSpPr>
          <a:xfrm>
            <a:off x="7113786" y="5307102"/>
            <a:ext cx="4353926" cy="919401"/>
            <a:chOff x="7187492" y="801429"/>
            <a:chExt cx="4353926" cy="1340742"/>
          </a:xfrm>
        </p:grpSpPr>
        <p:sp>
          <p:nvSpPr>
            <p:cNvPr id="29" name="文本框 28"/>
            <p:cNvSpPr txBox="1"/>
            <p:nvPr/>
          </p:nvSpPr>
          <p:spPr>
            <a:xfrm>
              <a:off x="7187492" y="801429"/>
              <a:ext cx="4353926" cy="1340742"/>
            </a:xfrm>
            <a:prstGeom prst="roundRect">
              <a:avLst/>
            </a:prstGeom>
            <a:solidFill>
              <a:srgbClr val="CF3138"/>
            </a:solid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en-US" altLang="zh-CN"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05</a:t>
              </a:r>
            </a:p>
          </p:txBody>
        </p:sp>
        <p:sp>
          <p:nvSpPr>
            <p:cNvPr id="30" name="文本框 29"/>
            <p:cNvSpPr txBox="1"/>
            <p:nvPr/>
          </p:nvSpPr>
          <p:spPr>
            <a:xfrm>
              <a:off x="8554986" y="1135181"/>
              <a:ext cx="1578383" cy="673236"/>
            </a:xfrm>
            <a:prstGeom prst="rect">
              <a:avLst/>
            </a:prstGeom>
            <a:noFill/>
          </p:spPr>
          <p:txBody>
            <a:bodyPr wrap="square" rtlCol="0">
              <a:spAutoFit/>
            </a:bodyPr>
            <a:lstStyle>
              <a:defPPr>
                <a:defRPr lang="zh-CN"/>
              </a:defPPr>
              <a:lvl1pPr>
                <a:defRPr kumimoji="0" sz="1400" b="1" i="0" u="none" strike="noStrike" cap="none" spc="0" normalizeH="0" baseline="0">
                  <a:ln>
                    <a:noFill/>
                  </a:ln>
                  <a:solidFill>
                    <a:srgbClr val="FFFFFF"/>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latin typeface="微软雅黑" panose="020B0503020204020204" pitchFamily="34" charset="-122"/>
                  <a:ea typeface="微软雅黑" panose="020B0503020204020204" pitchFamily="34" charset="-122"/>
                </a:rPr>
                <a:t>总结</a:t>
              </a:r>
              <a:endParaRPr kumimoji="0"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grpSp>
        <p:nvGrpSpPr>
          <p:cNvPr id="31" name="组合 30"/>
          <p:cNvGrpSpPr/>
          <p:nvPr/>
        </p:nvGrpSpPr>
        <p:grpSpPr>
          <a:xfrm>
            <a:off x="7113786" y="2948648"/>
            <a:ext cx="4353926" cy="919401"/>
            <a:chOff x="7187492" y="801429"/>
            <a:chExt cx="4353926" cy="1340742"/>
          </a:xfrm>
        </p:grpSpPr>
        <p:sp>
          <p:nvSpPr>
            <p:cNvPr id="32" name="文本框 31"/>
            <p:cNvSpPr txBox="1"/>
            <p:nvPr/>
          </p:nvSpPr>
          <p:spPr>
            <a:xfrm>
              <a:off x="7187492" y="801429"/>
              <a:ext cx="4353926" cy="1340742"/>
            </a:xfrm>
            <a:prstGeom prst="roundRect">
              <a:avLst/>
            </a:prstGeom>
            <a:solidFill>
              <a:srgbClr val="CF3138"/>
            </a:solid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en-US" altLang="zh-CN"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03</a:t>
              </a:r>
            </a:p>
          </p:txBody>
        </p:sp>
        <p:sp>
          <p:nvSpPr>
            <p:cNvPr id="33" name="文本框 32"/>
            <p:cNvSpPr txBox="1"/>
            <p:nvPr/>
          </p:nvSpPr>
          <p:spPr>
            <a:xfrm>
              <a:off x="8554986" y="1135181"/>
              <a:ext cx="1578383" cy="673236"/>
            </a:xfrm>
            <a:prstGeom prst="rect">
              <a:avLst/>
            </a:prstGeom>
            <a:noFill/>
          </p:spPr>
          <p:txBody>
            <a:bodyPr wrap="square" rtlCol="0">
              <a:spAutoFit/>
            </a:bodyPr>
            <a:lstStyle>
              <a:defPPr>
                <a:defRPr lang="zh-CN"/>
              </a:defPPr>
              <a:lvl1pPr>
                <a:defRPr kumimoji="0" sz="1400" b="1" i="0" u="none" strike="noStrike" cap="none" spc="0" normalizeH="0" baseline="0">
                  <a:ln>
                    <a:noFill/>
                  </a:ln>
                  <a:solidFill>
                    <a:srgbClr val="FFFFFF"/>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latin typeface="微软雅黑" panose="020B0503020204020204" pitchFamily="34" charset="-122"/>
                  <a:ea typeface="微软雅黑" panose="020B0503020204020204" pitchFamily="34" charset="-122"/>
                </a:rPr>
                <a:t>分析过程</a:t>
              </a:r>
              <a:endParaRPr kumimoji="0"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grpSp>
        <p:nvGrpSpPr>
          <p:cNvPr id="34" name="组合 33"/>
          <p:cNvGrpSpPr/>
          <p:nvPr/>
        </p:nvGrpSpPr>
        <p:grpSpPr>
          <a:xfrm>
            <a:off x="7113786" y="4127874"/>
            <a:ext cx="4353926" cy="919401"/>
            <a:chOff x="7187492" y="801429"/>
            <a:chExt cx="4353926" cy="1340742"/>
          </a:xfrm>
        </p:grpSpPr>
        <p:sp>
          <p:nvSpPr>
            <p:cNvPr id="35" name="文本框 34"/>
            <p:cNvSpPr txBox="1"/>
            <p:nvPr/>
          </p:nvSpPr>
          <p:spPr>
            <a:xfrm>
              <a:off x="7187492" y="801429"/>
              <a:ext cx="4353926" cy="1340742"/>
            </a:xfrm>
            <a:prstGeom prst="roundRect">
              <a:avLst/>
            </a:prstGeom>
            <a:solidFill>
              <a:srgbClr val="CF3138"/>
            </a:solid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en-US" altLang="zh-CN"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04</a:t>
              </a:r>
            </a:p>
          </p:txBody>
        </p:sp>
        <p:sp>
          <p:nvSpPr>
            <p:cNvPr id="36" name="文本框 35"/>
            <p:cNvSpPr txBox="1"/>
            <p:nvPr/>
          </p:nvSpPr>
          <p:spPr>
            <a:xfrm>
              <a:off x="8554986" y="1139074"/>
              <a:ext cx="1578383" cy="673236"/>
            </a:xfrm>
            <a:prstGeom prst="rect">
              <a:avLst/>
            </a:prstGeom>
            <a:noFill/>
          </p:spPr>
          <p:txBody>
            <a:bodyPr wrap="square" rtlCol="0">
              <a:spAutoFit/>
            </a:bodyPr>
            <a:lstStyle>
              <a:defPPr>
                <a:defRPr lang="zh-CN"/>
              </a:defPPr>
              <a:lvl1pPr>
                <a:defRPr kumimoji="0" sz="1400" b="1" i="0" u="none" strike="noStrike" cap="none" spc="0" normalizeH="0" baseline="0">
                  <a:ln>
                    <a:noFill/>
                  </a:ln>
                  <a:solidFill>
                    <a:srgbClr val="FFFFFF"/>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latin typeface="微软雅黑" panose="020B0503020204020204" pitchFamily="34" charset="-122"/>
                  <a:ea typeface="微软雅黑" panose="020B0503020204020204" pitchFamily="34" charset="-122"/>
                </a:rPr>
                <a:t>解决方案</a:t>
              </a:r>
              <a:endParaRPr kumimoji="0"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sp>
        <p:nvSpPr>
          <p:cNvPr id="38" name="文本占位符 46"/>
          <p:cNvSpPr txBox="1"/>
          <p:nvPr/>
        </p:nvSpPr>
        <p:spPr>
          <a:xfrm>
            <a:off x="1185243" y="4916945"/>
            <a:ext cx="4113213" cy="841064"/>
          </a:xfrm>
          <a:prstGeom prst="rect">
            <a:avLst/>
          </a:prstGeom>
          <a:solidFill>
            <a:schemeClr val="bg1">
              <a:lumMod val="95000"/>
            </a:schemeClr>
          </a:solidFill>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0" lang="zh-CN" altLang="en-US" sz="1400" b="1" i="0" u="none" strike="noStrike" kern="1200" cap="none" spc="0" normalizeH="0" baseline="0" dirty="0" smtClean="0">
                <a:ln>
                  <a:noFill/>
                </a:ln>
                <a:solidFill>
                  <a:schemeClr val="tx2">
                    <a:lumMod val="60000"/>
                    <a:lumOff val="40000"/>
                  </a:schemeClr>
                </a:solidFill>
                <a:effectLst/>
                <a:uLnTx/>
                <a:uFillTx/>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1680" b="1" i="0" u="none" strike="noStrike" kern="1200" cap="none" spc="0" normalizeH="0" baseline="0" noProof="0" dirty="0">
                <a:ln>
                  <a:noFill/>
                </a:ln>
                <a:solidFill>
                  <a:srgbClr val="474C50">
                    <a:lumMod val="60000"/>
                    <a:lumOff val="40000"/>
                  </a:srgb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Lesson Learn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srgbClr val="474C50">
                    <a:lumMod val="60000"/>
                    <a:lumOff val="40000"/>
                  </a:srgb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案例总结</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3" name="矩形 2"/>
          <p:cNvSpPr/>
          <p:nvPr/>
        </p:nvSpPr>
        <p:spPr>
          <a:xfrm>
            <a:off x="2602523" y="2708031"/>
            <a:ext cx="6978162" cy="72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01 </a:t>
            </a:r>
            <a:r>
              <a:rPr kumimoji="0" lang="zh-CN" altLang="en-US"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关键字</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17443" y="178904"/>
            <a:ext cx="1146468" cy="461665"/>
          </a:xfrm>
          <a:prstGeom prst="rect">
            <a:avLst/>
          </a:prstGeom>
          <a:noFill/>
        </p:spPr>
        <p:txBody>
          <a:bodyPr wrap="none" rtlCol="0">
            <a:spAutoFit/>
          </a:bodyPr>
          <a:lstStyle/>
          <a:p>
            <a:r>
              <a:rPr lang="zh-CN" altLang="en-US" sz="2400" b="1" spc="100" dirty="0">
                <a:latin typeface="微软雅黑" panose="020B0503020204020204" pitchFamily="34" charset="-122"/>
                <a:ea typeface="微软雅黑" panose="020B0503020204020204" pitchFamily="34" charset="-122"/>
              </a:rPr>
              <a:t>关键字</a:t>
            </a:r>
          </a:p>
        </p:txBody>
      </p:sp>
      <p:sp>
        <p:nvSpPr>
          <p:cNvPr id="5" name="文本框 4"/>
          <p:cNvSpPr txBox="1"/>
          <p:nvPr/>
        </p:nvSpPr>
        <p:spPr>
          <a:xfrm>
            <a:off x="346229" y="934278"/>
            <a:ext cx="11505460" cy="2186609"/>
          </a:xfrm>
          <a:prstGeom prst="rect">
            <a:avLst/>
          </a:prstGeom>
          <a:noFill/>
        </p:spPr>
        <p:txBody>
          <a:bodyPr wrap="square" rtlCol="0">
            <a:noAutofit/>
          </a:bodyPr>
          <a:lstStyle/>
          <a:p>
            <a:pPr>
              <a:lnSpc>
                <a:spcPct val="150000"/>
              </a:lnSpc>
            </a:pPr>
            <a:r>
              <a:rPr lang="zh-CN" altLang="en-US" sz="1600">
                <a:latin typeface="微软雅黑" panose="020B0503020204020204" pitchFamily="34" charset="-122"/>
                <a:ea typeface="微软雅黑" panose="020B0503020204020204" pitchFamily="34" charset="-122"/>
              </a:rPr>
              <a:t>关键字：</a:t>
            </a:r>
            <a:r>
              <a:rPr lang="zh-CN" altLang="en-US" sz="1600" dirty="0">
                <a:latin typeface="微软雅黑" panose="020B0503020204020204" pitchFamily="34" charset="-122"/>
                <a:ea typeface="微软雅黑" panose="020B0503020204020204" pitchFamily="34" charset="-122"/>
              </a:rPr>
              <a:t>黑屏</a:t>
            </a:r>
            <a:r>
              <a:rPr lang="en-US" altLang="zh-CN" sz="1600">
                <a:latin typeface="微软雅黑" panose="020B0503020204020204" pitchFamily="34" charset="-122"/>
                <a:ea typeface="微软雅黑" panose="020B0503020204020204" pitchFamily="34" charset="-122"/>
              </a:rPr>
              <a:t> MediaCodec</a:t>
            </a:r>
            <a:r>
              <a:rPr lang="zh-CN" altLang="en-US" sz="1600">
                <a:latin typeface="微软雅黑" panose="020B0503020204020204" pitchFamily="34" charset="-122"/>
                <a:ea typeface="微软雅黑" panose="020B0503020204020204" pitchFamily="34" charset="-122"/>
              </a:rPr>
              <a:t> </a:t>
            </a:r>
            <a:r>
              <a:rPr lang="en-US" altLang="zh-CN" sz="1600">
                <a:latin typeface="微软雅黑" panose="020B0503020204020204" pitchFamily="34" charset="-122"/>
                <a:ea typeface="微软雅黑" panose="020B0503020204020204" pitchFamily="34" charset="-122"/>
              </a:rPr>
              <a:t>Surface</a:t>
            </a:r>
            <a:r>
              <a:rPr lang="zh-CN" altLang="en-US" sz="1600">
                <a:latin typeface="微软雅黑" panose="020B0503020204020204" pitchFamily="34" charset="-122"/>
                <a:ea typeface="微软雅黑" panose="020B0503020204020204" pitchFamily="34" charset="-122"/>
              </a:rPr>
              <a:t> </a:t>
            </a:r>
            <a:r>
              <a:rPr lang="en-US" altLang="zh-CN" sz="1600">
                <a:latin typeface="微软雅黑" panose="020B0503020204020204" pitchFamily="34" charset="-122"/>
                <a:ea typeface="微软雅黑" panose="020B0503020204020204" pitchFamily="34" charset="-122"/>
              </a:rPr>
              <a:t>Activity</a:t>
            </a:r>
          </a:p>
          <a:p>
            <a:pPr>
              <a:lnSpc>
                <a:spcPct val="150000"/>
              </a:lnSpc>
            </a:pPr>
            <a:endParaRPr lang="en-US" altLang="zh-CN" sz="16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关联领域</a:t>
            </a:r>
            <a:r>
              <a:rPr lang="zh-CN" altLang="en-US" sz="1600">
                <a:latin typeface="微软雅黑" panose="020B0503020204020204" pitchFamily="34" charset="-122"/>
                <a:ea typeface="微软雅黑" panose="020B0503020204020204" pitchFamily="34" charset="-122"/>
              </a:rPr>
              <a:t>： 软件 多媒体 视频框架</a:t>
            </a:r>
            <a:endParaRPr lang="en-US" altLang="zh-CN" sz="1600" dirty="0">
              <a:latin typeface="微软雅黑" panose="020B0503020204020204" pitchFamily="34" charset="-122"/>
              <a:ea typeface="微软雅黑" panose="020B0503020204020204" pitchFamily="34" charset="-122"/>
            </a:endParaRPr>
          </a:p>
          <a:p>
            <a:pPr>
              <a:lnSpc>
                <a:spcPct val="150000"/>
              </a:lnSpc>
            </a:pPr>
            <a:endParaRPr lang="en-US" altLang="zh-CN" sz="1600" dirty="0">
              <a:solidFill>
                <a:schemeClr val="bg1">
                  <a:lumMod val="65000"/>
                </a:schemeClr>
              </a:solidFill>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sym typeface="Wingdings" panose="05000000000000000000" pitchFamily="2" charset="2"/>
              </a:rPr>
              <a:t>概述</a:t>
            </a:r>
            <a:r>
              <a:rPr lang="zh-CN" altLang="en-US" sz="1600">
                <a:latin typeface="微软雅黑" panose="020B0503020204020204" pitchFamily="34" charset="-122"/>
                <a:ea typeface="微软雅黑" panose="020B0503020204020204" pitchFamily="34" charset="-122"/>
                <a:sym typeface="Wingdings" panose="05000000000000000000" pitchFamily="2" charset="2"/>
              </a:rPr>
              <a:t>：视频播放器在修改功能时未考虑</a:t>
            </a:r>
            <a:r>
              <a:rPr lang="en-US" altLang="zh-CN" sz="1600">
                <a:latin typeface="微软雅黑" panose="020B0503020204020204" pitchFamily="34" charset="-122"/>
                <a:ea typeface="微软雅黑" panose="020B0503020204020204" pitchFamily="34" charset="-122"/>
                <a:sym typeface="Wingdings" panose="05000000000000000000" pitchFamily="2" charset="2"/>
              </a:rPr>
              <a:t>activity</a:t>
            </a:r>
            <a:r>
              <a:rPr lang="zh-CN" altLang="en-US" sz="1600">
                <a:latin typeface="微软雅黑" panose="020B0503020204020204" pitchFamily="34" charset="-122"/>
                <a:ea typeface="微软雅黑" panose="020B0503020204020204" pitchFamily="34" charset="-122"/>
                <a:sym typeface="Wingdings" panose="05000000000000000000" pitchFamily="2" charset="2"/>
              </a:rPr>
              <a:t>生命周期的影响，导致应用跳转时闪黑屏。</a:t>
            </a:r>
            <a:endParaRPr lang="en-US" altLang="zh-CN" sz="1600" dirty="0">
              <a:latin typeface="微软雅黑" panose="020B0503020204020204" pitchFamily="34" charset="-122"/>
              <a:ea typeface="微软雅黑" panose="020B0503020204020204" pitchFamily="34" charset="-122"/>
              <a:sym typeface="Wingdings" panose="05000000000000000000" pitchFamily="2" charset="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2602523" y="2708031"/>
            <a:ext cx="6978162" cy="72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02 </a:t>
            </a:r>
            <a:r>
              <a:rPr kumimoji="0" lang="zh-CN" altLang="en-US"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问题描述</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8474" y="712126"/>
            <a:ext cx="11540971" cy="614968"/>
          </a:xfrm>
          <a:prstGeom prst="rect">
            <a:avLst/>
          </a:prstGeom>
        </p:spPr>
        <p:txBody>
          <a:bodyPr wrap="square">
            <a:noAutofit/>
          </a:bodyPr>
          <a:lstStyle/>
          <a:p>
            <a:pPr>
              <a:lnSpc>
                <a:spcPct val="150000"/>
              </a:lnSpc>
            </a:pPr>
            <a:r>
              <a:rPr lang="zh-CN" altLang="en-US" sz="1600" b="1">
                <a:latin typeface="微软雅黑" panose="020B0503020204020204" pitchFamily="34" charset="-122"/>
                <a:ea typeface="微软雅黑" panose="020B0503020204020204" pitchFamily="34" charset="-122"/>
              </a:rPr>
              <a:t>背景</a:t>
            </a:r>
            <a:r>
              <a:rPr lang="zh-CN" altLang="en-US" sz="1600" b="1" dirty="0">
                <a:latin typeface="微软雅黑" panose="020B0503020204020204" pitchFamily="34" charset="-122"/>
                <a:ea typeface="微软雅黑" panose="020B0503020204020204" pitchFamily="34" charset="-122"/>
              </a:rPr>
              <a:t>（</a:t>
            </a:r>
            <a:r>
              <a:rPr lang="en-US" altLang="zh-CN" sz="1600" b="1" dirty="0">
                <a:latin typeface="微软雅黑" panose="020B0503020204020204" pitchFamily="34" charset="-122"/>
                <a:ea typeface="微软雅黑" panose="020B0503020204020204" pitchFamily="34" charset="-122"/>
              </a:rPr>
              <a:t>Situation</a:t>
            </a:r>
            <a:r>
              <a:rPr lang="zh-CN" altLang="en-US" sz="1600" b="1" dirty="0">
                <a:latin typeface="微软雅黑" panose="020B0503020204020204" pitchFamily="34" charset="-122"/>
                <a:ea typeface="微软雅黑" panose="020B0503020204020204" pitchFamily="34" charset="-122"/>
              </a:rPr>
              <a:t>）</a:t>
            </a:r>
          </a:p>
        </p:txBody>
      </p:sp>
      <p:sp>
        <p:nvSpPr>
          <p:cNvPr id="3" name="文本框 2"/>
          <p:cNvSpPr txBox="1"/>
          <p:nvPr/>
        </p:nvSpPr>
        <p:spPr>
          <a:xfrm>
            <a:off x="417443" y="178904"/>
            <a:ext cx="1467068" cy="461665"/>
          </a:xfrm>
          <a:prstGeom prst="rect">
            <a:avLst/>
          </a:prstGeom>
          <a:noFill/>
        </p:spPr>
        <p:txBody>
          <a:bodyPr wrap="none" rtlCol="0">
            <a:spAutoFit/>
          </a:bodyPr>
          <a:lstStyle/>
          <a:p>
            <a:r>
              <a:rPr lang="zh-CN" altLang="en-US" sz="2400" b="1" spc="100" dirty="0">
                <a:latin typeface="微软雅黑" panose="020B0503020204020204" pitchFamily="34" charset="-122"/>
                <a:ea typeface="微软雅黑" panose="020B0503020204020204" pitchFamily="34" charset="-122"/>
              </a:rPr>
              <a:t>问题描述</a:t>
            </a:r>
          </a:p>
        </p:txBody>
      </p:sp>
      <p:sp>
        <p:nvSpPr>
          <p:cNvPr id="7" name="文本框 6">
            <a:extLst>
              <a:ext uri="{FF2B5EF4-FFF2-40B4-BE49-F238E27FC236}">
                <a16:creationId xmlns:a16="http://schemas.microsoft.com/office/drawing/2014/main" id="{DB0310FA-2861-4560-A421-6271AB4B671D}"/>
              </a:ext>
            </a:extLst>
          </p:cNvPr>
          <p:cNvSpPr txBox="1"/>
          <p:nvPr/>
        </p:nvSpPr>
        <p:spPr>
          <a:xfrm>
            <a:off x="328474" y="1398651"/>
            <a:ext cx="7804066" cy="458908"/>
          </a:xfrm>
          <a:prstGeom prst="rect">
            <a:avLst/>
          </a:prstGeom>
          <a:noFill/>
        </p:spPr>
        <p:txBody>
          <a:bodyPr wrap="square">
            <a:spAutoFit/>
          </a:bodyPr>
          <a:lstStyle/>
          <a:p>
            <a:pPr>
              <a:lnSpc>
                <a:spcPct val="150000"/>
              </a:lnSpc>
            </a:pPr>
            <a:r>
              <a:rPr lang="zh-CN" altLang="en-US" sz="1800">
                <a:latin typeface="微软雅黑" panose="020B0503020204020204" pitchFamily="34" charset="-122"/>
                <a:ea typeface="微软雅黑" panose="020B0503020204020204" pitchFamily="34" charset="-122"/>
              </a:rPr>
              <a:t>视频播放器点击无线投屏后，视频播放界面闪黑屏。</a:t>
            </a:r>
            <a:endParaRPr lang="en-US" altLang="zh-CN" sz="1800">
              <a:latin typeface="微软雅黑" panose="020B0503020204020204" pitchFamily="34" charset="-122"/>
              <a:ea typeface="微软雅黑" panose="020B0503020204020204" pitchFamily="34" charset="-122"/>
            </a:endParaRPr>
          </a:p>
        </p:txBody>
      </p:sp>
      <p:pic>
        <p:nvPicPr>
          <p:cNvPr id="5" name="图片 4" descr="图形用户界面, 应用程序&#10;&#10;描述已自动生成">
            <a:extLst>
              <a:ext uri="{FF2B5EF4-FFF2-40B4-BE49-F238E27FC236}">
                <a16:creationId xmlns:a16="http://schemas.microsoft.com/office/drawing/2014/main" id="{B5A886C1-6E4F-D2E4-2A65-01763B46B3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6343" y="2172571"/>
            <a:ext cx="3339313" cy="40871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2602523" y="2708031"/>
            <a:ext cx="6978162" cy="72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 </a:t>
            </a:r>
            <a:r>
              <a:rPr kumimoji="0" lang="zh-CN" altLang="en-US"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分析过程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1B4614F1-288C-E26A-A87A-C41DFD1E0A31}"/>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FDFC3C67-287B-4519-A8F9-5656008A2217}"/>
              </a:ext>
            </a:extLst>
          </p:cNvPr>
          <p:cNvSpPr txBox="1"/>
          <p:nvPr/>
        </p:nvSpPr>
        <p:spPr>
          <a:xfrm>
            <a:off x="357734" y="2436421"/>
            <a:ext cx="11476532" cy="1569660"/>
          </a:xfrm>
          <a:prstGeom prst="rect">
            <a:avLst/>
          </a:prstGeom>
          <a:noFill/>
        </p:spPr>
        <p:txBody>
          <a:bodyPr wrap="square">
            <a:spAutoFit/>
          </a:bodyPr>
          <a:lstStyle/>
          <a:p>
            <a:r>
              <a:rPr lang="zh-CN" altLang="en-US" sz="1600"/>
              <a:t>          if (needUpdateSurfaceView) {</a:t>
            </a:r>
          </a:p>
          <a:p>
            <a:r>
              <a:rPr lang="zh-CN" altLang="en-US" sz="1600"/>
              <a:t>             createOrUpdateSurfaceView(size, false)</a:t>
            </a:r>
          </a:p>
          <a:p>
            <a:r>
              <a:rPr lang="zh-CN" altLang="en-US" sz="1600"/>
              <a:t>-        } else if (currentVideoUri != null &amp;&amp; currentVideoUri != lastVideoUri) {</a:t>
            </a:r>
          </a:p>
          <a:p>
            <a:r>
              <a:rPr lang="zh-CN" altLang="en-US" sz="1600"/>
              <a:t>+        } else if (currentVideoUri != null &amp;&amp; (currentVideoUri != lastVideoUri || viewModel.player?.getPlayedList()?.size == 1)) {</a:t>
            </a:r>
          </a:p>
          <a:p>
            <a:r>
              <a:rPr lang="zh-CN" altLang="en-US" sz="1600"/>
              <a:t>             createOrUpdateSurfaceView(size, true)</a:t>
            </a:r>
          </a:p>
          <a:p>
            <a:r>
              <a:rPr lang="zh-CN" altLang="en-US" sz="1600"/>
              <a:t>         }</a:t>
            </a:r>
          </a:p>
        </p:txBody>
      </p:sp>
      <p:sp>
        <p:nvSpPr>
          <p:cNvPr id="4" name="文本框 3">
            <a:extLst>
              <a:ext uri="{FF2B5EF4-FFF2-40B4-BE49-F238E27FC236}">
                <a16:creationId xmlns:a16="http://schemas.microsoft.com/office/drawing/2014/main" id="{B9162018-5354-F515-A5D6-B099EF3591DF}"/>
              </a:ext>
            </a:extLst>
          </p:cNvPr>
          <p:cNvSpPr txBox="1"/>
          <p:nvPr/>
        </p:nvSpPr>
        <p:spPr>
          <a:xfrm>
            <a:off x="357734" y="952530"/>
            <a:ext cx="11476532" cy="875881"/>
          </a:xfrm>
          <a:prstGeom prst="rect">
            <a:avLst/>
          </a:prstGeom>
          <a:noFill/>
        </p:spPr>
        <p:txBody>
          <a:bodyPr wrap="square" rtlCol="0">
            <a:spAutoFit/>
          </a:bodyPr>
          <a:lstStyle/>
          <a:p>
            <a:pPr>
              <a:lnSpc>
                <a:spcPct val="150000"/>
              </a:lnSpc>
            </a:pPr>
            <a:r>
              <a:rPr kumimoji="1" lang="zh-CN" altLang="en-US"/>
              <a:t>首先这是功能的问题，在研发初期一定测试通过的。因此去尝试使用旧版本的视频播放器</a:t>
            </a:r>
            <a:r>
              <a:rPr kumimoji="1" lang="en-US" altLang="zh-CN"/>
              <a:t>apk</a:t>
            </a:r>
            <a:r>
              <a:rPr kumimoji="1" lang="zh-CN" altLang="en-US"/>
              <a:t>进行测试发现无法复现。根据版本和提交记录最终定位到如下代码：</a:t>
            </a:r>
          </a:p>
        </p:txBody>
      </p:sp>
      <p:sp>
        <p:nvSpPr>
          <p:cNvPr id="6" name="文本框 5">
            <a:extLst>
              <a:ext uri="{FF2B5EF4-FFF2-40B4-BE49-F238E27FC236}">
                <a16:creationId xmlns:a16="http://schemas.microsoft.com/office/drawing/2014/main" id="{C488E2AC-95BC-BE78-5AFD-C2DB8FCCD451}"/>
              </a:ext>
            </a:extLst>
          </p:cNvPr>
          <p:cNvSpPr txBox="1"/>
          <p:nvPr/>
        </p:nvSpPr>
        <p:spPr>
          <a:xfrm>
            <a:off x="412694" y="4614091"/>
            <a:ext cx="11476532" cy="1291379"/>
          </a:xfrm>
          <a:prstGeom prst="rect">
            <a:avLst/>
          </a:prstGeom>
          <a:noFill/>
        </p:spPr>
        <p:txBody>
          <a:bodyPr wrap="square" rtlCol="0">
            <a:spAutoFit/>
          </a:bodyPr>
          <a:lstStyle/>
          <a:p>
            <a:pPr>
              <a:lnSpc>
                <a:spcPct val="150000"/>
              </a:lnSpc>
            </a:pPr>
            <a:r>
              <a:rPr kumimoji="1" lang="zh-CN" altLang="en-US"/>
              <a:t>其中，</a:t>
            </a:r>
            <a:r>
              <a:rPr lang="zh-CN" altLang="en-US" sz="1800"/>
              <a:t> viewModel.player?.getPlayedList()?.size == 1条件为后续提交合入。这个判断原本的功能为当播放器中的播放文件更改则重新创建或者更新</a:t>
            </a:r>
            <a:r>
              <a:rPr lang="en-US" altLang="zh-CN" sz="1800"/>
              <a:t>surfaceview</a:t>
            </a:r>
            <a:r>
              <a:rPr lang="zh-CN" altLang="en-US" sz="1800"/>
              <a:t>来播放新的视频文件。而新的判断条件则是为了修复当播放列表只有一个视频或者单曲循环播放的时候，视频文件没有更新不会触发</a:t>
            </a:r>
            <a:r>
              <a:rPr lang="en-US" altLang="zh-CN" sz="1800"/>
              <a:t>surfaceview</a:t>
            </a:r>
            <a:r>
              <a:rPr lang="zh-CN" altLang="en-US" sz="1800"/>
              <a:t>的更新而导致播放黑屏。</a:t>
            </a:r>
            <a:endParaRPr kumimoji="1"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1B4614F1-288C-E26A-A87A-C41DFD1E0A31}"/>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B9162018-5354-F515-A5D6-B099EF3591DF}"/>
              </a:ext>
            </a:extLst>
          </p:cNvPr>
          <p:cNvSpPr txBox="1"/>
          <p:nvPr/>
        </p:nvSpPr>
        <p:spPr>
          <a:xfrm>
            <a:off x="412694" y="809204"/>
            <a:ext cx="11531150" cy="880369"/>
          </a:xfrm>
          <a:prstGeom prst="rect">
            <a:avLst/>
          </a:prstGeom>
          <a:noFill/>
        </p:spPr>
        <p:txBody>
          <a:bodyPr wrap="square" rtlCol="0">
            <a:spAutoFit/>
          </a:bodyPr>
          <a:lstStyle/>
          <a:p>
            <a:pPr>
              <a:lnSpc>
                <a:spcPct val="150000"/>
              </a:lnSpc>
            </a:pPr>
            <a:r>
              <a:rPr kumimoji="1" lang="zh-CN" altLang="en-US"/>
              <a:t>新添加的判断对问题场景有什么影响？通过日志调试发现新判断不存在时，问题场景对整个判断的值为</a:t>
            </a:r>
            <a:r>
              <a:rPr kumimoji="1" lang="en-US" altLang="zh-CN"/>
              <a:t>False</a:t>
            </a:r>
            <a:r>
              <a:rPr kumimoji="1" lang="zh-CN" altLang="en-US"/>
              <a:t>，不会触发</a:t>
            </a:r>
            <a:r>
              <a:rPr lang="zh-CN" altLang="en-US" sz="1800"/>
              <a:t>createOrUpdateSurfaceView。使用火焰图快速查看触发堆栈：</a:t>
            </a:r>
            <a:endParaRPr kumimoji="1" lang="zh-CN" altLang="en-US"/>
          </a:p>
        </p:txBody>
      </p:sp>
      <p:pic>
        <p:nvPicPr>
          <p:cNvPr id="9" name="图片 8" descr="Word&#10;&#10;中度可信度描述已自动生成">
            <a:extLst>
              <a:ext uri="{FF2B5EF4-FFF2-40B4-BE49-F238E27FC236}">
                <a16:creationId xmlns:a16="http://schemas.microsoft.com/office/drawing/2014/main" id="{792D048D-ABF6-2763-C1FA-2F7C874ED1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2694" y="2044363"/>
            <a:ext cx="7772400" cy="4283127"/>
          </a:xfrm>
          <a:prstGeom prst="rect">
            <a:avLst/>
          </a:prstGeom>
        </p:spPr>
      </p:pic>
      <p:sp>
        <p:nvSpPr>
          <p:cNvPr id="10" name="文本框 9">
            <a:extLst>
              <a:ext uri="{FF2B5EF4-FFF2-40B4-BE49-F238E27FC236}">
                <a16:creationId xmlns:a16="http://schemas.microsoft.com/office/drawing/2014/main" id="{3E63C0E0-1C18-470D-4273-9407CA0A8D9F}"/>
              </a:ext>
            </a:extLst>
          </p:cNvPr>
          <p:cNvSpPr txBox="1"/>
          <p:nvPr/>
        </p:nvSpPr>
        <p:spPr>
          <a:xfrm>
            <a:off x="8302428" y="2486503"/>
            <a:ext cx="3641416" cy="2953373"/>
          </a:xfrm>
          <a:prstGeom prst="rect">
            <a:avLst/>
          </a:prstGeom>
          <a:noFill/>
        </p:spPr>
        <p:txBody>
          <a:bodyPr wrap="square" rtlCol="0">
            <a:spAutoFit/>
          </a:bodyPr>
          <a:lstStyle/>
          <a:p>
            <a:pPr algn="just">
              <a:lnSpc>
                <a:spcPct val="150000"/>
              </a:lnSpc>
            </a:pPr>
            <a:r>
              <a:rPr kumimoji="1" lang="zh-CN" altLang="en-US"/>
              <a:t>当播放器的</a:t>
            </a:r>
            <a:r>
              <a:rPr kumimoji="1" lang="en-US" altLang="zh-CN"/>
              <a:t>Mainactivity</a:t>
            </a:r>
            <a:r>
              <a:rPr kumimoji="1" lang="zh-CN" altLang="en-US"/>
              <a:t>触发</a:t>
            </a:r>
            <a:r>
              <a:rPr kumimoji="1" lang="en-US" altLang="zh-CN"/>
              <a:t>onResume</a:t>
            </a:r>
            <a:r>
              <a:rPr kumimoji="1" lang="zh-CN" altLang="en-US"/>
              <a:t>时将会更新界面元素，此时由于国内产品的播放器列表只能为</a:t>
            </a:r>
            <a:r>
              <a:rPr kumimoji="1" lang="en-US" altLang="zh-CN"/>
              <a:t>1</a:t>
            </a:r>
            <a:r>
              <a:rPr kumimoji="1" lang="zh-CN" altLang="en-US"/>
              <a:t>将必触发</a:t>
            </a:r>
            <a:r>
              <a:rPr kumimoji="1" lang="en-US" altLang="zh-CN"/>
              <a:t>surfaceview</a:t>
            </a:r>
            <a:r>
              <a:rPr kumimoji="1" lang="zh-CN" altLang="en-US"/>
              <a:t>的更新。</a:t>
            </a:r>
            <a:r>
              <a:rPr kumimoji="1" lang="en-US" altLang="zh-CN"/>
              <a:t>Surface</a:t>
            </a:r>
            <a:r>
              <a:rPr kumimoji="1" lang="zh-CN" altLang="en-US"/>
              <a:t>的更新会触发播放引擎去重新渲染新的一帧视频帧。这就是导致闪黑屏的问题所在。</a:t>
            </a:r>
          </a:p>
        </p:txBody>
      </p:sp>
    </p:spTree>
    <p:extLst>
      <p:ext uri="{BB962C8B-B14F-4D97-AF65-F5344CB8AC3E}">
        <p14:creationId xmlns:p14="http://schemas.microsoft.com/office/powerpoint/2010/main" val="21046036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CA36CF1D-EB75-2F42-CB0C-DBE462486506}"/>
              </a:ext>
            </a:extLst>
          </p:cNvPr>
          <p:cNvSpPr txBox="1"/>
          <p:nvPr/>
        </p:nvSpPr>
        <p:spPr>
          <a:xfrm>
            <a:off x="417443" y="2248398"/>
            <a:ext cx="6792561" cy="4616648"/>
          </a:xfrm>
          <a:prstGeom prst="rect">
            <a:avLst/>
          </a:prstGeom>
          <a:noFill/>
        </p:spPr>
        <p:txBody>
          <a:bodyPr wrap="square">
            <a:spAutoFit/>
          </a:bodyPr>
          <a:lstStyle/>
          <a:p>
            <a:r>
              <a:rPr lang="zh-CN" altLang="en-US" sz="1400"/>
              <a:t>fun castToTv(context: Context) {</a:t>
            </a:r>
          </a:p>
          <a:p>
            <a:r>
              <a:rPr lang="zh-CN" altLang="en-US" sz="1400"/>
              <a:t>    if (ContextEx.getUserId(context) == 0) {</a:t>
            </a:r>
          </a:p>
          <a:p>
            <a:r>
              <a:rPr lang="zh-CN" altLang="en-US" sz="1400"/>
              <a:t>        LogUtil.debug(LogTag.DEBUG, "cast to tv button clicked")</a:t>
            </a:r>
          </a:p>
          <a:p>
            <a:r>
              <a:rPr lang="zh-CN" altLang="en-US" sz="1400"/>
              <a:t>        val intent = Intent()</a:t>
            </a:r>
          </a:p>
          <a:p>
            <a:r>
              <a:rPr lang="zh-CN" altLang="en-US" sz="1400"/>
              <a:t>        if (isChineseVariant) {</a:t>
            </a:r>
          </a:p>
          <a:p>
            <a:r>
              <a:rPr lang="zh-CN" altLang="en-US" sz="1400"/>
              <a:t>            intent.setAction("com.hi*.android.airsharing.action.ACTION_DEVICE_SELECTOR")</a:t>
            </a:r>
          </a:p>
          <a:p>
            <a:r>
              <a:rPr lang="zh-CN" altLang="en-US" sz="1400"/>
              <a:t>        } else {</a:t>
            </a:r>
          </a:p>
          <a:p>
            <a:r>
              <a:rPr lang="zh-CN" altLang="en-US" sz="1400"/>
              <a:t>            intent.setAction("com.hi*.android.mirrorshare.action.ACTION_DEVICE_SELECTOR")</a:t>
            </a:r>
          </a:p>
          <a:p>
            <a:r>
              <a:rPr lang="zh-CN" altLang="en-US" sz="1400"/>
              <a:t>        }</a:t>
            </a:r>
          </a:p>
          <a:p>
            <a:r>
              <a:rPr lang="zh-CN" altLang="en-US" sz="1400"/>
              <a:t>        </a:t>
            </a:r>
            <a:r>
              <a:rPr lang="zh-CN" altLang="en-US" sz="1400">
                <a:highlight>
                  <a:srgbClr val="FFFF00"/>
                </a:highlight>
              </a:rPr>
              <a:t>intent.addFlags(Intent.FLAG_ACTIVITY_NEW_TASK)</a:t>
            </a:r>
          </a:p>
          <a:p>
            <a:r>
              <a:rPr lang="zh-CN" altLang="en-US" sz="1400"/>
              <a:t>        intent.addFlags(Intent.FLAG_ACTIVITY_NO_USER_ACTION)</a:t>
            </a:r>
          </a:p>
          <a:p>
            <a:r>
              <a:rPr lang="zh-CN" altLang="en-US" sz="1400"/>
              <a:t>        intent.putExtra(</a:t>
            </a:r>
          </a:p>
          <a:p>
            <a:r>
              <a:rPr lang="zh-CN" altLang="en-US" sz="1400"/>
              <a:t>            "com.hi*.android.airsharing.DEVICE_SELECTOR_CALLER",</a:t>
            </a:r>
          </a:p>
          <a:p>
            <a:r>
              <a:rPr lang="zh-CN" altLang="en-US" sz="1400"/>
              <a:t>            " com.hi*.android.airsharing"</a:t>
            </a:r>
          </a:p>
          <a:p>
            <a:r>
              <a:rPr lang="zh-CN" altLang="en-US" sz="1400"/>
              <a:t>        )</a:t>
            </a:r>
          </a:p>
          <a:p>
            <a:r>
              <a:rPr lang="zh-CN" altLang="en-US" sz="1400"/>
              <a:t>        intent.putExtra("use_transition_animation", false)</a:t>
            </a:r>
          </a:p>
          <a:p>
            <a:r>
              <a:rPr lang="zh-CN" altLang="en-US" sz="1400"/>
              <a:t>        if (context is Activity) {</a:t>
            </a:r>
          </a:p>
          <a:p>
            <a:r>
              <a:rPr lang="zh-CN" altLang="en-US" sz="1400"/>
              <a:t>            context.startActivityForResult(intent, REQUEST_LAUNCH_VIDEO_EDITOR)</a:t>
            </a:r>
          </a:p>
          <a:p>
            <a:r>
              <a:rPr lang="zh-CN" altLang="en-US" sz="1400"/>
              <a:t>        }</a:t>
            </a:r>
          </a:p>
          <a:p>
            <a:r>
              <a:rPr lang="zh-CN" altLang="en-US" sz="1400"/>
              <a:t>    }</a:t>
            </a:r>
          </a:p>
          <a:p>
            <a:r>
              <a:rPr lang="zh-CN" altLang="en-US" sz="1400"/>
              <a:t>}</a:t>
            </a:r>
          </a:p>
        </p:txBody>
      </p:sp>
      <p:sp>
        <p:nvSpPr>
          <p:cNvPr id="5" name="文本框 4">
            <a:extLst>
              <a:ext uri="{FF2B5EF4-FFF2-40B4-BE49-F238E27FC236}">
                <a16:creationId xmlns:a16="http://schemas.microsoft.com/office/drawing/2014/main" id="{1B4614F1-288C-E26A-A87A-C41DFD1E0A31}"/>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B9162018-5354-F515-A5D6-B099EF3591DF}"/>
              </a:ext>
            </a:extLst>
          </p:cNvPr>
          <p:cNvSpPr txBox="1"/>
          <p:nvPr/>
        </p:nvSpPr>
        <p:spPr>
          <a:xfrm>
            <a:off x="357734" y="805093"/>
            <a:ext cx="11578018" cy="1295868"/>
          </a:xfrm>
          <a:prstGeom prst="rect">
            <a:avLst/>
          </a:prstGeom>
          <a:noFill/>
        </p:spPr>
        <p:txBody>
          <a:bodyPr wrap="square" rtlCol="0">
            <a:spAutoFit/>
          </a:bodyPr>
          <a:lstStyle/>
          <a:p>
            <a:pPr>
              <a:lnSpc>
                <a:spcPct val="150000"/>
              </a:lnSpc>
            </a:pPr>
            <a:r>
              <a:rPr kumimoji="1" lang="zh-CN" altLang="en-US"/>
              <a:t>既然闪黑屏的根源是由于</a:t>
            </a:r>
            <a:r>
              <a:rPr lang="zh-CN" altLang="en-US" sz="1800"/>
              <a:t>createOrUpdateSurfaceView的触发导致的，但是问题场景发生的前提是播放器的</a:t>
            </a:r>
            <a:r>
              <a:rPr lang="en-US" altLang="zh-CN" sz="1800"/>
              <a:t>Resume</a:t>
            </a:r>
            <a:r>
              <a:rPr lang="zh-CN" altLang="en-US" sz="1800"/>
              <a:t>。但实际上闪黑屏的问题在点击“无线投屏”和后续点击“取消”退出无线投屏都有相同的闪黑屏现象。从正常的</a:t>
            </a:r>
            <a:r>
              <a:rPr lang="en-US" altLang="zh-CN" sz="1800"/>
              <a:t>activity</a:t>
            </a:r>
            <a:r>
              <a:rPr lang="zh-CN" altLang="en-US" sz="1800"/>
              <a:t>的生命周期上去理解，只有退出无线投屏的时候视频播放器的</a:t>
            </a:r>
            <a:r>
              <a:rPr lang="en-US" altLang="zh-CN"/>
              <a:t>Mainactivity</a:t>
            </a:r>
            <a:r>
              <a:rPr lang="zh-CN" altLang="en-US"/>
              <a:t>才会触发</a:t>
            </a:r>
            <a:r>
              <a:rPr lang="en-US" altLang="zh-CN"/>
              <a:t>OnResume</a:t>
            </a:r>
            <a:r>
              <a:rPr lang="zh-CN" altLang="en-US"/>
              <a:t>。</a:t>
            </a:r>
            <a:endParaRPr kumimoji="1" lang="zh-CN" altLang="en-US"/>
          </a:p>
        </p:txBody>
      </p:sp>
      <p:sp>
        <p:nvSpPr>
          <p:cNvPr id="8" name="文本框 7">
            <a:extLst>
              <a:ext uri="{FF2B5EF4-FFF2-40B4-BE49-F238E27FC236}">
                <a16:creationId xmlns:a16="http://schemas.microsoft.com/office/drawing/2014/main" id="{7E5F08DD-6B7D-D95C-D421-2C5C167D29DF}"/>
              </a:ext>
            </a:extLst>
          </p:cNvPr>
          <p:cNvSpPr txBox="1"/>
          <p:nvPr/>
        </p:nvSpPr>
        <p:spPr>
          <a:xfrm>
            <a:off x="7063395" y="2709592"/>
            <a:ext cx="4844064" cy="1291379"/>
          </a:xfrm>
          <a:prstGeom prst="rect">
            <a:avLst/>
          </a:prstGeom>
          <a:noFill/>
        </p:spPr>
        <p:txBody>
          <a:bodyPr wrap="square" rtlCol="0">
            <a:spAutoFit/>
          </a:bodyPr>
          <a:lstStyle/>
          <a:p>
            <a:pPr>
              <a:lnSpc>
                <a:spcPct val="150000"/>
              </a:lnSpc>
            </a:pPr>
            <a:r>
              <a:rPr kumimoji="1" lang="zh-CN" altLang="en-US"/>
              <a:t>通过调试发现，在点击无线投屏后，视频播放器的</a:t>
            </a:r>
            <a:r>
              <a:rPr kumimoji="1" lang="en-US" altLang="zh-CN"/>
              <a:t>Mainactivity</a:t>
            </a:r>
            <a:r>
              <a:rPr kumimoji="1" lang="zh-CN" altLang="en-US"/>
              <a:t>的生命周期触发不是简单的</a:t>
            </a:r>
            <a:r>
              <a:rPr kumimoji="1" lang="en-US" altLang="zh-CN"/>
              <a:t>onpause</a:t>
            </a:r>
            <a:r>
              <a:rPr kumimoji="1" lang="zh-CN" altLang="en-US"/>
              <a:t>，而是</a:t>
            </a:r>
            <a:r>
              <a:rPr kumimoji="1" lang="en-US" altLang="zh-CN"/>
              <a:t>onpause-&gt;onresume-&gt;onpause</a:t>
            </a:r>
            <a:r>
              <a:rPr kumimoji="1" lang="zh-CN" altLang="en-US"/>
              <a:t>。</a:t>
            </a:r>
            <a:endParaRPr kumimoji="1" lang="en-US" altLang="zh-CN"/>
          </a:p>
        </p:txBody>
      </p:sp>
      <p:grpSp>
        <p:nvGrpSpPr>
          <p:cNvPr id="11" name="组合 10">
            <a:extLst>
              <a:ext uri="{FF2B5EF4-FFF2-40B4-BE49-F238E27FC236}">
                <a16:creationId xmlns:a16="http://schemas.microsoft.com/office/drawing/2014/main" id="{842062A3-0A4D-7900-B1F2-DB8AF440BA55}"/>
              </a:ext>
            </a:extLst>
          </p:cNvPr>
          <p:cNvGrpSpPr/>
          <p:nvPr/>
        </p:nvGrpSpPr>
        <p:grpSpPr>
          <a:xfrm>
            <a:off x="6983335" y="5041403"/>
            <a:ext cx="5004181" cy="1439151"/>
            <a:chOff x="6895128" y="4178627"/>
            <a:chExt cx="5004181" cy="1439151"/>
          </a:xfrm>
        </p:grpSpPr>
        <p:sp>
          <p:nvSpPr>
            <p:cNvPr id="10" name="圆角矩形 9">
              <a:extLst>
                <a:ext uri="{FF2B5EF4-FFF2-40B4-BE49-F238E27FC236}">
                  <a16:creationId xmlns:a16="http://schemas.microsoft.com/office/drawing/2014/main" id="{34389604-DAA9-3256-8616-738E33B5A831}"/>
                </a:ext>
              </a:extLst>
            </p:cNvPr>
            <p:cNvSpPr/>
            <p:nvPr/>
          </p:nvSpPr>
          <p:spPr>
            <a:xfrm>
              <a:off x="6895128" y="4178627"/>
              <a:ext cx="5004181" cy="1439151"/>
            </a:xfrm>
            <a:prstGeom prst="roundRect">
              <a:avLst/>
            </a:prstGeom>
            <a:solidFill>
              <a:schemeClr val="accent1">
                <a:alpha val="21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a:extLst>
                <a:ext uri="{FF2B5EF4-FFF2-40B4-BE49-F238E27FC236}">
                  <a16:creationId xmlns:a16="http://schemas.microsoft.com/office/drawing/2014/main" id="{58CE056C-F52D-2A8B-519F-E279FA12343D}"/>
                </a:ext>
              </a:extLst>
            </p:cNvPr>
            <p:cNvSpPr txBox="1"/>
            <p:nvPr/>
          </p:nvSpPr>
          <p:spPr>
            <a:xfrm>
              <a:off x="7026952" y="4332235"/>
              <a:ext cx="4844064" cy="1200329"/>
            </a:xfrm>
            <a:prstGeom prst="rect">
              <a:avLst/>
            </a:prstGeom>
            <a:noFill/>
          </p:spPr>
          <p:txBody>
            <a:bodyPr wrap="square" rtlCol="0">
              <a:spAutoFit/>
            </a:bodyPr>
            <a:lstStyle/>
            <a:p>
              <a:r>
                <a:rPr kumimoji="1" lang="zh-CN" altLang="en-US"/>
                <a:t>查看活动的跳转代码，注意到</a:t>
              </a:r>
              <a:r>
                <a:rPr kumimoji="1" lang="en-US" altLang="zh-CN"/>
                <a:t>intent</a:t>
              </a:r>
              <a:r>
                <a:rPr kumimoji="1" lang="zh-CN" altLang="en-US"/>
                <a:t>的跳转参数</a:t>
              </a:r>
              <a:r>
                <a:rPr lang="zh-CN" altLang="en-US" sz="1800">
                  <a:highlight>
                    <a:srgbClr val="FFFF00"/>
                  </a:highlight>
                </a:rPr>
                <a:t>FLAG_ACTIVITY_NEW_TASK</a:t>
              </a:r>
              <a:r>
                <a:rPr lang="zh-CN" altLang="en-US" sz="1800"/>
                <a:t>。当去掉这一参数时，</a:t>
              </a:r>
              <a:r>
                <a:rPr kumimoji="1" lang="zh-CN" altLang="en-US"/>
                <a:t>在点击无线投屏后</a:t>
              </a:r>
              <a:r>
                <a:rPr kumimoji="1" lang="en-US" altLang="zh-CN"/>
                <a:t>Mainactivity</a:t>
              </a:r>
              <a:r>
                <a:rPr kumimoji="1" lang="zh-CN" altLang="en-US"/>
                <a:t>的生命周期之触发了一个</a:t>
              </a:r>
              <a:r>
                <a:rPr kumimoji="1" lang="en-US" altLang="zh-CN"/>
                <a:t>onpause</a:t>
              </a:r>
              <a:r>
                <a:rPr kumimoji="1" lang="zh-CN" altLang="en-US"/>
                <a:t>没有</a:t>
              </a:r>
              <a:r>
                <a:rPr kumimoji="1" lang="en-US" altLang="zh-CN"/>
                <a:t>onresume</a:t>
              </a:r>
              <a:r>
                <a:rPr kumimoji="1" lang="zh-CN" altLang="en-US"/>
                <a:t>了。</a:t>
              </a:r>
            </a:p>
          </p:txBody>
        </p:sp>
      </p:grpSp>
      <p:sp>
        <p:nvSpPr>
          <p:cNvPr id="12" name="下箭头 11">
            <a:extLst>
              <a:ext uri="{FF2B5EF4-FFF2-40B4-BE49-F238E27FC236}">
                <a16:creationId xmlns:a16="http://schemas.microsoft.com/office/drawing/2014/main" id="{A8B94012-EAE5-A290-0B68-C08C72FF4FFF}"/>
              </a:ext>
            </a:extLst>
          </p:cNvPr>
          <p:cNvSpPr/>
          <p:nvPr/>
        </p:nvSpPr>
        <p:spPr>
          <a:xfrm rot="17625590">
            <a:off x="5466211" y="3813486"/>
            <a:ext cx="609600" cy="2236801"/>
          </a:xfrm>
          <a:prstGeom prst="downArrow">
            <a:avLst/>
          </a:prstGeom>
          <a:solidFill>
            <a:schemeClr val="accent1">
              <a:lumMod val="60000"/>
              <a:lumOff val="4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下箭头 12">
            <a:extLst>
              <a:ext uri="{FF2B5EF4-FFF2-40B4-BE49-F238E27FC236}">
                <a16:creationId xmlns:a16="http://schemas.microsoft.com/office/drawing/2014/main" id="{7873F4F7-2147-BE04-4993-744982E6536C}"/>
              </a:ext>
            </a:extLst>
          </p:cNvPr>
          <p:cNvSpPr/>
          <p:nvPr/>
        </p:nvSpPr>
        <p:spPr>
          <a:xfrm>
            <a:off x="9101887" y="2096279"/>
            <a:ext cx="663547" cy="461195"/>
          </a:xfrm>
          <a:prstGeom prst="downArrow">
            <a:avLst/>
          </a:prstGeom>
          <a:solidFill>
            <a:schemeClr val="accent5">
              <a:lumMod val="40000"/>
              <a:lumOff val="6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下箭头 13">
            <a:extLst>
              <a:ext uri="{FF2B5EF4-FFF2-40B4-BE49-F238E27FC236}">
                <a16:creationId xmlns:a16="http://schemas.microsoft.com/office/drawing/2014/main" id="{F4A797D7-1DC0-BF58-8A81-569576916E3A}"/>
              </a:ext>
            </a:extLst>
          </p:cNvPr>
          <p:cNvSpPr/>
          <p:nvPr/>
        </p:nvSpPr>
        <p:spPr>
          <a:xfrm>
            <a:off x="9101887" y="4377851"/>
            <a:ext cx="663547" cy="461195"/>
          </a:xfrm>
          <a:prstGeom prst="downArrow">
            <a:avLst/>
          </a:prstGeom>
          <a:solidFill>
            <a:schemeClr val="accent5">
              <a:lumMod val="40000"/>
              <a:lumOff val="6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圆角矩形 14">
            <a:extLst>
              <a:ext uri="{FF2B5EF4-FFF2-40B4-BE49-F238E27FC236}">
                <a16:creationId xmlns:a16="http://schemas.microsoft.com/office/drawing/2014/main" id="{641CABEC-76A0-2600-E298-1CA6F5EDAB55}"/>
              </a:ext>
            </a:extLst>
          </p:cNvPr>
          <p:cNvSpPr/>
          <p:nvPr/>
        </p:nvSpPr>
        <p:spPr>
          <a:xfrm>
            <a:off x="6983336" y="2659559"/>
            <a:ext cx="5004181" cy="1439151"/>
          </a:xfrm>
          <a:prstGeom prst="roundRect">
            <a:avLst/>
          </a:prstGeom>
          <a:solidFill>
            <a:schemeClr val="accent1">
              <a:alpha val="21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0913386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1B4614F1-288C-E26A-A87A-C41DFD1E0A31}"/>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B9162018-5354-F515-A5D6-B099EF3591DF}"/>
              </a:ext>
            </a:extLst>
          </p:cNvPr>
          <p:cNvSpPr txBox="1"/>
          <p:nvPr/>
        </p:nvSpPr>
        <p:spPr>
          <a:xfrm>
            <a:off x="357734" y="750229"/>
            <a:ext cx="11476532" cy="875881"/>
          </a:xfrm>
          <a:prstGeom prst="rect">
            <a:avLst/>
          </a:prstGeom>
          <a:noFill/>
        </p:spPr>
        <p:txBody>
          <a:bodyPr wrap="square" rtlCol="0">
            <a:spAutoFit/>
          </a:bodyPr>
          <a:lstStyle/>
          <a:p>
            <a:pPr>
              <a:lnSpc>
                <a:spcPct val="150000"/>
              </a:lnSpc>
            </a:pPr>
            <a:r>
              <a:rPr kumimoji="1" lang="zh-CN" altLang="en-US"/>
              <a:t>为什么</a:t>
            </a:r>
            <a:r>
              <a:rPr lang="zh-CN" altLang="en-US" sz="1800"/>
              <a:t>FLAG_ACTIVITY_NEW_TASK这个参数会对活动的生命周期产生这种影响？继续更换使用startActivity替换startActivityForResult后问题也不复现，查看</a:t>
            </a:r>
            <a:r>
              <a:rPr lang="en-US" altLang="zh-CN" sz="1800"/>
              <a:t>event</a:t>
            </a:r>
            <a:r>
              <a:rPr lang="zh-CN" altLang="en-US" sz="1800"/>
              <a:t>日志发现是activity_result回调导致的。</a:t>
            </a:r>
            <a:endParaRPr lang="en-US" altLang="zh-CN" sz="1800"/>
          </a:p>
        </p:txBody>
      </p:sp>
      <p:sp>
        <p:nvSpPr>
          <p:cNvPr id="7" name="文本框 6">
            <a:extLst>
              <a:ext uri="{FF2B5EF4-FFF2-40B4-BE49-F238E27FC236}">
                <a16:creationId xmlns:a16="http://schemas.microsoft.com/office/drawing/2014/main" id="{CDE1D32D-3352-26AD-58A2-B759F9973A44}"/>
              </a:ext>
            </a:extLst>
          </p:cNvPr>
          <p:cNvSpPr txBox="1"/>
          <p:nvPr/>
        </p:nvSpPr>
        <p:spPr>
          <a:xfrm>
            <a:off x="357734" y="1843491"/>
            <a:ext cx="11476532" cy="3323987"/>
          </a:xfrm>
          <a:prstGeom prst="rect">
            <a:avLst/>
          </a:prstGeom>
          <a:noFill/>
        </p:spPr>
        <p:txBody>
          <a:bodyPr wrap="square">
            <a:spAutoFit/>
          </a:bodyPr>
          <a:lstStyle/>
          <a:p>
            <a:r>
              <a:rPr lang="zh-CN" altLang="en-US" sz="1400"/>
              <a:t>3121 I wm_create_activity: [0,120401315,374,com.hi*.android.airsharing/.player.DeviceListActivity,com.hi*.android.airsharing.action.ACTION_DEVICE_SELECTOR]</a:t>
            </a:r>
          </a:p>
          <a:p>
            <a:r>
              <a:rPr lang="zh-CN" altLang="en-US" sz="1400"/>
              <a:t>1871  3121 I wm_pause_activity: [0,213387557,com.hi*.hnvideoplayer/com.*.videoplayer.MainActivity,userLeaving=false,pauseBackTasks]</a:t>
            </a:r>
          </a:p>
          <a:p>
            <a:r>
              <a:rPr lang="zh-CN" altLang="en-US" sz="1400"/>
              <a:t>21874 21874 I wm_on_top_resumed_lost_called: [213387557,com.*.videoplayer.MainActivity,pausing]</a:t>
            </a:r>
          </a:p>
          <a:p>
            <a:r>
              <a:rPr lang="zh-CN" altLang="en-US" sz="1400"/>
              <a:t>21874 21874 I wm_on_paused_called: [213387557,com.*.videoplayer.MainActivity,performPause,15]</a:t>
            </a:r>
          </a:p>
          <a:p>
            <a:r>
              <a:rPr lang="zh-CN" altLang="en-US" sz="1400"/>
              <a:t>21874 21874 I </a:t>
            </a:r>
            <a:r>
              <a:rPr lang="zh-CN" altLang="en-US" sz="1400">
                <a:highlight>
                  <a:srgbClr val="FFFF00"/>
                </a:highlight>
              </a:rPr>
              <a:t>wm_on_activity_result_called</a:t>
            </a:r>
            <a:r>
              <a:rPr lang="zh-CN" altLang="en-US" sz="1400"/>
              <a:t>: [213387557,com.*.videoplayer.MainActivity,ACTIVITY_RESULT]</a:t>
            </a:r>
          </a:p>
          <a:p>
            <a:r>
              <a:rPr lang="zh-CN" altLang="en-US" sz="1400"/>
              <a:t>21874 21874 I </a:t>
            </a:r>
            <a:r>
              <a:rPr lang="zh-CN" altLang="en-US" sz="1400">
                <a:highlight>
                  <a:srgbClr val="FFFF00"/>
                </a:highlight>
              </a:rPr>
              <a:t>wm_on_resume_called</a:t>
            </a:r>
            <a:r>
              <a:rPr lang="zh-CN" altLang="en-US" sz="1400"/>
              <a:t>: [213387557,com.*.videoplayer.MainActivity,LIFECYCLER_RESUME_ACTIVITY,1]</a:t>
            </a:r>
          </a:p>
          <a:p>
            <a:r>
              <a:rPr lang="zh-CN" altLang="en-US" sz="1400"/>
              <a:t>21874 21874 I wm_on_top_resumed_gained_called: [213387557,com.*.videoplayer.MainActivity,topWhenResuming]</a:t>
            </a:r>
          </a:p>
          <a:p>
            <a:r>
              <a:rPr lang="zh-CN" altLang="en-US" sz="1400"/>
              <a:t>21874 21874 I wm_on_top_resumed_lost_called: [213387557,com.*.videoplayer.MainActivity,topStateChangedWhenResumed]</a:t>
            </a:r>
          </a:p>
          <a:p>
            <a:r>
              <a:rPr lang="zh-CN" altLang="en-US" sz="1400"/>
              <a:t>21874 21874 I wm_on_paused_called: [213387557,com.*.videoplayer.MainActivity,performPause,8]</a:t>
            </a:r>
          </a:p>
          <a:p>
            <a:r>
              <a:rPr lang="zh-CN" altLang="en-US" sz="1400"/>
              <a:t>1871  3121 I wm_restart_activity: [0,120401315,374,com.hi*.android.airsharing/.player.DeviceListActivity]</a:t>
            </a:r>
          </a:p>
          <a:p>
            <a:r>
              <a:rPr lang="zh-CN" altLang="en-US" sz="1400"/>
              <a:t>1871  3121 I wm_set_resumed_activity: [0,com.hi*.android.airsharing/.player.DeviceListActivity,realStartActivityLocked - onActivityStateChanged]</a:t>
            </a:r>
          </a:p>
          <a:p>
            <a:r>
              <a:rPr lang="zh-CN" altLang="en-US" sz="1400"/>
              <a:t>2903  2903 I wm_on_create_called: [120401315,com.hi*.android.airsharing.player.DeviceListActivity,performCreate,49]</a:t>
            </a:r>
          </a:p>
          <a:p>
            <a:r>
              <a:rPr lang="zh-CN" altLang="en-US" sz="1400"/>
              <a:t>2903  2903 I wm_on_start_called: [120401315,com.hi*.android.airsharing.player.DeviceListActivity,handleStartActivity,1]</a:t>
            </a:r>
          </a:p>
          <a:p>
            <a:r>
              <a:rPr lang="zh-CN" altLang="en-US" sz="1400"/>
              <a:t>2903  2903 I wm_on_resume_called: [120401315,com.hi*.android.airsharing.player.DeviceListActivity,RESUME_ACTIVITY</a:t>
            </a:r>
          </a:p>
        </p:txBody>
      </p:sp>
      <p:sp>
        <p:nvSpPr>
          <p:cNvPr id="8" name="文本框 7">
            <a:extLst>
              <a:ext uri="{FF2B5EF4-FFF2-40B4-BE49-F238E27FC236}">
                <a16:creationId xmlns:a16="http://schemas.microsoft.com/office/drawing/2014/main" id="{24A97724-0D43-9AF0-4195-ABE5BB128DF6}"/>
              </a:ext>
            </a:extLst>
          </p:cNvPr>
          <p:cNvSpPr txBox="1"/>
          <p:nvPr/>
        </p:nvSpPr>
        <p:spPr>
          <a:xfrm>
            <a:off x="357734" y="5384860"/>
            <a:ext cx="11476532" cy="1295868"/>
          </a:xfrm>
          <a:prstGeom prst="rect">
            <a:avLst/>
          </a:prstGeom>
          <a:noFill/>
        </p:spPr>
        <p:txBody>
          <a:bodyPr wrap="square" rtlCol="0">
            <a:spAutoFit/>
          </a:bodyPr>
          <a:lstStyle/>
          <a:p>
            <a:pPr>
              <a:lnSpc>
                <a:spcPct val="150000"/>
              </a:lnSpc>
            </a:pPr>
            <a:r>
              <a:rPr kumimoji="1" lang="zh-CN" altLang="en-US"/>
              <a:t>后续通过实验得出结论：当同时使用</a:t>
            </a:r>
            <a:r>
              <a:rPr lang="zh-CN" altLang="en-US" sz="1800"/>
              <a:t>startActivityForResult和FLAG_ACTIVITY_NEW_TASK时， activity_result回调时机会因为FLAG_ACTIVITY_NEW_TASK产生的新的活动栈而提前触发。目前startActivityForResult已被弃用，建议使用</a:t>
            </a:r>
            <a:r>
              <a:rPr lang="en" altLang="zh-CN"/>
              <a:t>registerForActivityResult</a:t>
            </a:r>
            <a:r>
              <a:rPr lang="zh-CN" altLang="en"/>
              <a:t>替代</a:t>
            </a:r>
            <a:r>
              <a:rPr lang="zh-CN" altLang="en-US"/>
              <a:t>避免产生预料之外的应用程序行为</a:t>
            </a:r>
            <a:r>
              <a:rPr lang="zh-CN" altLang="en-US">
                <a:solidFill>
                  <a:srgbClr val="9FA097"/>
                </a:solidFill>
                <a:effectLst/>
              </a:rPr>
              <a:t>。</a:t>
            </a:r>
            <a:endParaRPr kumimoji="1" lang="zh-CN" altLang="en-US"/>
          </a:p>
        </p:txBody>
      </p:sp>
    </p:spTree>
    <p:extLst>
      <p:ext uri="{BB962C8B-B14F-4D97-AF65-F5344CB8AC3E}">
        <p14:creationId xmlns:p14="http://schemas.microsoft.com/office/powerpoint/2010/main" val="1617454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2602523" y="2708031"/>
            <a:ext cx="6978162" cy="72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04 </a:t>
            </a:r>
            <a:r>
              <a:rPr kumimoji="0" lang="zh-CN" altLang="en-US"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解决方案</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8F43E74-18D3-DB52-02FC-A0CA73273B49}"/>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解决方案</a:t>
            </a:r>
          </a:p>
        </p:txBody>
      </p:sp>
      <p:sp>
        <p:nvSpPr>
          <p:cNvPr id="3" name="文本框 2">
            <a:extLst>
              <a:ext uri="{FF2B5EF4-FFF2-40B4-BE49-F238E27FC236}">
                <a16:creationId xmlns:a16="http://schemas.microsoft.com/office/drawing/2014/main" id="{5E8D5024-3B18-3B66-FE32-02F9DCBAE244}"/>
              </a:ext>
            </a:extLst>
          </p:cNvPr>
          <p:cNvSpPr txBox="1"/>
          <p:nvPr/>
        </p:nvSpPr>
        <p:spPr>
          <a:xfrm>
            <a:off x="328723" y="1049981"/>
            <a:ext cx="11534553" cy="1291379"/>
          </a:xfrm>
          <a:prstGeom prst="rect">
            <a:avLst/>
          </a:prstGeom>
          <a:noFill/>
        </p:spPr>
        <p:txBody>
          <a:bodyPr wrap="square" rtlCol="0">
            <a:spAutoFit/>
          </a:bodyPr>
          <a:lstStyle/>
          <a:p>
            <a:pPr>
              <a:lnSpc>
                <a:spcPct val="150000"/>
              </a:lnSpc>
            </a:pPr>
            <a:r>
              <a:rPr kumimoji="1" lang="zh-CN" altLang="en-US" b="1"/>
              <a:t>问题的根因：视频播放器在最近的一次修改中，修复当单曲循环和播放列表数量为</a:t>
            </a:r>
            <a:r>
              <a:rPr kumimoji="1" lang="en-US" altLang="zh-CN" b="1"/>
              <a:t>1</a:t>
            </a:r>
            <a:r>
              <a:rPr kumimoji="1" lang="zh-CN" altLang="en-US" b="1"/>
              <a:t>时的下一曲播放黑屏问题，导致应用活动切换功能上引入了新的问题：当活动</a:t>
            </a:r>
            <a:r>
              <a:rPr kumimoji="1" lang="en-US" altLang="zh-CN" b="1"/>
              <a:t>Resume</a:t>
            </a:r>
            <a:r>
              <a:rPr kumimoji="1" lang="zh-CN" altLang="en-US" b="1"/>
              <a:t>且播放列表数量为</a:t>
            </a:r>
            <a:r>
              <a:rPr kumimoji="1" lang="en-US" altLang="zh-CN" b="1"/>
              <a:t>1</a:t>
            </a:r>
            <a:r>
              <a:rPr kumimoji="1" lang="zh-CN" altLang="en-US" b="1"/>
              <a:t>时触发</a:t>
            </a:r>
            <a:r>
              <a:rPr kumimoji="1" lang="en-US" altLang="zh-CN" b="1"/>
              <a:t>surfaceview</a:t>
            </a:r>
            <a:r>
              <a:rPr kumimoji="1" lang="zh-CN" altLang="en-US" b="1"/>
              <a:t>重建导致短暂黑屏。</a:t>
            </a:r>
            <a:endParaRPr kumimoji="1" lang="en-US" altLang="zh-CN" b="1"/>
          </a:p>
        </p:txBody>
      </p:sp>
      <p:sp>
        <p:nvSpPr>
          <p:cNvPr id="7" name="文本框 6">
            <a:extLst>
              <a:ext uri="{FF2B5EF4-FFF2-40B4-BE49-F238E27FC236}">
                <a16:creationId xmlns:a16="http://schemas.microsoft.com/office/drawing/2014/main" id="{3D3F5C12-8FE1-B9C8-FC59-DDAC4213AD47}"/>
              </a:ext>
            </a:extLst>
          </p:cNvPr>
          <p:cNvSpPr txBox="1"/>
          <p:nvPr/>
        </p:nvSpPr>
        <p:spPr>
          <a:xfrm>
            <a:off x="328723" y="2584537"/>
            <a:ext cx="11445540" cy="2542363"/>
          </a:xfrm>
          <a:prstGeom prst="rect">
            <a:avLst/>
          </a:prstGeom>
          <a:noFill/>
        </p:spPr>
        <p:txBody>
          <a:bodyPr wrap="square">
            <a:spAutoFit/>
          </a:bodyPr>
          <a:lstStyle/>
          <a:p>
            <a:pPr>
              <a:lnSpc>
                <a:spcPct val="150000"/>
              </a:lnSpc>
              <a:defRPr/>
            </a:pPr>
            <a:r>
              <a:rPr kumimoji="1" lang="en" altLang="zh-CN"/>
              <a:t>if (needUpdateSurfaceView) {</a:t>
            </a:r>
          </a:p>
          <a:p>
            <a:pPr>
              <a:lnSpc>
                <a:spcPct val="150000"/>
              </a:lnSpc>
              <a:defRPr/>
            </a:pPr>
            <a:r>
              <a:rPr kumimoji="1" lang="en" altLang="zh-CN"/>
              <a:t>    createOrUpdateSurfaceView(size, false)</a:t>
            </a:r>
          </a:p>
          <a:p>
            <a:pPr>
              <a:lnSpc>
                <a:spcPct val="150000"/>
              </a:lnSpc>
              <a:defRPr/>
            </a:pPr>
            <a:r>
              <a:rPr kumimoji="1" lang="en" altLang="zh-CN"/>
              <a:t>} else if (currentVideoUri != null &amp;&amp; (currentVideoUri != lastVideoUri || viewModel.player?.getPlayListData()?.size == 1) </a:t>
            </a:r>
            <a:r>
              <a:rPr kumimoji="1" lang="en" altLang="zh-CN">
                <a:highlight>
                  <a:srgbClr val="FFFF00"/>
                </a:highlight>
              </a:rPr>
              <a:t>&amp;&amp; isPlayerFragmentOnResume == false</a:t>
            </a:r>
            <a:r>
              <a:rPr kumimoji="1" lang="en" altLang="zh-CN"/>
              <a:t>) {</a:t>
            </a:r>
          </a:p>
          <a:p>
            <a:pPr>
              <a:lnSpc>
                <a:spcPct val="150000"/>
              </a:lnSpc>
              <a:defRPr/>
            </a:pPr>
            <a:r>
              <a:rPr kumimoji="1" lang="en" altLang="zh-CN"/>
              <a:t>    createOrUpdateSurfaceView(size, true)</a:t>
            </a:r>
          </a:p>
          <a:p>
            <a:pPr>
              <a:lnSpc>
                <a:spcPct val="150000"/>
              </a:lnSpc>
              <a:defRPr/>
            </a:pPr>
            <a:r>
              <a:rPr kumimoji="1" lang="en" altLang="zh-CN"/>
              <a:t>}</a:t>
            </a:r>
          </a:p>
        </p:txBody>
      </p:sp>
      <p:sp>
        <p:nvSpPr>
          <p:cNvPr id="5" name="文本框 4">
            <a:extLst>
              <a:ext uri="{FF2B5EF4-FFF2-40B4-BE49-F238E27FC236}">
                <a16:creationId xmlns:a16="http://schemas.microsoft.com/office/drawing/2014/main" id="{FB460305-1C59-283F-B024-63812A0BE2F6}"/>
              </a:ext>
            </a:extLst>
          </p:cNvPr>
          <p:cNvSpPr txBox="1"/>
          <p:nvPr/>
        </p:nvSpPr>
        <p:spPr>
          <a:xfrm>
            <a:off x="328723" y="5370078"/>
            <a:ext cx="11445540" cy="875881"/>
          </a:xfrm>
          <a:prstGeom prst="rect">
            <a:avLst/>
          </a:prstGeom>
          <a:noFill/>
        </p:spPr>
        <p:txBody>
          <a:bodyPr wrap="square">
            <a:spAutoFit/>
          </a:bodyPr>
          <a:lstStyle/>
          <a:p>
            <a:pPr>
              <a:lnSpc>
                <a:spcPct val="150000"/>
              </a:lnSpc>
            </a:pPr>
            <a:r>
              <a:rPr kumimoji="1" lang="zh-CN" altLang="en-US" b="1"/>
              <a:t>解决方案：在原先添加的判断条件的基础上加入</a:t>
            </a:r>
            <a:r>
              <a:rPr kumimoji="1" lang="en" altLang="zh-CN"/>
              <a:t>Fragment</a:t>
            </a:r>
            <a:r>
              <a:rPr kumimoji="1" lang="zh-CN" altLang="en"/>
              <a:t>的</a:t>
            </a:r>
            <a:r>
              <a:rPr kumimoji="1" lang="en-US" altLang="zh-CN" b="1"/>
              <a:t>OnResume</a:t>
            </a:r>
            <a:r>
              <a:rPr kumimoji="1" lang="zh-CN" altLang="en-US" b="1"/>
              <a:t>的判断，在保证原功能不变的基础上避免由于活动</a:t>
            </a:r>
            <a:r>
              <a:rPr kumimoji="1" lang="en-US" altLang="zh-CN" b="1"/>
              <a:t>Resume</a:t>
            </a:r>
            <a:r>
              <a:rPr kumimoji="1" lang="zh-CN" altLang="en-US" b="1"/>
              <a:t>产生的影响。</a:t>
            </a:r>
            <a:endParaRPr kumimoji="1" lang="en-US" altLang="zh-CN" b="1"/>
          </a:p>
        </p:txBody>
      </p:sp>
    </p:spTree>
    <p:extLst>
      <p:ext uri="{BB962C8B-B14F-4D97-AF65-F5344CB8AC3E}">
        <p14:creationId xmlns:p14="http://schemas.microsoft.com/office/powerpoint/2010/main" val="41466828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2602523" y="2708031"/>
            <a:ext cx="6978162" cy="72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05 </a:t>
            </a:r>
            <a:r>
              <a:rPr kumimoji="0" lang="zh-CN" altLang="en-US"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总结</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17443" y="178904"/>
            <a:ext cx="825867" cy="461665"/>
          </a:xfrm>
          <a:prstGeom prst="rect">
            <a:avLst/>
          </a:prstGeom>
          <a:noFill/>
        </p:spPr>
        <p:txBody>
          <a:bodyPr wrap="none" rtlCol="0">
            <a:spAutoFit/>
          </a:bodyPr>
          <a:lstStyle/>
          <a:p>
            <a:r>
              <a:rPr lang="zh-CN" altLang="en-US" sz="2400" b="1" spc="100" dirty="0">
                <a:latin typeface="微软雅黑" panose="020B0503020204020204" pitchFamily="34" charset="-122"/>
                <a:ea typeface="微软雅黑" panose="020B0503020204020204" pitchFamily="34" charset="-122"/>
              </a:rPr>
              <a:t>总结</a:t>
            </a:r>
          </a:p>
        </p:txBody>
      </p:sp>
      <p:sp>
        <p:nvSpPr>
          <p:cNvPr id="3" name="文本框 2">
            <a:extLst>
              <a:ext uri="{FF2B5EF4-FFF2-40B4-BE49-F238E27FC236}">
                <a16:creationId xmlns:a16="http://schemas.microsoft.com/office/drawing/2014/main" id="{03E070B8-7569-16C1-7B50-C600D13B281F}"/>
              </a:ext>
            </a:extLst>
          </p:cNvPr>
          <p:cNvSpPr txBox="1"/>
          <p:nvPr/>
        </p:nvSpPr>
        <p:spPr>
          <a:xfrm>
            <a:off x="417442" y="1163215"/>
            <a:ext cx="11550677" cy="463588"/>
          </a:xfrm>
          <a:prstGeom prst="rect">
            <a:avLst/>
          </a:prstGeom>
          <a:noFill/>
        </p:spPr>
        <p:txBody>
          <a:bodyPr wrap="square" rtlCol="0">
            <a:spAutoFit/>
          </a:bodyPr>
          <a:lstStyle/>
          <a:p>
            <a:pPr>
              <a:lnSpc>
                <a:spcPct val="150000"/>
              </a:lnSpc>
            </a:pPr>
            <a:r>
              <a:rPr kumimoji="1" lang="en-US" altLang="zh-CN">
                <a:latin typeface="微软雅黑" panose="020B0503020204020204" pitchFamily="34" charset="-122"/>
                <a:ea typeface="微软雅黑" panose="020B0503020204020204" pitchFamily="34" charset="-122"/>
              </a:rPr>
              <a:t>1.</a:t>
            </a:r>
            <a:r>
              <a:rPr kumimoji="1" lang="zh-CN" altLang="en-US">
                <a:latin typeface="微软雅黑" panose="020B0503020204020204" pitchFamily="34" charset="-122"/>
                <a:ea typeface="微软雅黑" panose="020B0503020204020204" pitchFamily="34" charset="-122"/>
              </a:rPr>
              <a:t> 应用基本功能出现问题首先应排查是否是全版本问题，根据应用版本或者设备版本去不断缩小根因查找范围。 </a:t>
            </a:r>
            <a:endParaRPr kumimoji="1" lang="zh-CN" altLang="en-US"/>
          </a:p>
        </p:txBody>
      </p:sp>
      <p:sp>
        <p:nvSpPr>
          <p:cNvPr id="8" name="文本框 7">
            <a:extLst>
              <a:ext uri="{FF2B5EF4-FFF2-40B4-BE49-F238E27FC236}">
                <a16:creationId xmlns:a16="http://schemas.microsoft.com/office/drawing/2014/main" id="{F29C98A3-4533-E4C3-CF05-DE7105049E1E}"/>
              </a:ext>
            </a:extLst>
          </p:cNvPr>
          <p:cNvSpPr txBox="1"/>
          <p:nvPr/>
        </p:nvSpPr>
        <p:spPr>
          <a:xfrm>
            <a:off x="417442" y="2040460"/>
            <a:ext cx="11000200" cy="458908"/>
          </a:xfrm>
          <a:prstGeom prst="rect">
            <a:avLst/>
          </a:prstGeom>
          <a:noFill/>
        </p:spPr>
        <p:txBody>
          <a:bodyPr wrap="square" rtlCol="0">
            <a:spAutoFit/>
          </a:bodyPr>
          <a:lstStyle/>
          <a:p>
            <a:pPr>
              <a:lnSpc>
                <a:spcPct val="150000"/>
              </a:lnSpc>
            </a:pPr>
            <a:r>
              <a:rPr kumimoji="1" lang="en-US" altLang="zh-CN">
                <a:latin typeface="微软雅黑" panose="020B0503020204020204" pitchFamily="34" charset="-122"/>
                <a:ea typeface="微软雅黑" panose="020B0503020204020204" pitchFamily="34" charset="-122"/>
              </a:rPr>
              <a:t>2.</a:t>
            </a:r>
            <a:r>
              <a:rPr kumimoji="1" lang="zh-CN" altLang="en-US">
                <a:latin typeface="微软雅黑" panose="020B0503020204020204" pitchFamily="34" charset="-122"/>
                <a:ea typeface="微软雅黑" panose="020B0503020204020204" pitchFamily="34" charset="-122"/>
              </a:rPr>
              <a:t> 涉及到代码修改应充分验证修改设计的基本功能，至少确保修改不对涉及领域的基本使用产生影响。</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7" name="矩形 6"/>
          <p:cNvSpPr/>
          <p:nvPr/>
        </p:nvSpPr>
        <p:spPr>
          <a:xfrm>
            <a:off x="4219827" y="2572068"/>
            <a:ext cx="6552730" cy="922020"/>
          </a:xfrm>
          <a:prstGeom prst="rect">
            <a:avLst/>
          </a:prstGeom>
          <a:noFill/>
          <a:effectLst/>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愿景</a:t>
            </a:r>
            <a:br>
              <a:rPr kumimoji="0" lang="en-US" altLang="zh-CN" sz="2400" b="1" i="0" u="none" strike="noStrike" kern="1200" cap="none" spc="0" normalizeH="0" baseline="0" noProof="0" dirty="0">
                <a:ln>
                  <a:noFill/>
                </a:ln>
                <a:solidFill>
                  <a:prstClr val="white"/>
                </a:solidFill>
                <a:effectLst>
                  <a:reflection blurRad="6350" stA="26000" endPos="60000" dist="60007" dir="5400000" sy="-100000" algn="bl" rotWithShape="0"/>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br>
            <a:r>
              <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成为领先的智能产品和服务提供商</a:t>
            </a:r>
          </a:p>
        </p:txBody>
      </p:sp>
      <p:sp>
        <p:nvSpPr>
          <p:cNvPr id="8" name="矩形 7"/>
          <p:cNvSpPr/>
          <p:nvPr/>
        </p:nvSpPr>
        <p:spPr>
          <a:xfrm>
            <a:off x="4219827" y="1593273"/>
            <a:ext cx="6552730" cy="922020"/>
          </a:xfrm>
          <a:prstGeom prst="rect">
            <a:avLst/>
          </a:prstGeom>
          <a:noFill/>
          <a:effec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使命</a:t>
            </a:r>
            <a:br>
              <a:rPr kumimoji="0" lang="en-US" altLang="zh-CN" sz="1600" b="1" i="0" u="none" strike="noStrike" kern="1200" cap="none" spc="0" normalizeH="0" baseline="0" noProof="0" dirty="0">
                <a:ln>
                  <a:noFill/>
                </a:ln>
                <a:solidFill>
                  <a:prstClr val="white"/>
                </a:solidFill>
                <a:effectLst>
                  <a:reflection blurRad="6350" stA="26000" endPos="60000" dist="60007" dir="5400000" sy="-100000" algn="bl" rotWithShape="0"/>
                </a:effectLst>
                <a:uLnTx/>
                <a:uFillTx/>
                <a:latin typeface="Arial" panose="020B0604020202020204"/>
                <a:ea typeface="黑体" panose="02010609060101010101" pitchFamily="49" charset="-122"/>
                <a:cs typeface="+mn-ea"/>
                <a:sym typeface="+mn-lt"/>
              </a:rPr>
            </a:br>
            <a:r>
              <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用科技为社会创造新价值</a:t>
            </a:r>
          </a:p>
        </p:txBody>
      </p:sp>
      <p:sp>
        <p:nvSpPr>
          <p:cNvPr id="9" name="矩形 8"/>
          <p:cNvSpPr/>
          <p:nvPr/>
        </p:nvSpPr>
        <p:spPr>
          <a:xfrm>
            <a:off x="4208735" y="3556261"/>
            <a:ext cx="3320619" cy="1660525"/>
          </a:xfrm>
          <a:prstGeom prst="rect">
            <a:avLst/>
          </a:prstGeom>
          <a:effec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核心价值观</a:t>
            </a:r>
            <a:br>
              <a:rPr kumimoji="0" lang="en-US" altLang="zh-CN" sz="2400" b="1" i="0" u="none" strike="noStrike" kern="1200" cap="none" spc="0" normalizeH="0" baseline="0" noProof="0" dirty="0">
                <a:ln>
                  <a:noFill/>
                </a:ln>
                <a:solidFill>
                  <a:prstClr val="white"/>
                </a:solidFill>
                <a:effectLst>
                  <a:reflection blurRad="6350" stA="26000" endPos="60000" dist="60007" dir="5400000" sy="-100000" algn="bl" rotWithShape="0"/>
                </a:effectLst>
                <a:uLnTx/>
                <a:uFillTx/>
                <a:latin typeface="Arial" panose="020B0604020202020204"/>
                <a:ea typeface="黑体" panose="02010609060101010101" pitchFamily="49" charset="-122"/>
                <a:cs typeface="+mn-ea"/>
                <a:sym typeface="+mn-lt"/>
              </a:rPr>
            </a:br>
            <a:r>
              <a:rPr kumimoji="0" lang="en-US" altLang="zh-CN" sz="1600" b="0" i="0" u="none" strike="noStrike" kern="120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以客户为中心</a:t>
            </a:r>
            <a:endPar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600" b="0" i="0" u="none" strike="noStrike" kern="120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以贡献者为本</a:t>
            </a:r>
            <a:endPar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600" b="0" i="0" u="none" strike="noStrike" kern="120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长期主义</a:t>
            </a:r>
            <a:endPar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14743de0-5e1a-441d-be10-301dd693b907"/>
  <p:tag name="COMMONDATA" val="eyJoZGlkIjoiMGRmYjFhMjIwNDUzYWFiMGEwYTJlN2M1MTIxYjZmYTIifQ=="/>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c2cf2efd-bf1c-49fc-87d7-9106375ae179}"/>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5400">
          <a:solidFill>
            <a:srgbClr val="FF0000"/>
          </a:solidFill>
        </a:ln>
      </a:spPr>
      <a:bodyPr rtlCol="0" anchor="ctr"/>
      <a:lstStyle>
        <a:defPPr algn="ctr">
          <a:defRPr kumimoji="1"/>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2150</Words>
  <Application>Microsoft Macintosh PowerPoint</Application>
  <PresentationFormat>宽屏</PresentationFormat>
  <Paragraphs>161</Paragraphs>
  <Slides>18</Slides>
  <Notes>0</Notes>
  <HiddenSlides>0</HiddenSlides>
  <MMClips>0</MMClips>
  <ScaleCrop>false</ScaleCrop>
  <HeadingPairs>
    <vt:vector size="6" baseType="variant">
      <vt:variant>
        <vt:lpstr>已用的字体</vt:lpstr>
      </vt:variant>
      <vt:variant>
        <vt:i4>7</vt:i4>
      </vt:variant>
      <vt:variant>
        <vt:lpstr>主题</vt:lpstr>
      </vt:variant>
      <vt:variant>
        <vt:i4>4</vt:i4>
      </vt:variant>
      <vt:variant>
        <vt:lpstr>幻灯片标题</vt:lpstr>
      </vt:variant>
      <vt:variant>
        <vt:i4>18</vt:i4>
      </vt:variant>
    </vt:vector>
  </HeadingPairs>
  <TitlesOfParts>
    <vt:vector size="29" baseType="lpstr">
      <vt:lpstr>等线</vt:lpstr>
      <vt:lpstr>等线 Light</vt:lpstr>
      <vt:lpstr>楷体</vt:lpstr>
      <vt:lpstr>微软雅黑</vt:lpstr>
      <vt:lpstr>Arial</vt:lpstr>
      <vt:lpstr>Arial Black</vt:lpstr>
      <vt:lpstr>Calibri</vt:lpstr>
      <vt:lpstr>Office 主题</vt:lpstr>
      <vt:lpstr>1_Office 主题​​</vt:lpstr>
      <vt:lpstr>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2025-02-28T01:38:42Z</dcterms:created>
  <dcterms:modified xsi:type="dcterms:W3CDTF">2025-09-28T14:09:45Z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13D70385650B408FAEB72BEBD79E2F81</vt:lpwstr>
  </property>
  <property fmtid="{D5CDD505-2E9C-101B-9397-08002B2CF9AE}" pid="3" name="KSOProductBuildVer">
    <vt:lpwstr>2052-0.0.0.0</vt:lpwstr>
  </property>
</Properties>
</file>