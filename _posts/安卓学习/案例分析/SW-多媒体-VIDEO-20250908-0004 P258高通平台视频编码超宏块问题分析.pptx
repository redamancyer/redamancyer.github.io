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9" r:id="rId3"/>
  </p:sldMasterIdLst>
  <p:notesMasterIdLst>
    <p:notesMasterId r:id="rId24"/>
  </p:notesMasterIdLst>
  <p:handoutMasterIdLst>
    <p:handoutMasterId r:id="rId25"/>
  </p:handoutMasterIdLst>
  <p:sldIdLst>
    <p:sldId id="326" r:id="rId4"/>
    <p:sldId id="1394" r:id="rId5"/>
    <p:sldId id="6162" r:id="rId6"/>
    <p:sldId id="1401" r:id="rId7"/>
    <p:sldId id="6171" r:id="rId8"/>
    <p:sldId id="1379" r:id="rId9"/>
    <p:sldId id="6172" r:id="rId10"/>
    <p:sldId id="6198" r:id="rId11"/>
    <p:sldId id="6199" r:id="rId12"/>
    <p:sldId id="1385" r:id="rId13"/>
    <p:sldId id="6189" r:id="rId14"/>
    <p:sldId id="6190" r:id="rId15"/>
    <p:sldId id="6191" r:id="rId16"/>
    <p:sldId id="6192" r:id="rId17"/>
    <p:sldId id="6194" r:id="rId18"/>
    <p:sldId id="6173" r:id="rId19"/>
    <p:sldId id="6195" r:id="rId20"/>
    <p:sldId id="6174" r:id="rId21"/>
    <p:sldId id="6197" r:id="rId22"/>
    <p:sldId id="6176"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FFFF"/>
    <a:srgbClr val="C44F3C"/>
    <a:srgbClr val="7CA193"/>
    <a:srgbClr val="1010F0"/>
    <a:srgbClr val="BA494F"/>
    <a:srgbClr val="A5B07B"/>
    <a:srgbClr val="F1F1F1"/>
    <a:srgbClr val="C77D94"/>
    <a:srgbClr val="BFAE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59" autoAdjust="0"/>
    <p:restoredTop sz="93904" autoAdjust="0"/>
  </p:normalViewPr>
  <p:slideViewPr>
    <p:cSldViewPr snapToGrid="0">
      <p:cViewPr varScale="1">
        <p:scale>
          <a:sx n="119" d="100"/>
          <a:sy n="119" d="100"/>
        </p:scale>
        <p:origin x="904"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0" d="100"/>
          <a:sy n="120" d="100"/>
        </p:scale>
        <p:origin x="426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65AE6E0-2487-D152-0ABB-7C08EFCF70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5E146C62-B2B0-0C67-E799-043FA76793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903F3B-EEC7-5043-8807-AE721D226783}" type="datetimeFigureOut">
              <a:t>2025/9/7</a:t>
            </a:fld>
            <a:endParaRPr kumimoji="1" lang="zh-CN" altLang="en-US"/>
          </a:p>
        </p:txBody>
      </p:sp>
      <p:sp>
        <p:nvSpPr>
          <p:cNvPr id="4" name="页脚占位符 3">
            <a:extLst>
              <a:ext uri="{FF2B5EF4-FFF2-40B4-BE49-F238E27FC236}">
                <a16:creationId xmlns:a16="http://schemas.microsoft.com/office/drawing/2014/main" id="{FF56165E-5750-BA09-84BA-2C744DE225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D2312058-E382-36D5-89F8-06D7F10374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C6A747-DFC5-554E-8152-CFACDD231A9B}" type="slidenum">
              <a:t>‹#›</a:t>
            </a:fld>
            <a:endParaRPr kumimoji="1" lang="zh-CN" altLang="en-US"/>
          </a:p>
        </p:txBody>
      </p:sp>
    </p:spTree>
    <p:extLst>
      <p:ext uri="{BB962C8B-B14F-4D97-AF65-F5344CB8AC3E}">
        <p14:creationId xmlns:p14="http://schemas.microsoft.com/office/powerpoint/2010/main" val="2503362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extLst>
      <p:ext uri="{BB962C8B-B14F-4D97-AF65-F5344CB8AC3E}">
        <p14:creationId xmlns:p14="http://schemas.microsoft.com/office/powerpoint/2010/main" val="705247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1" u="none" strike="noStrike" kern="1200" cap="none" spc="0" normalizeH="0" baseline="0" noProof="0" dirty="0">
                <a:ln>
                  <a:noFill/>
                </a:ln>
                <a:solidFill>
                  <a:prstClr val="white">
                    <a:lumMod val="50000"/>
                  </a:prstClr>
                </a:solidFill>
                <a:effectLst/>
                <a:uLnTx/>
                <a:uFillTx/>
                <a:latin typeface="Calibri"/>
                <a:ea typeface="+mn-ea"/>
                <a:cs typeface="+mn-cs"/>
              </a:rPr>
              <a:t>Company Name</a:t>
            </a:r>
          </a:p>
        </p:txBody>
      </p:sp>
    </p:spTree>
    <p:extLst>
      <p:ext uri="{BB962C8B-B14F-4D97-AF65-F5344CB8AC3E}">
        <p14:creationId xmlns:p14="http://schemas.microsoft.com/office/powerpoint/2010/main" val="1498348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69B57F1-69E0-47C0-93B4-D0FAD86E9417}"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2025/9/7</a:t>
            </a:fld>
            <a:endParaRPr kumimoji="0" lang="zh-CN" altLang="en-US" sz="1200" b="0" i="0" u="none" strike="noStrike" kern="1200" cap="none" spc="0" normalizeH="0" baseline="0" noProof="0">
              <a:ln>
                <a:noFill/>
              </a:ln>
              <a:solidFill>
                <a:prstClr val="black">
                  <a:tint val="75000"/>
                </a:prstClr>
              </a:solidFill>
              <a:effectLst/>
              <a:uLnTx/>
              <a:uFillTx/>
              <a:latin typeface="等线"/>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6A2691-C292-4C45-BE27-81DB2E216495}" type="slidenum">
              <a:rPr kumimoji="0" lang="zh-CN" altLang="en-US" sz="1200" b="0" i="0" u="none" strike="noStrike" kern="1200" cap="none" spc="0" normalizeH="0" baseline="0" noProof="0" smtClean="0">
                <a:ln>
                  <a:noFill/>
                </a:ln>
                <a:solidFill>
                  <a:prstClr val="black">
                    <a:tint val="75000"/>
                  </a:prstClr>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71710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2025/9/7</a:t>
            </a:fld>
            <a:endParaRPr kumimoji="0" lang="zh-CN" altLang="en-US" sz="1200" b="0" i="0" u="none" strike="noStrike" kern="1200" cap="none" spc="0" normalizeH="0" baseline="0" noProof="0">
              <a:ln>
                <a:noFill/>
              </a:ln>
              <a:solidFill>
                <a:prstClr val="black">
                  <a:tint val="75000"/>
                </a:prstClr>
              </a:solidFill>
              <a:effectLst/>
              <a:uLnTx/>
              <a:uFillTx/>
              <a:latin typeface="Arial"/>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Arial"/>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黑体" panose="02010609060101010101" pitchFamily="49"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Arial"/>
              <a:ea typeface="黑体" panose="02010609060101010101" pitchFamily="49" charset="-122"/>
              <a:cs typeface="+mn-cs"/>
            </a:endParaRPr>
          </a:p>
        </p:txBody>
      </p:sp>
    </p:spTree>
    <p:extLst>
      <p:ext uri="{BB962C8B-B14F-4D97-AF65-F5344CB8AC3E}">
        <p14:creationId xmlns:p14="http://schemas.microsoft.com/office/powerpoint/2010/main" val="613692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extLst>
      <p:ext uri="{BB962C8B-B14F-4D97-AF65-F5344CB8AC3E}">
        <p14:creationId xmlns:p14="http://schemas.microsoft.com/office/powerpoint/2010/main" val="3577855335"/>
      </p:ext>
    </p:extLst>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2025/9/7</a:t>
            </a:fld>
            <a:endParaRPr kumimoji="0" lang="zh-CN" altLang="en-US" sz="1200" b="0" i="0" u="none" strike="noStrike" kern="1200" cap="none" spc="0" normalizeH="0" baseline="0" noProof="0">
              <a:ln>
                <a:noFill/>
              </a:ln>
              <a:solidFill>
                <a:prstClr val="black">
                  <a:tint val="75000"/>
                </a:prstClr>
              </a:solidFill>
              <a:effectLst/>
              <a:uLnTx/>
              <a:uFillTx/>
              <a:latin typeface="Arial"/>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Arial"/>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黑体" panose="02010609060101010101" pitchFamily="49"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Arial"/>
              <a:ea typeface="黑体" panose="02010609060101010101" pitchFamily="49" charset="-122"/>
              <a:cs typeface="+mn-cs"/>
            </a:endParaRPr>
          </a:p>
        </p:txBody>
      </p:sp>
    </p:spTree>
    <p:extLst>
      <p:ext uri="{BB962C8B-B14F-4D97-AF65-F5344CB8AC3E}">
        <p14:creationId xmlns:p14="http://schemas.microsoft.com/office/powerpoint/2010/main" val="1682975505"/>
      </p:ext>
    </p:ext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AB03C66-44A1-D441-D78F-D5A6B07C8E08}"/>
              </a:ext>
            </a:extLst>
          </p:cNvPr>
          <p:cNvSpPr txBox="1"/>
          <p:nvPr/>
        </p:nvSpPr>
        <p:spPr>
          <a:xfrm>
            <a:off x="-22" y="2807208"/>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algn="ctr">
              <a:defRPr/>
            </a:pPr>
            <a:r>
              <a:rPr lang="en-US" altLang="zh-CN" sz="1800" dirty="0">
                <a:solidFill>
                  <a:srgbClr val="FFFFFF"/>
                </a:solidFill>
              </a:rPr>
              <a:t>SW-</a:t>
            </a:r>
            <a:r>
              <a:rPr lang="zh-CN" altLang="en-US" sz="1800">
                <a:solidFill>
                  <a:srgbClr val="FFFFFF"/>
                </a:solidFill>
              </a:rPr>
              <a:t>多媒体</a:t>
            </a:r>
            <a:r>
              <a:rPr lang="en-US" altLang="zh-CN" sz="1800" dirty="0">
                <a:solidFill>
                  <a:srgbClr val="FFFFFF"/>
                </a:solidFill>
              </a:rPr>
              <a:t>-VIDEO-20250908-0004 P258</a:t>
            </a:r>
            <a:r>
              <a:rPr lang="zh-CN" altLang="en-US" sz="1800" dirty="0">
                <a:solidFill>
                  <a:srgbClr val="FFFFFF"/>
                </a:solidFill>
              </a:rPr>
              <a:t> 高通平台</a:t>
            </a:r>
            <a:r>
              <a:rPr lang="zh-CN" altLang="en-US" sz="1800">
                <a:solidFill>
                  <a:srgbClr val="FFFFFF"/>
                </a:solidFill>
              </a:rPr>
              <a:t>视频编码超宏块问题分析</a:t>
            </a:r>
            <a:endParaRPr lang="en-US" altLang="zh-CN" sz="1800" dirty="0">
              <a:solidFill>
                <a:srgbClr val="FFFFFF"/>
              </a:solidFill>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a:extLst>
              <a:ext uri="{FF2B5EF4-FFF2-40B4-BE49-F238E27FC236}">
                <a16:creationId xmlns:a16="http://schemas.microsoft.com/office/drawing/2014/main" id="{7DA18B65-798A-DACF-E07F-B0E1A5FDEE7A}"/>
              </a:ext>
            </a:extLst>
          </p:cNvPr>
          <p:cNvGraphicFramePr>
            <a:graphicFrameLocks noGrp="1"/>
          </p:cNvGraphicFramePr>
          <p:nvPr>
            <p:extLst>
              <p:ext uri="{D42A27DB-BD31-4B8C-83A1-F6EECF244321}">
                <p14:modId xmlns:p14="http://schemas.microsoft.com/office/powerpoint/2010/main" val="4212574140"/>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dirty="0">
                          <a:solidFill>
                            <a:schemeClr val="tx1"/>
                          </a:solidFill>
                          <a:effectLst/>
                          <a:latin typeface="微软雅黑" panose="020B0503020204020204" pitchFamily="34" charset="-122"/>
                          <a:ea typeface="微软雅黑" panose="020B0503020204020204" pitchFamily="34" charset="-122"/>
                        </a:rPr>
                        <a:t>项俊</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dirty="0">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9</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8</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2B0615D9-6B1D-1A0B-6E8B-24424BD86EC9}"/>
              </a:ext>
            </a:extLst>
          </p:cNvPr>
          <p:cNvGraphicFramePr>
            <a:graphicFrameLocks noGrp="1"/>
          </p:cNvGraphicFramePr>
          <p:nvPr>
            <p:custDataLst>
              <p:tags r:id="rId1"/>
            </p:custDataLst>
            <p:extLst>
              <p:ext uri="{D42A27DB-BD31-4B8C-83A1-F6EECF244321}">
                <p14:modId xmlns:p14="http://schemas.microsoft.com/office/powerpoint/2010/main" val="964196802"/>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3" name="文本框 2">
            <a:extLst>
              <a:ext uri="{FF2B5EF4-FFF2-40B4-BE49-F238E27FC236}">
                <a16:creationId xmlns:a16="http://schemas.microsoft.com/office/drawing/2014/main" id="{92ABB25A-96BB-1EE3-E0E5-55D4289ACA13}"/>
              </a:ext>
            </a:extLst>
          </p:cNvPr>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4" name="表格 3">
            <a:extLst>
              <a:ext uri="{FF2B5EF4-FFF2-40B4-BE49-F238E27FC236}">
                <a16:creationId xmlns:a16="http://schemas.microsoft.com/office/drawing/2014/main" id="{6781FB70-4C50-08F8-FC2C-C262FB1D593E}"/>
              </a:ext>
            </a:extLst>
          </p:cNvPr>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02374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478672179"/>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否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552850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488D3C8-FBAF-640C-2239-6CDFBC9CAB2A}"/>
              </a:ext>
            </a:extLst>
          </p:cNvPr>
          <p:cNvGrpSpPr/>
          <p:nvPr/>
        </p:nvGrpSpPr>
        <p:grpSpPr>
          <a:xfrm>
            <a:off x="7113786" y="590196"/>
            <a:ext cx="4353926" cy="919401"/>
            <a:chOff x="7187492" y="801429"/>
            <a:chExt cx="4353926" cy="1340742"/>
          </a:xfrm>
        </p:grpSpPr>
        <p:sp>
          <p:nvSpPr>
            <p:cNvPr id="3" name="文本框 2">
              <a:extLst>
                <a:ext uri="{FF2B5EF4-FFF2-40B4-BE49-F238E27FC236}">
                  <a16:creationId xmlns:a16="http://schemas.microsoft.com/office/drawing/2014/main" id="{3858C328-33BA-EE33-3624-6F0D45141F18}"/>
                </a:ext>
              </a:extLst>
            </p:cNvPr>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4" name="文本框 3">
              <a:extLst>
                <a:ext uri="{FF2B5EF4-FFF2-40B4-BE49-F238E27FC236}">
                  <a16:creationId xmlns:a16="http://schemas.microsoft.com/office/drawing/2014/main" id="{490A6821-DCF3-E0C0-D877-C18440F0D133}"/>
                </a:ext>
              </a:extLst>
            </p:cNvPr>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5" name="组合 4">
            <a:extLst>
              <a:ext uri="{FF2B5EF4-FFF2-40B4-BE49-F238E27FC236}">
                <a16:creationId xmlns:a16="http://schemas.microsoft.com/office/drawing/2014/main" id="{028BECF8-4645-CA65-0C68-7FD441CC65E9}"/>
              </a:ext>
            </a:extLst>
          </p:cNvPr>
          <p:cNvGrpSpPr/>
          <p:nvPr/>
        </p:nvGrpSpPr>
        <p:grpSpPr>
          <a:xfrm>
            <a:off x="7113786" y="1769422"/>
            <a:ext cx="4353926" cy="919401"/>
            <a:chOff x="7187492" y="801429"/>
            <a:chExt cx="4353926" cy="1340742"/>
          </a:xfrm>
        </p:grpSpPr>
        <p:sp>
          <p:nvSpPr>
            <p:cNvPr id="6" name="文本框 5">
              <a:extLst>
                <a:ext uri="{FF2B5EF4-FFF2-40B4-BE49-F238E27FC236}">
                  <a16:creationId xmlns:a16="http://schemas.microsoft.com/office/drawing/2014/main" id="{57F87495-A044-1D4F-A3CA-5B5B61FE3148}"/>
                </a:ext>
              </a:extLst>
            </p:cNvPr>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7" name="文本框 6">
              <a:extLst>
                <a:ext uri="{FF2B5EF4-FFF2-40B4-BE49-F238E27FC236}">
                  <a16:creationId xmlns:a16="http://schemas.microsoft.com/office/drawing/2014/main" id="{80927D83-FBCD-449F-27D6-40A7698A04BE}"/>
                </a:ext>
              </a:extLst>
            </p:cNvPr>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8" name="组合 7">
            <a:extLst>
              <a:ext uri="{FF2B5EF4-FFF2-40B4-BE49-F238E27FC236}">
                <a16:creationId xmlns:a16="http://schemas.microsoft.com/office/drawing/2014/main" id="{32D9B943-2F49-E047-97AB-02ABDA63AAB1}"/>
              </a:ext>
            </a:extLst>
          </p:cNvPr>
          <p:cNvGrpSpPr/>
          <p:nvPr/>
        </p:nvGrpSpPr>
        <p:grpSpPr>
          <a:xfrm>
            <a:off x="7113786" y="5307102"/>
            <a:ext cx="4353926" cy="919401"/>
            <a:chOff x="7187492" y="801429"/>
            <a:chExt cx="4353926" cy="1340742"/>
          </a:xfrm>
        </p:grpSpPr>
        <p:sp>
          <p:nvSpPr>
            <p:cNvPr id="9" name="文本框 8">
              <a:extLst>
                <a:ext uri="{FF2B5EF4-FFF2-40B4-BE49-F238E27FC236}">
                  <a16:creationId xmlns:a16="http://schemas.microsoft.com/office/drawing/2014/main" id="{0CBDC656-0F47-D757-49A8-9C5A3D818D34}"/>
                </a:ext>
              </a:extLst>
            </p:cNvPr>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10" name="文本框 9">
              <a:extLst>
                <a:ext uri="{FF2B5EF4-FFF2-40B4-BE49-F238E27FC236}">
                  <a16:creationId xmlns:a16="http://schemas.microsoft.com/office/drawing/2014/main" id="{8DC4D750-3E1E-8B97-CCFB-A3DDB0F1C9DF}"/>
                </a:ext>
              </a:extLst>
            </p:cNvPr>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11" name="组合 10">
            <a:extLst>
              <a:ext uri="{FF2B5EF4-FFF2-40B4-BE49-F238E27FC236}">
                <a16:creationId xmlns:a16="http://schemas.microsoft.com/office/drawing/2014/main" id="{2735588E-38EB-AAF9-9505-B64F2E4A82CD}"/>
              </a:ext>
            </a:extLst>
          </p:cNvPr>
          <p:cNvGrpSpPr/>
          <p:nvPr/>
        </p:nvGrpSpPr>
        <p:grpSpPr>
          <a:xfrm>
            <a:off x="7113786" y="2948648"/>
            <a:ext cx="4353926" cy="919401"/>
            <a:chOff x="7187492" y="801429"/>
            <a:chExt cx="4353926" cy="1340742"/>
          </a:xfrm>
        </p:grpSpPr>
        <p:sp>
          <p:nvSpPr>
            <p:cNvPr id="12" name="文本框 11">
              <a:extLst>
                <a:ext uri="{FF2B5EF4-FFF2-40B4-BE49-F238E27FC236}">
                  <a16:creationId xmlns:a16="http://schemas.microsoft.com/office/drawing/2014/main" id="{D79C6BAE-AF64-3950-7461-F547942194AA}"/>
                </a:ext>
              </a:extLst>
            </p:cNvPr>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13" name="文本框 12">
              <a:extLst>
                <a:ext uri="{FF2B5EF4-FFF2-40B4-BE49-F238E27FC236}">
                  <a16:creationId xmlns:a16="http://schemas.microsoft.com/office/drawing/2014/main" id="{BF72C147-8A9C-8CE4-A0FC-90BEA041E4A2}"/>
                </a:ext>
              </a:extLst>
            </p:cNvPr>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14" name="组合 13">
            <a:extLst>
              <a:ext uri="{FF2B5EF4-FFF2-40B4-BE49-F238E27FC236}">
                <a16:creationId xmlns:a16="http://schemas.microsoft.com/office/drawing/2014/main" id="{EBE6BA33-6388-48B8-109E-495B33D8AAE6}"/>
              </a:ext>
            </a:extLst>
          </p:cNvPr>
          <p:cNvGrpSpPr/>
          <p:nvPr/>
        </p:nvGrpSpPr>
        <p:grpSpPr>
          <a:xfrm>
            <a:off x="7113786" y="4127874"/>
            <a:ext cx="4353926" cy="919401"/>
            <a:chOff x="7187492" y="801429"/>
            <a:chExt cx="4353926" cy="1340742"/>
          </a:xfrm>
        </p:grpSpPr>
        <p:sp>
          <p:nvSpPr>
            <p:cNvPr id="15" name="文本框 14">
              <a:extLst>
                <a:ext uri="{FF2B5EF4-FFF2-40B4-BE49-F238E27FC236}">
                  <a16:creationId xmlns:a16="http://schemas.microsoft.com/office/drawing/2014/main" id="{4DFDACAA-C05D-2C58-CFC6-97788A8D0579}"/>
                </a:ext>
              </a:extLst>
            </p:cNvPr>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16" name="文本框 15">
              <a:extLst>
                <a:ext uri="{FF2B5EF4-FFF2-40B4-BE49-F238E27FC236}">
                  <a16:creationId xmlns:a16="http://schemas.microsoft.com/office/drawing/2014/main" id="{D8C4605B-9A6D-5E8C-F30E-5A1AD3079357}"/>
                </a:ext>
              </a:extLst>
            </p:cNvPr>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17" name="文本占位符 46">
            <a:extLst>
              <a:ext uri="{FF2B5EF4-FFF2-40B4-BE49-F238E27FC236}">
                <a16:creationId xmlns:a16="http://schemas.microsoft.com/office/drawing/2014/main" id="{AE5FC663-18B8-5BE8-7356-AD0BF500CBA9}"/>
              </a:ext>
            </a:extLst>
          </p:cNvPr>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extLst>
      <p:ext uri="{BB962C8B-B14F-4D97-AF65-F5344CB8AC3E}">
        <p14:creationId xmlns:p14="http://schemas.microsoft.com/office/powerpoint/2010/main" val="17977601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extLst>
      <p:ext uri="{BB962C8B-B14F-4D97-AF65-F5344CB8AC3E}">
        <p14:creationId xmlns:p14="http://schemas.microsoft.com/office/powerpoint/2010/main" val="26239000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关键字</a:t>
            </a:r>
          </a:p>
        </p:txBody>
      </p:sp>
      <p:sp>
        <p:nvSpPr>
          <p:cNvPr id="5" name="文本框 4"/>
          <p:cNvSpPr txBox="1"/>
          <p:nvPr/>
        </p:nvSpPr>
        <p:spPr>
          <a:xfrm>
            <a:off x="417443" y="1165284"/>
            <a:ext cx="11505460" cy="1817198"/>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关键字：</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MediaCodec</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、视频编码、</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超宏块</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关联领域：软件</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概述：由于三方软件</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在未考虑设备支持的编码规格的情况下发起了超出设备编码规格的编码业务，导致编解码业务执行失败，甚至闪退。</a:t>
            </a: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44345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extLst>
      <p:ext uri="{BB962C8B-B14F-4D97-AF65-F5344CB8AC3E}">
        <p14:creationId xmlns:p14="http://schemas.microsoft.com/office/powerpoint/2010/main" val="30589875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问题描述</a:t>
            </a:r>
          </a:p>
        </p:txBody>
      </p:sp>
      <p:sp>
        <p:nvSpPr>
          <p:cNvPr id="4" name="矩形 3">
            <a:extLst>
              <a:ext uri="{FF2B5EF4-FFF2-40B4-BE49-F238E27FC236}">
                <a16:creationId xmlns:a16="http://schemas.microsoft.com/office/drawing/2014/main" id="{7C9EDAA1-CD29-5324-EF8C-A54FEEEB0799}"/>
              </a:ext>
            </a:extLst>
          </p:cNvPr>
          <p:cNvSpPr/>
          <p:nvPr/>
        </p:nvSpPr>
        <p:spPr>
          <a:xfrm>
            <a:off x="328474" y="712125"/>
            <a:ext cx="11540971" cy="369807"/>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背景（</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Situation</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pic>
        <p:nvPicPr>
          <p:cNvPr id="5" name="图片 4" descr="游戏的截图&#10;&#10;低可信度描述已自动生成">
            <a:extLst>
              <a:ext uri="{FF2B5EF4-FFF2-40B4-BE49-F238E27FC236}">
                <a16:creationId xmlns:a16="http://schemas.microsoft.com/office/drawing/2014/main" id="{43FD5614-10F9-F069-D4C9-D1A413D26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091" y="3524596"/>
            <a:ext cx="5549909" cy="3333404"/>
          </a:xfrm>
          <a:prstGeom prst="rect">
            <a:avLst/>
          </a:prstGeom>
        </p:spPr>
      </p:pic>
      <p:pic>
        <p:nvPicPr>
          <p:cNvPr id="7" name="图片 6" descr="银色的电脑屏幕&#10;&#10;描述已自动生成">
            <a:extLst>
              <a:ext uri="{FF2B5EF4-FFF2-40B4-BE49-F238E27FC236}">
                <a16:creationId xmlns:a16="http://schemas.microsoft.com/office/drawing/2014/main" id="{80BF62F2-7C66-D217-905A-84C283584D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443" y="1290010"/>
            <a:ext cx="6224648" cy="3868652"/>
          </a:xfrm>
          <a:prstGeom prst="rect">
            <a:avLst/>
          </a:prstGeom>
        </p:spPr>
      </p:pic>
      <p:sp>
        <p:nvSpPr>
          <p:cNvPr id="8" name="文本框 7">
            <a:extLst>
              <a:ext uri="{FF2B5EF4-FFF2-40B4-BE49-F238E27FC236}">
                <a16:creationId xmlns:a16="http://schemas.microsoft.com/office/drawing/2014/main" id="{BD9C31A7-4F28-C358-1405-8B04155DF2A3}"/>
              </a:ext>
            </a:extLst>
          </p:cNvPr>
          <p:cNvSpPr txBox="1"/>
          <p:nvPr/>
        </p:nvSpPr>
        <p:spPr>
          <a:xfrm>
            <a:off x="0" y="5567990"/>
            <a:ext cx="6714836" cy="874407"/>
          </a:xfrm>
          <a:prstGeom prst="rect">
            <a:avLst/>
          </a:prstGeom>
          <a:noFill/>
        </p:spPr>
        <p:txBody>
          <a:bodyPr wrap="square">
            <a:spAutoFit/>
          </a:bodyPr>
          <a:lstStyle/>
          <a:p>
            <a:pPr>
              <a:lnSpc>
                <a:spcPct val="150000"/>
              </a:lnSpc>
              <a:defRPr/>
            </a:pPr>
            <a:r>
              <a:rPr lang="zh-CN" altLang="en-US" sz="1800">
                <a:solidFill>
                  <a:prstClr val="black"/>
                </a:solidFill>
                <a:latin typeface="微软雅黑" panose="020B0503020204020204" pitchFamily="34" charset="-122"/>
                <a:ea typeface="微软雅黑" panose="020B0503020204020204" pitchFamily="34" charset="-122"/>
              </a:rPr>
              <a:t>（</a:t>
            </a:r>
            <a:r>
              <a:rPr lang="en-US" altLang="zh-CN" sz="1800" dirty="0">
                <a:solidFill>
                  <a:prstClr val="black"/>
                </a:solidFill>
                <a:latin typeface="微软雅黑" panose="020B0503020204020204" pitchFamily="34" charset="-122"/>
                <a:ea typeface="微软雅黑" panose="020B0503020204020204" pitchFamily="34" charset="-122"/>
              </a:rPr>
              <a:t>2</a:t>
            </a:r>
            <a:r>
              <a:rPr lang="zh-CN" altLang="en-US" sz="1800">
                <a:solidFill>
                  <a:prstClr val="black"/>
                </a:solidFill>
                <a:latin typeface="微软雅黑" panose="020B0503020204020204" pitchFamily="34" charset="-122"/>
                <a:ea typeface="微软雅黑" panose="020B0503020204020204" pitchFamily="34" charset="-122"/>
              </a:rPr>
              <a:t>）永劫无间”应用主界面依次点击“英雄”</a:t>
            </a:r>
            <a:r>
              <a:rPr lang="en-US" altLang="zh-CN" sz="1800" dirty="0">
                <a:solidFill>
                  <a:prstClr val="black"/>
                </a:solidFill>
                <a:latin typeface="微软雅黑" panose="020B0503020204020204" pitchFamily="34" charset="-122"/>
                <a:ea typeface="微软雅黑" panose="020B0503020204020204" pitchFamily="34" charset="-122"/>
              </a:rPr>
              <a:t>&gt;</a:t>
            </a:r>
            <a:r>
              <a:rPr lang="zh-CN" altLang="en-US" sz="1800">
                <a:solidFill>
                  <a:prstClr val="black"/>
                </a:solidFill>
                <a:latin typeface="微软雅黑" panose="020B0503020204020204" pitchFamily="34" charset="-122"/>
                <a:ea typeface="微软雅黑" panose="020B0503020204020204" pitchFamily="34" charset="-122"/>
              </a:rPr>
              <a:t>“分享</a:t>
            </a:r>
            <a:r>
              <a:rPr lang="en-US" altLang="zh-CN" sz="1800" dirty="0">
                <a:solidFill>
                  <a:prstClr val="black"/>
                </a:solidFill>
                <a:latin typeface="微软雅黑" panose="020B0503020204020204" pitchFamily="34" charset="-122"/>
                <a:ea typeface="微软雅黑" panose="020B0503020204020204" pitchFamily="34" charset="-122"/>
              </a:rPr>
              <a:t>”&gt;</a:t>
            </a:r>
            <a:r>
              <a:rPr lang="zh-CN" altLang="en-US" sz="1800">
                <a:solidFill>
                  <a:prstClr val="black"/>
                </a:solidFill>
                <a:latin typeface="微软雅黑" panose="020B0503020204020204" pitchFamily="34" charset="-122"/>
                <a:ea typeface="微软雅黑" panose="020B0503020204020204" pitchFamily="34" charset="-122"/>
              </a:rPr>
              <a:t>“分享”后游戏闪退。</a:t>
            </a:r>
            <a:endParaRPr lang="en-US" altLang="zh-CN" sz="1800" dirty="0">
              <a:solidFill>
                <a:prstClr val="black"/>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7C32FA86-8B80-B200-131D-1B5D3A20B8A9}"/>
              </a:ext>
            </a:extLst>
          </p:cNvPr>
          <p:cNvSpPr txBox="1"/>
          <p:nvPr/>
        </p:nvSpPr>
        <p:spPr>
          <a:xfrm>
            <a:off x="6610336" y="1794376"/>
            <a:ext cx="5066144" cy="87440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800">
                <a:solidFill>
                  <a:prstClr val="black"/>
                </a:solidFill>
                <a:latin typeface="微软雅黑" panose="020B0503020204020204" pitchFamily="34" charset="-122"/>
                <a:ea typeface="微软雅黑" panose="020B0503020204020204" pitchFamily="34" charset="-122"/>
              </a:rPr>
              <a:t>（</a:t>
            </a:r>
            <a:r>
              <a:rPr lang="en-US" altLang="zh-CN" sz="1800" dirty="0">
                <a:solidFill>
                  <a:prstClr val="black"/>
                </a:solidFill>
                <a:latin typeface="微软雅黑" panose="020B0503020204020204" pitchFamily="34" charset="-122"/>
                <a:ea typeface="微软雅黑" panose="020B0503020204020204" pitchFamily="34" charset="-122"/>
              </a:rPr>
              <a:t>1</a:t>
            </a:r>
            <a:r>
              <a:rPr lang="zh-CN" altLang="en-US" sz="1800">
                <a:solidFill>
                  <a:prstClr val="black"/>
                </a:solidFill>
                <a:latin typeface="微软雅黑" panose="020B0503020204020204" pitchFamily="34" charset="-122"/>
                <a:ea typeface="微软雅黑" panose="020B0503020204020204" pitchFamily="34" charset="-122"/>
              </a:rPr>
              <a:t>）微信进入微信视频号，点击“发表视频”，长按录制</a:t>
            </a:r>
            <a:r>
              <a:rPr lang="en-US" altLang="zh-CN" sz="1800" dirty="0">
                <a:solidFill>
                  <a:prstClr val="black"/>
                </a:solidFill>
                <a:latin typeface="微软雅黑" panose="020B0503020204020204" pitchFamily="34" charset="-122"/>
                <a:ea typeface="微软雅黑" panose="020B0503020204020204" pitchFamily="34" charset="-122"/>
              </a:rPr>
              <a:t>10s</a:t>
            </a:r>
            <a:r>
              <a:rPr lang="zh-CN" altLang="en-US" sz="1800">
                <a:solidFill>
                  <a:prstClr val="black"/>
                </a:solidFill>
                <a:latin typeface="微软雅黑" panose="020B0503020204020204" pitchFamily="34" charset="-122"/>
                <a:ea typeface="微软雅黑" panose="020B0503020204020204" pitchFamily="34" charset="-122"/>
              </a:rPr>
              <a:t>松开，发现一直转圈圈。</a:t>
            </a:r>
          </a:p>
        </p:txBody>
      </p:sp>
    </p:spTree>
    <p:extLst>
      <p:ext uri="{BB962C8B-B14F-4D97-AF65-F5344CB8AC3E}">
        <p14:creationId xmlns:p14="http://schemas.microsoft.com/office/powerpoint/2010/main" val="38556332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lang="zh-CN" altLang="en-US" sz="4000" b="1" dirty="0">
                <a:solidFill>
                  <a:prstClr val="white"/>
                </a:solidFill>
                <a:latin typeface="微软雅黑" panose="020B0503020204020204" pitchFamily="34" charset="-122"/>
                <a:ea typeface="微软雅黑" panose="020B0503020204020204" pitchFamily="34" charset="-122"/>
              </a:rPr>
              <a:t>分析过程</a:t>
            </a:r>
            <a:endParaRPr kumimoji="0" lang="zh-CN" altLang="en-US" sz="4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463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7443" y="3020051"/>
            <a:ext cx="10848699" cy="458908"/>
          </a:xfrm>
          <a:prstGeom prst="rect">
            <a:avLst/>
          </a:prstGeom>
        </p:spPr>
        <p:txBody>
          <a:bodyPr wrap="square">
            <a:spAutoFit/>
          </a:bodyPr>
          <a:lstStyle/>
          <a:p>
            <a:pPr>
              <a:lnSpc>
                <a:spcPct val="150000"/>
              </a:lnSpc>
              <a:defRPr/>
            </a:pPr>
            <a:r>
              <a:rPr lang="zh-CN" altLang="en-US">
                <a:solidFill>
                  <a:prstClr val="black"/>
                </a:solidFill>
                <a:latin typeface="微软雅黑" panose="020B0503020204020204" pitchFamily="34" charset="-122"/>
                <a:ea typeface="微软雅黑" panose="020B0503020204020204" pitchFamily="34" charset="-122"/>
              </a:rPr>
              <a:t>宏块定义文件：</a:t>
            </a:r>
            <a:r>
              <a:rPr lang="en-US" altLang="zh-CN" dirty="0">
                <a:solidFill>
                  <a:prstClr val="black"/>
                </a:solidFill>
                <a:latin typeface="微软雅黑" panose="020B0503020204020204" pitchFamily="34" charset="-122"/>
                <a:ea typeface="微软雅黑" panose="020B0503020204020204" pitchFamily="34" charset="-122"/>
              </a:rPr>
              <a:t>/…./msm_vidc_khaje.c</a:t>
            </a:r>
          </a:p>
        </p:txBody>
      </p:sp>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问题分析</a:t>
            </a:r>
          </a:p>
        </p:txBody>
      </p:sp>
      <p:sp>
        <p:nvSpPr>
          <p:cNvPr id="5" name="文本框 4">
            <a:extLst>
              <a:ext uri="{FF2B5EF4-FFF2-40B4-BE49-F238E27FC236}">
                <a16:creationId xmlns:a16="http://schemas.microsoft.com/office/drawing/2014/main" id="{09495A76-8DEB-088B-CF3E-A22EB0BA3A6D}"/>
              </a:ext>
            </a:extLst>
          </p:cNvPr>
          <p:cNvSpPr txBox="1"/>
          <p:nvPr/>
        </p:nvSpPr>
        <p:spPr>
          <a:xfrm>
            <a:off x="417443" y="3539775"/>
            <a:ext cx="11700493" cy="3139321"/>
          </a:xfrm>
          <a:prstGeom prst="rect">
            <a:avLst/>
          </a:prstGeom>
          <a:noFill/>
        </p:spPr>
        <p:txBody>
          <a:bodyPr wrap="square">
            <a:spAutoFit/>
          </a:bodyPr>
          <a:lstStyle/>
          <a:p>
            <a:r>
              <a:rPr lang="zh-CN" altLang="en-US"/>
              <a:t>#define MINIMUM_FPS 1 </a:t>
            </a:r>
          </a:p>
          <a:p>
            <a:r>
              <a:rPr lang="zh-CN" altLang="en-US"/>
              <a:t>#define MAXIMUM_FPS 120  </a:t>
            </a:r>
          </a:p>
          <a:p>
            <a:r>
              <a:rPr lang="zh-CN" altLang="en-US"/>
              <a:t>{MAX_SECURE_SESSION_COUNT, 3},  {MAX_RT_MBPF, 25200}, /* ((720x1280)/256)*7 –---全局实时每帧最大宏块数*/  </a:t>
            </a:r>
          </a:p>
          <a:p>
            <a:r>
              <a:rPr lang="zh-CN" altLang="en-US"/>
              <a:t>{MAX_MBPF, 32640}, /* ((1920x1088)/256)*4 -----全局非实时每帧最大宏块数*/  </a:t>
            </a:r>
          </a:p>
          <a:p>
            <a:r>
              <a:rPr lang="zh-CN" altLang="en-US"/>
              <a:t>{MAX_MBPS, 756000}, /* ((720x1280)/256)@30fps*7 -----最大每秒宏块数*/  </a:t>
            </a:r>
          </a:p>
          <a:p>
            <a:r>
              <a:rPr lang="zh-CN" altLang="en-US"/>
              <a:t>{MAX_IMAGE_MBPF, 262144}, /* ((8192x8192)/256) *-----最大图像处理每帧宏块数/  </a:t>
            </a:r>
          </a:p>
          <a:p>
            <a:r>
              <a:rPr lang="zh-CN" altLang="en-US"/>
              <a:t>{MAX_MBPF_HQ, 8160}, /* ((1920x1088)/256) *-------高清最大每帧宏块数/  </a:t>
            </a:r>
          </a:p>
          <a:p>
            <a:r>
              <a:rPr lang="zh-CN" altLang="en-US"/>
              <a:t>{MAX_MBPS_HQ, 244800}, /* (1920 x 1088)@30fps -----高清最大每秒宏块数*/  </a:t>
            </a:r>
          </a:p>
          <a:p>
            <a:r>
              <a:rPr lang="zh-CN" altLang="en-US"/>
              <a:t>{MAX_MBPF_B_FRAME, 0}, /* ((1920x1088)/256) -------B帧最大每帧宏块数*/  </a:t>
            </a:r>
          </a:p>
          <a:p>
            <a:r>
              <a:rPr lang="zh-CN" altLang="en-US"/>
              <a:t>{MAX_MBPS_B_FRAME, 0}, /* (1920*1088)/256 MBs@60fps */  </a:t>
            </a:r>
          </a:p>
          <a:p>
            <a:r>
              <a:rPr lang="zh-CN" altLang="en-US"/>
              <a:t>{MAX_MBPS_ALL_INTRA, 489600}, /* (1920x1088)/256 MBs@60fps--- 所有帧都是I帧的最大宏块处理能力 */</a:t>
            </a:r>
          </a:p>
        </p:txBody>
      </p:sp>
      <p:sp>
        <p:nvSpPr>
          <p:cNvPr id="6" name="文本框 5">
            <a:extLst>
              <a:ext uri="{FF2B5EF4-FFF2-40B4-BE49-F238E27FC236}">
                <a16:creationId xmlns:a16="http://schemas.microsoft.com/office/drawing/2014/main" id="{A117F31E-8F63-2242-DD35-46E2D2084008}"/>
              </a:ext>
            </a:extLst>
          </p:cNvPr>
          <p:cNvSpPr txBox="1"/>
          <p:nvPr/>
        </p:nvSpPr>
        <p:spPr>
          <a:xfrm>
            <a:off x="417443" y="769122"/>
            <a:ext cx="11538123" cy="2122376"/>
          </a:xfrm>
          <a:prstGeom prst="rect">
            <a:avLst/>
          </a:prstGeom>
          <a:noFill/>
        </p:spPr>
        <p:txBody>
          <a:bodyPr wrap="square" rtlCol="0">
            <a:spAutoFit/>
          </a:bodyPr>
          <a:lstStyle/>
          <a:p>
            <a:pPr>
              <a:lnSpc>
                <a:spcPct val="150000"/>
              </a:lnSpc>
            </a:pPr>
            <a:r>
              <a:rPr lang="zh-CN" altLang="en-US"/>
              <a:t>高通在其芯片产品规格中，针对视频处理能力制定了明确的性能规范。具体而言，其对视频播放和录制功能所支持的最大规格进行了严格定义。这一规范的核心是基于</a:t>
            </a:r>
            <a:r>
              <a:rPr lang="en-US" altLang="zh-CN" dirty="0"/>
              <a:t>"</a:t>
            </a:r>
            <a:r>
              <a:rPr lang="zh-CN" altLang="en-US"/>
              <a:t>宏块</a:t>
            </a:r>
            <a:r>
              <a:rPr lang="en-US" altLang="zh-CN" dirty="0"/>
              <a:t>"</a:t>
            </a:r>
            <a:r>
              <a:rPr lang="zh-CN" altLang="en-US"/>
              <a:t>（</a:t>
            </a:r>
            <a:r>
              <a:rPr lang="en" altLang="zh-CN" dirty="0"/>
              <a:t>Macroblock</a:t>
            </a:r>
            <a:r>
              <a:rPr lang="zh-CN" altLang="en"/>
              <a:t>）</a:t>
            </a:r>
            <a:r>
              <a:rPr lang="zh-CN" altLang="en-US"/>
              <a:t>的资源管理机制：通过综合考虑视频分辨率、帧率等关键参数，将视频处理能力量化为宏块这一全局资源单位。在实际运行过程中，如果多个视频业务同时运行导致宏块资源占用超过芯片预设的阈值，系统将自动终止部分媒体服务以保证整体稳定性。这种资源管理机制既确保了单路视频的高质量处理，又实现了多路视频场景下的系统保护。</a:t>
            </a:r>
          </a:p>
        </p:txBody>
      </p:sp>
    </p:spTree>
    <p:extLst>
      <p:ext uri="{BB962C8B-B14F-4D97-AF65-F5344CB8AC3E}">
        <p14:creationId xmlns:p14="http://schemas.microsoft.com/office/powerpoint/2010/main" val="10834940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1832" y="824605"/>
            <a:ext cx="11579551" cy="875881"/>
          </a:xfrm>
          <a:prstGeom prst="rect">
            <a:avLst/>
          </a:prstGeom>
        </p:spPr>
        <p:txBody>
          <a:bodyPr wrap="square">
            <a:spAutoFit/>
          </a:bodyPr>
          <a:lstStyle/>
          <a:p>
            <a:pPr>
              <a:lnSpc>
                <a:spcPct val="150000"/>
              </a:lnSpc>
              <a:defRPr/>
            </a:pPr>
            <a:r>
              <a:rPr kumimoji="1" lang="zh-CN" altLang="en-US" dirty="0"/>
              <a:t>问题一：根据录屏时间首先去定位问题发生的时间段，通过查找该时间段内的编解码器的输出日志（</a:t>
            </a:r>
            <a:r>
              <a:rPr kumimoji="1" lang="en-US" altLang="zh-CN" dirty="0"/>
              <a:t>MediaCodec</a:t>
            </a:r>
            <a:r>
              <a:rPr kumimoji="1" lang="zh-CN" altLang="en-US" dirty="0"/>
              <a:t>），发现编码器在报错日志：</a:t>
            </a:r>
            <a:endParaRPr kumimoji="1" lang="en-US" altLang="zh-CN" dirty="0"/>
          </a:p>
        </p:txBody>
      </p:sp>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问题分析</a:t>
            </a:r>
          </a:p>
        </p:txBody>
      </p:sp>
      <p:sp>
        <p:nvSpPr>
          <p:cNvPr id="2" name="文本框 1">
            <a:extLst>
              <a:ext uri="{FF2B5EF4-FFF2-40B4-BE49-F238E27FC236}">
                <a16:creationId xmlns:a16="http://schemas.microsoft.com/office/drawing/2014/main" id="{B347E8AF-8C52-3B3B-E33F-7407760C8383}"/>
              </a:ext>
            </a:extLst>
          </p:cNvPr>
          <p:cNvSpPr txBox="1"/>
          <p:nvPr/>
        </p:nvSpPr>
        <p:spPr>
          <a:xfrm>
            <a:off x="379637" y="5341120"/>
            <a:ext cx="11473013" cy="1291379"/>
          </a:xfrm>
          <a:prstGeom prst="rect">
            <a:avLst/>
          </a:prstGeom>
          <a:noFill/>
        </p:spPr>
        <p:txBody>
          <a:bodyPr wrap="none" rtlCol="0">
            <a:spAutoFit/>
          </a:bodyPr>
          <a:lstStyle/>
          <a:p>
            <a:pPr>
              <a:lnSpc>
                <a:spcPct val="150000"/>
              </a:lnSpc>
            </a:pPr>
            <a:r>
              <a:rPr kumimoji="1" lang="zh-CN" altLang="en-US" dirty="0"/>
              <a:t>可以通过</a:t>
            </a:r>
            <a:r>
              <a:rPr kumimoji="1" lang="en-US" altLang="zh-CN" dirty="0"/>
              <a:t>Aplog</a:t>
            </a:r>
            <a:r>
              <a:rPr kumimoji="1" lang="zh-CN" altLang="en-US" dirty="0"/>
              <a:t>验证这五路编解码均由微信应用发起，而芯片支持最高的全局多路宏块为</a:t>
            </a:r>
            <a:r>
              <a:rPr kumimoji="1" lang="en-US" altLang="zh-CN" dirty="0"/>
              <a:t>7</a:t>
            </a:r>
            <a:r>
              <a:rPr kumimoji="1" lang="zh-CN" altLang="en-US" dirty="0"/>
              <a:t>路</a:t>
            </a:r>
            <a:r>
              <a:rPr kumimoji="1" lang="en-US" altLang="zh-CN" dirty="0"/>
              <a:t>30</a:t>
            </a:r>
            <a:r>
              <a:rPr kumimoji="1" lang="zh-CN" altLang="en-US" dirty="0"/>
              <a:t>帧的</a:t>
            </a:r>
            <a:r>
              <a:rPr kumimoji="1" lang="en-US" altLang="zh-CN" dirty="0"/>
              <a:t>720p</a:t>
            </a:r>
            <a:r>
              <a:rPr kumimoji="1" lang="zh-CN" altLang="en-US" dirty="0"/>
              <a:t>编解码：</a:t>
            </a:r>
            <a:endParaRPr kumimoji="1" lang="en-US" altLang="zh-CN" dirty="0"/>
          </a:p>
          <a:p>
            <a:pPr>
              <a:lnSpc>
                <a:spcPct val="150000"/>
              </a:lnSpc>
            </a:pPr>
            <a:r>
              <a:rPr kumimoji="1" lang="en-US" altLang="zh-CN" dirty="0"/>
              <a:t>				1280</a:t>
            </a:r>
            <a:r>
              <a:rPr kumimoji="1" lang="zh-CN" altLang="en-US" dirty="0"/>
              <a:t>*</a:t>
            </a:r>
            <a:r>
              <a:rPr kumimoji="1" lang="en-US" altLang="zh-CN" dirty="0"/>
              <a:t>720/256</a:t>
            </a:r>
            <a:r>
              <a:rPr kumimoji="1" lang="zh-CN" altLang="en-US" dirty="0"/>
              <a:t>*</a:t>
            </a:r>
            <a:r>
              <a:rPr kumimoji="1" lang="en-US" altLang="zh-CN" dirty="0"/>
              <a:t>30</a:t>
            </a:r>
            <a:r>
              <a:rPr kumimoji="1" lang="zh-CN" altLang="en-US" dirty="0"/>
              <a:t>*</a:t>
            </a:r>
            <a:r>
              <a:rPr kumimoji="1" lang="en-US" altLang="zh-CN" dirty="0"/>
              <a:t>7=756000(256</a:t>
            </a:r>
            <a:r>
              <a:rPr kumimoji="1" lang="zh-CN" altLang="en-US" dirty="0"/>
              <a:t>为宏块大小</a:t>
            </a:r>
            <a:r>
              <a:rPr kumimoji="1" lang="en-US" altLang="zh-CN" dirty="0"/>
              <a:t>16</a:t>
            </a:r>
            <a:r>
              <a:rPr kumimoji="1" lang="zh-CN" altLang="en-US" dirty="0"/>
              <a:t>*</a:t>
            </a:r>
            <a:r>
              <a:rPr kumimoji="1" lang="en-US" altLang="zh-CN" dirty="0"/>
              <a:t>16)</a:t>
            </a:r>
          </a:p>
          <a:p>
            <a:pPr>
              <a:lnSpc>
                <a:spcPct val="150000"/>
              </a:lnSpc>
            </a:pPr>
            <a:r>
              <a:rPr kumimoji="1" lang="zh-CN" altLang="en-US" dirty="0"/>
              <a:t>这是超宏块中典型的全局多路超宏块，问题本身属于硬件规格原因，在同芯片机器上可以复现，转三方跟踪。</a:t>
            </a:r>
          </a:p>
        </p:txBody>
      </p:sp>
      <p:sp>
        <p:nvSpPr>
          <p:cNvPr id="7" name="文本框 6">
            <a:extLst>
              <a:ext uri="{FF2B5EF4-FFF2-40B4-BE49-F238E27FC236}">
                <a16:creationId xmlns:a16="http://schemas.microsoft.com/office/drawing/2014/main" id="{3A19BC4C-AC72-356B-FA63-840FEC905FBD}"/>
              </a:ext>
            </a:extLst>
          </p:cNvPr>
          <p:cNvSpPr txBox="1"/>
          <p:nvPr/>
        </p:nvSpPr>
        <p:spPr>
          <a:xfrm>
            <a:off x="379637" y="1742441"/>
            <a:ext cx="11283732" cy="46487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dirty="0"/>
              <a:t>Aplog: E MediaCodec : Codec reported err 0xfffffff4/NO_MEMORY,actionCodec 0,while in state 5/STARTING.</a:t>
            </a:r>
          </a:p>
        </p:txBody>
      </p:sp>
      <p:sp>
        <p:nvSpPr>
          <p:cNvPr id="9" name="文本框 8">
            <a:extLst>
              <a:ext uri="{FF2B5EF4-FFF2-40B4-BE49-F238E27FC236}">
                <a16:creationId xmlns:a16="http://schemas.microsoft.com/office/drawing/2014/main" id="{4C34D03E-8A02-9E91-F6E8-CE6CE64FE74F}"/>
              </a:ext>
            </a:extLst>
          </p:cNvPr>
          <p:cNvSpPr txBox="1"/>
          <p:nvPr/>
        </p:nvSpPr>
        <p:spPr>
          <a:xfrm>
            <a:off x="341832" y="2407842"/>
            <a:ext cx="11299311" cy="8758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a:t>这表示编解码器在</a:t>
            </a:r>
            <a:r>
              <a:rPr kumimoji="1" lang="en-US" altLang="zh-CN" dirty="0"/>
              <a:t>start</a:t>
            </a:r>
            <a:r>
              <a:rPr kumimoji="1" lang="zh-CN" altLang="en-US"/>
              <a:t>的过程中出现了错误，需要首先排查是否与超宏块有关。查找对应时间点的</a:t>
            </a:r>
            <a:r>
              <a:rPr kumimoji="1" lang="en-US" altLang="zh-CN" dirty="0"/>
              <a:t>kernel</a:t>
            </a:r>
            <a:r>
              <a:rPr kumimoji="1" lang="zh-CN" altLang="en-US"/>
              <a:t>日志，使用</a:t>
            </a:r>
            <a:r>
              <a:rPr kumimoji="1" lang="en-US" altLang="zh-CN" dirty="0"/>
              <a:t>overload</a:t>
            </a:r>
            <a:r>
              <a:rPr kumimoji="1" lang="zh-CN" altLang="en-US"/>
              <a:t>关键字可定位出问题一的超宏块原因：</a:t>
            </a:r>
            <a:endParaRPr kumimoji="1" lang="en-US" altLang="zh-CN" dirty="0"/>
          </a:p>
        </p:txBody>
      </p:sp>
      <p:pic>
        <p:nvPicPr>
          <p:cNvPr id="10" name="图片 9">
            <a:extLst>
              <a:ext uri="{FF2B5EF4-FFF2-40B4-BE49-F238E27FC236}">
                <a16:creationId xmlns:a16="http://schemas.microsoft.com/office/drawing/2014/main" id="{CCA57665-AA07-8F78-348C-E25AB9DBF477}"/>
              </a:ext>
            </a:extLst>
          </p:cNvPr>
          <p:cNvPicPr>
            <a:picLocks noChangeAspect="1"/>
          </p:cNvPicPr>
          <p:nvPr/>
        </p:nvPicPr>
        <p:blipFill>
          <a:blip r:embed="rId2"/>
          <a:stretch>
            <a:fillRect/>
          </a:stretch>
        </p:blipFill>
        <p:spPr>
          <a:xfrm>
            <a:off x="417442" y="3429000"/>
            <a:ext cx="10958639" cy="1766843"/>
          </a:xfrm>
          <a:prstGeom prst="rect">
            <a:avLst/>
          </a:prstGeom>
        </p:spPr>
      </p:pic>
    </p:spTree>
    <p:extLst>
      <p:ext uri="{BB962C8B-B14F-4D97-AF65-F5344CB8AC3E}">
        <p14:creationId xmlns:p14="http://schemas.microsoft.com/office/powerpoint/2010/main" val="9077793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1832" y="845923"/>
            <a:ext cx="11579551" cy="875881"/>
          </a:xfrm>
          <a:prstGeom prst="rect">
            <a:avLst/>
          </a:prstGeom>
        </p:spPr>
        <p:txBody>
          <a:bodyPr wrap="square">
            <a:spAutoFit/>
          </a:bodyPr>
          <a:lstStyle/>
          <a:p>
            <a:pPr>
              <a:lnSpc>
                <a:spcPct val="150000"/>
              </a:lnSpc>
              <a:defRPr/>
            </a:pPr>
            <a:r>
              <a:rPr kumimoji="1" lang="zh-CN" altLang="en-US" dirty="0"/>
              <a:t>问题二：对于问题二来说也有相同的</a:t>
            </a:r>
            <a:r>
              <a:rPr kumimoji="1" lang="en-US" altLang="zh-CN" dirty="0"/>
              <a:t>MediaCodec</a:t>
            </a:r>
            <a:r>
              <a:rPr kumimoji="1" lang="zh-CN" altLang="en-US" dirty="0"/>
              <a:t>报错，查找对应时间点的</a:t>
            </a:r>
            <a:r>
              <a:rPr kumimoji="1" lang="en-US" altLang="zh-CN" dirty="0"/>
              <a:t>kernel</a:t>
            </a:r>
            <a:r>
              <a:rPr kumimoji="1" lang="zh-CN" altLang="en-US" dirty="0"/>
              <a:t>日志，使用</a:t>
            </a:r>
            <a:r>
              <a:rPr kumimoji="1" lang="en-US" altLang="zh-CN" dirty="0"/>
              <a:t>overload</a:t>
            </a:r>
            <a:r>
              <a:rPr kumimoji="1" lang="zh-CN" altLang="en-US" dirty="0"/>
              <a:t>关键字可定位出：</a:t>
            </a:r>
            <a:endParaRPr kumimoji="1" lang="en-US" altLang="zh-CN" dirty="0"/>
          </a:p>
        </p:txBody>
      </p:sp>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问题分析</a:t>
            </a:r>
          </a:p>
        </p:txBody>
      </p:sp>
      <p:pic>
        <p:nvPicPr>
          <p:cNvPr id="2" name="图片 1">
            <a:extLst>
              <a:ext uri="{FF2B5EF4-FFF2-40B4-BE49-F238E27FC236}">
                <a16:creationId xmlns:a16="http://schemas.microsoft.com/office/drawing/2014/main" id="{7043393C-332D-4E38-56A7-B0645C75F7C1}"/>
              </a:ext>
            </a:extLst>
          </p:cNvPr>
          <p:cNvPicPr>
            <a:picLocks noChangeAspect="1"/>
          </p:cNvPicPr>
          <p:nvPr/>
        </p:nvPicPr>
        <p:blipFill rotWithShape="1">
          <a:blip r:embed="rId2"/>
          <a:srcRect l="13567"/>
          <a:stretch/>
        </p:blipFill>
        <p:spPr>
          <a:xfrm>
            <a:off x="1458145" y="2768331"/>
            <a:ext cx="9346924" cy="1529784"/>
          </a:xfrm>
          <a:prstGeom prst="rect">
            <a:avLst/>
          </a:prstGeom>
        </p:spPr>
      </p:pic>
      <p:sp>
        <p:nvSpPr>
          <p:cNvPr id="6" name="文本框 5">
            <a:extLst>
              <a:ext uri="{FF2B5EF4-FFF2-40B4-BE49-F238E27FC236}">
                <a16:creationId xmlns:a16="http://schemas.microsoft.com/office/drawing/2014/main" id="{8D5FD059-CD2F-CA42-235D-A7EFB82BB3FB}"/>
              </a:ext>
            </a:extLst>
          </p:cNvPr>
          <p:cNvSpPr txBox="1"/>
          <p:nvPr/>
        </p:nvSpPr>
        <p:spPr>
          <a:xfrm>
            <a:off x="341832" y="4702896"/>
            <a:ext cx="11503939" cy="1291379"/>
          </a:xfrm>
          <a:prstGeom prst="rect">
            <a:avLst/>
          </a:prstGeom>
          <a:noFill/>
        </p:spPr>
        <p:txBody>
          <a:bodyPr wrap="square">
            <a:spAutoFit/>
          </a:bodyPr>
          <a:lstStyle/>
          <a:p>
            <a:pPr>
              <a:lnSpc>
                <a:spcPct val="150000"/>
              </a:lnSpc>
              <a:defRPr/>
            </a:pPr>
            <a:r>
              <a:rPr kumimoji="1" lang="zh-CN" altLang="en-US"/>
              <a:t>这里的日志打印了当前的所有编解码实例，可以看到有一路</a:t>
            </a:r>
            <a:r>
              <a:rPr kumimoji="1" lang="en-US" altLang="zh-CN" dirty="0"/>
              <a:t>1920</a:t>
            </a:r>
            <a:r>
              <a:rPr kumimoji="1" lang="zh-CN" altLang="en-US"/>
              <a:t>*</a:t>
            </a:r>
            <a:r>
              <a:rPr kumimoji="1" lang="en-US" altLang="zh-CN" dirty="0"/>
              <a:t>1152</a:t>
            </a:r>
            <a:r>
              <a:rPr kumimoji="1" lang="zh-CN" altLang="en-US"/>
              <a:t>的编码，通过错误日志可以看出当前</a:t>
            </a:r>
            <a:r>
              <a:rPr kumimoji="1" lang="en-US" altLang="zh-CN" dirty="0"/>
              <a:t>1920</a:t>
            </a:r>
            <a:r>
              <a:rPr kumimoji="1" lang="zh-CN" altLang="en-US"/>
              <a:t>*</a:t>
            </a:r>
            <a:r>
              <a:rPr kumimoji="1" lang="en-US" altLang="zh-CN" dirty="0"/>
              <a:t>1152</a:t>
            </a:r>
            <a:r>
              <a:rPr kumimoji="1" lang="zh-CN" altLang="en-US"/>
              <a:t>分辨率需要每帧宏块数为</a:t>
            </a:r>
            <a:r>
              <a:rPr kumimoji="1" lang="en-US" altLang="zh-CN" dirty="0"/>
              <a:t>1920</a:t>
            </a:r>
            <a:r>
              <a:rPr kumimoji="1" lang="zh-CN" altLang="en-US"/>
              <a:t>*</a:t>
            </a:r>
            <a:r>
              <a:rPr kumimoji="1" lang="en-US" altLang="zh-CN" dirty="0"/>
              <a:t>1152/256=8640</a:t>
            </a:r>
            <a:r>
              <a:rPr kumimoji="1" lang="zh-CN" altLang="en-US"/>
              <a:t>。但是当前设备的每帧宏块数最高为</a:t>
            </a:r>
            <a:r>
              <a:rPr kumimoji="1" lang="en-US" altLang="zh-CN" dirty="0"/>
              <a:t>8160</a:t>
            </a:r>
            <a:r>
              <a:rPr kumimoji="1" lang="zh-CN" altLang="en-US"/>
              <a:t>（</a:t>
            </a:r>
            <a:r>
              <a:rPr kumimoji="1" lang="en-US" altLang="zh-CN" dirty="0"/>
              <a:t>1920</a:t>
            </a:r>
            <a:r>
              <a:rPr kumimoji="1" lang="zh-CN" altLang="en-US"/>
              <a:t>*</a:t>
            </a:r>
            <a:r>
              <a:rPr kumimoji="1" lang="en-US" altLang="zh-CN" dirty="0"/>
              <a:t>1088/256</a:t>
            </a:r>
            <a:r>
              <a:rPr kumimoji="1" lang="zh-CN" altLang="en-US"/>
              <a:t>），无法支持到</a:t>
            </a:r>
            <a:r>
              <a:rPr kumimoji="1" lang="en-US" altLang="zh-CN" dirty="0"/>
              <a:t>1920*1152</a:t>
            </a:r>
            <a:r>
              <a:rPr kumimoji="1" lang="zh-CN" altLang="en-US"/>
              <a:t>分辨率的编码业务。这是典型的单路超宏块。</a:t>
            </a:r>
            <a:endParaRPr kumimoji="1" lang="en-US" altLang="zh-CN" dirty="0"/>
          </a:p>
        </p:txBody>
      </p:sp>
      <p:sp>
        <p:nvSpPr>
          <p:cNvPr id="8" name="文本框 7">
            <a:extLst>
              <a:ext uri="{FF2B5EF4-FFF2-40B4-BE49-F238E27FC236}">
                <a16:creationId xmlns:a16="http://schemas.microsoft.com/office/drawing/2014/main" id="{B076C3D6-6030-3CA3-7641-12BAF9C29FB5}"/>
              </a:ext>
            </a:extLst>
          </p:cNvPr>
          <p:cNvSpPr txBox="1"/>
          <p:nvPr/>
        </p:nvSpPr>
        <p:spPr>
          <a:xfrm>
            <a:off x="341832" y="1898679"/>
            <a:ext cx="11357113" cy="464871"/>
          </a:xfrm>
          <a:prstGeom prst="rect">
            <a:avLst/>
          </a:prstGeom>
          <a:noFill/>
        </p:spPr>
        <p:txBody>
          <a:bodyPr wrap="square">
            <a:spAutoFit/>
          </a:bodyPr>
          <a:lstStyle/>
          <a:p>
            <a:pPr>
              <a:lnSpc>
                <a:spcPct val="150000"/>
              </a:lnSpc>
              <a:defRPr/>
            </a:pPr>
            <a:r>
              <a:rPr kumimoji="1" lang="en-US" altLang="zh-CN" dirty="0"/>
              <a:t>Aplog: E MediaCodec : Codec reported err 0xfffffff4/NO_MEMORY,actionCodec 0,while in state 5/STARTING.</a:t>
            </a:r>
          </a:p>
        </p:txBody>
      </p:sp>
    </p:spTree>
    <p:extLst>
      <p:ext uri="{BB962C8B-B14F-4D97-AF65-F5344CB8AC3E}">
        <p14:creationId xmlns:p14="http://schemas.microsoft.com/office/powerpoint/2010/main" val="19272236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1831" y="1240348"/>
            <a:ext cx="11579551" cy="1290418"/>
          </a:xfrm>
          <a:prstGeom prst="rect">
            <a:avLst/>
          </a:prstGeom>
        </p:spPr>
        <p:txBody>
          <a:bodyPr wrap="square">
            <a:spAutoFit/>
          </a:bodyPr>
          <a:lstStyle/>
          <a:p>
            <a:pPr>
              <a:lnSpc>
                <a:spcPct val="150000"/>
              </a:lnSpc>
              <a:defRPr/>
            </a:pPr>
            <a:r>
              <a:rPr kumimoji="1" lang="zh-CN" altLang="en-US"/>
              <a:t>（</a:t>
            </a:r>
            <a:r>
              <a:rPr kumimoji="1" lang="en-US" altLang="zh-CN" dirty="0"/>
              <a:t>1</a:t>
            </a:r>
            <a:r>
              <a:rPr kumimoji="1" lang="zh-CN" altLang="en-US"/>
              <a:t>）为了探究原因对两款机器的编解码参数方面做了比较，从对比中发现，</a:t>
            </a:r>
            <a:r>
              <a:rPr lang="zh-CN" altLang="en-US" sz="1800" b="0" i="0" u="none" strike="noStrike">
                <a:solidFill>
                  <a:srgbClr val="333333"/>
                </a:solidFill>
                <a:effectLst/>
                <a:latin typeface="Open Sans" panose="020B0606030504020204" pitchFamily="34" charset="0"/>
              </a:rPr>
              <a:t>对比机的硬编码最高支持为</a:t>
            </a:r>
            <a:r>
              <a:rPr lang="en-US" altLang="zh-CN" sz="1800" b="0" i="0" u="none" strike="noStrike" dirty="0">
                <a:solidFill>
                  <a:srgbClr val="333333"/>
                </a:solidFill>
                <a:effectLst/>
                <a:latin typeface="Open Sans" panose="020B0606030504020204" pitchFamily="34" charset="0"/>
              </a:rPr>
              <a:t>1280*720</a:t>
            </a:r>
            <a:r>
              <a:rPr lang="zh-CN" altLang="en-US" sz="1800" b="0" i="0" u="none" strike="noStrike">
                <a:solidFill>
                  <a:srgbClr val="333333"/>
                </a:solidFill>
                <a:effectLst/>
                <a:latin typeface="Open Sans" panose="020B0606030504020204" pitchFamily="34" charset="0"/>
              </a:rPr>
              <a:t>，</a:t>
            </a:r>
            <a:r>
              <a:rPr lang="en" altLang="zh-CN" sz="1800" b="0" i="0" u="none" strike="noStrike" dirty="0">
                <a:solidFill>
                  <a:srgbClr val="333333"/>
                </a:solidFill>
                <a:effectLst/>
                <a:latin typeface="Open Sans" panose="020B0606030504020204" pitchFamily="34" charset="0"/>
              </a:rPr>
              <a:t>google</a:t>
            </a:r>
            <a:r>
              <a:rPr lang="zh-CN" altLang="en-US" sz="1800" b="0" i="0" u="none" strike="noStrike">
                <a:solidFill>
                  <a:srgbClr val="333333"/>
                </a:solidFill>
                <a:effectLst/>
                <a:latin typeface="Open Sans" panose="020B0606030504020204" pitchFamily="34" charset="0"/>
              </a:rPr>
              <a:t>软编码支持最高为</a:t>
            </a:r>
            <a:r>
              <a:rPr lang="en-US" altLang="zh-CN" sz="1800" b="0" i="0" u="none" strike="noStrike" dirty="0">
                <a:solidFill>
                  <a:srgbClr val="333333"/>
                </a:solidFill>
                <a:effectLst/>
                <a:latin typeface="Open Sans" panose="020B0606030504020204" pitchFamily="34" charset="0"/>
              </a:rPr>
              <a:t>2048*2048</a:t>
            </a:r>
            <a:r>
              <a:rPr lang="zh-CN" altLang="en-US" sz="1800" b="0" i="0" u="none" strike="noStrike">
                <a:solidFill>
                  <a:srgbClr val="333333"/>
                </a:solidFill>
                <a:effectLst/>
                <a:latin typeface="Open Sans" panose="020B0606030504020204" pitchFamily="34" charset="0"/>
              </a:rPr>
              <a:t>。应该的是使用</a:t>
            </a:r>
            <a:r>
              <a:rPr lang="en-US" altLang="zh-CN" sz="1800" b="0" i="0" u="none" strike="noStrike" dirty="0">
                <a:solidFill>
                  <a:srgbClr val="333333"/>
                </a:solidFill>
                <a:effectLst/>
                <a:latin typeface="Open Sans" panose="020B0606030504020204" pitchFamily="34" charset="0"/>
              </a:rPr>
              <a:t>google</a:t>
            </a:r>
            <a:r>
              <a:rPr lang="zh-CN" altLang="en-US" sz="1800" b="0" i="0" u="none" strike="noStrike">
                <a:solidFill>
                  <a:srgbClr val="333333"/>
                </a:solidFill>
                <a:effectLst/>
                <a:latin typeface="Open Sans" panose="020B0606030504020204" pitchFamily="34" charset="0"/>
              </a:rPr>
              <a:t>软编码来执行了该编码业务，这点后来在日志中得到了证实。</a:t>
            </a:r>
            <a:endParaRPr lang="en-US" altLang="zh-CN" sz="1800" b="0" i="0" u="none" strike="noStrike" dirty="0">
              <a:solidFill>
                <a:srgbClr val="333333"/>
              </a:solidFill>
              <a:effectLst/>
              <a:latin typeface="Open Sans" panose="020B0606030504020204" pitchFamily="34" charset="0"/>
            </a:endParaRPr>
          </a:p>
        </p:txBody>
      </p:sp>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问题分析</a:t>
            </a:r>
          </a:p>
        </p:txBody>
      </p:sp>
      <p:sp>
        <p:nvSpPr>
          <p:cNvPr id="5" name="文本框 4">
            <a:extLst>
              <a:ext uri="{FF2B5EF4-FFF2-40B4-BE49-F238E27FC236}">
                <a16:creationId xmlns:a16="http://schemas.microsoft.com/office/drawing/2014/main" id="{97393F00-92CA-CFC8-F714-12C6E20FC52C}"/>
              </a:ext>
            </a:extLst>
          </p:cNvPr>
          <p:cNvSpPr txBox="1"/>
          <p:nvPr/>
        </p:nvSpPr>
        <p:spPr>
          <a:xfrm>
            <a:off x="341831" y="3035856"/>
            <a:ext cx="11503940" cy="1291379"/>
          </a:xfrm>
          <a:prstGeom prst="rect">
            <a:avLst/>
          </a:prstGeom>
          <a:noFill/>
        </p:spPr>
        <p:txBody>
          <a:bodyPr wrap="square" rtlCol="0">
            <a:spAutoFit/>
          </a:bodyPr>
          <a:lstStyle/>
          <a:p>
            <a:pPr>
              <a:lnSpc>
                <a:spcPct val="150000"/>
              </a:lnSpc>
            </a:pPr>
            <a:r>
              <a:rPr kumimoji="1" lang="zh-CN" altLang="en-US"/>
              <a:t>（</a:t>
            </a:r>
            <a:r>
              <a:rPr kumimoji="1" lang="en-US" altLang="zh-CN" dirty="0"/>
              <a:t>2</a:t>
            </a:r>
            <a:r>
              <a:rPr kumimoji="1" lang="zh-CN" altLang="en-US"/>
              <a:t>）为什么我们的软解分辨率比对比机的要低呢？查看我们设备的</a:t>
            </a:r>
            <a:r>
              <a:rPr kumimoji="1" lang="en" altLang="zh-CN" dirty="0"/>
              <a:t>google</a:t>
            </a:r>
            <a:r>
              <a:rPr kumimoji="1" lang="zh-CN" altLang="en-US"/>
              <a:t>软编码修改原因，发现是一笔涉及</a:t>
            </a:r>
            <a:r>
              <a:rPr kumimoji="1" lang="en" altLang="zh-CN" dirty="0"/>
              <a:t>VK</a:t>
            </a:r>
            <a:r>
              <a:rPr kumimoji="1" lang="zh-CN" altLang="en-US"/>
              <a:t>相机三方软件的修改，为了避免</a:t>
            </a:r>
            <a:r>
              <a:rPr kumimoji="1" lang="en" altLang="zh-CN" dirty="0"/>
              <a:t>VK</a:t>
            </a:r>
            <a:r>
              <a:rPr kumimoji="1" lang="zh-CN" altLang="en-US"/>
              <a:t>相机使用</a:t>
            </a:r>
            <a:r>
              <a:rPr kumimoji="1" lang="en-US" altLang="zh-CN" dirty="0"/>
              <a:t>google</a:t>
            </a:r>
            <a:r>
              <a:rPr kumimoji="1" lang="zh-CN" altLang="en-US"/>
              <a:t>软编导致相机预览卡顿问题而下调了</a:t>
            </a:r>
            <a:r>
              <a:rPr kumimoji="1" lang="en-US" altLang="zh-CN" dirty="0"/>
              <a:t>google</a:t>
            </a:r>
            <a:r>
              <a:rPr kumimoji="1" lang="zh-CN" altLang="en-US"/>
              <a:t>软编的最大支持分辨率。但是，目前</a:t>
            </a:r>
            <a:r>
              <a:rPr kumimoji="1" lang="en" altLang="zh-CN" dirty="0"/>
              <a:t>VK</a:t>
            </a:r>
            <a:r>
              <a:rPr kumimoji="1" lang="zh-CN" altLang="en-US"/>
              <a:t>相机已经通过软件升级的方式去直接走硬编实现，我们系统侧的方案已经可以回退。</a:t>
            </a:r>
          </a:p>
        </p:txBody>
      </p:sp>
      <p:sp>
        <p:nvSpPr>
          <p:cNvPr id="6" name="矩形 5">
            <a:extLst>
              <a:ext uri="{FF2B5EF4-FFF2-40B4-BE49-F238E27FC236}">
                <a16:creationId xmlns:a16="http://schemas.microsoft.com/office/drawing/2014/main" id="{D7A03382-7C57-1366-CE5D-507F72A5246A}"/>
              </a:ext>
            </a:extLst>
          </p:cNvPr>
          <p:cNvSpPr/>
          <p:nvPr/>
        </p:nvSpPr>
        <p:spPr>
          <a:xfrm>
            <a:off x="341831" y="4818073"/>
            <a:ext cx="11579551" cy="1290418"/>
          </a:xfrm>
          <a:prstGeom prst="rect">
            <a:avLst/>
          </a:prstGeom>
        </p:spPr>
        <p:txBody>
          <a:bodyPr wrap="square">
            <a:spAutoFit/>
          </a:bodyPr>
          <a:lstStyle/>
          <a:p>
            <a:pPr>
              <a:lnSpc>
                <a:spcPct val="150000"/>
              </a:lnSpc>
              <a:defRPr/>
            </a:pPr>
            <a:r>
              <a:rPr lang="zh-CN" altLang="en-US" sz="1800" b="0" i="0" u="none" strike="noStrike">
                <a:solidFill>
                  <a:srgbClr val="333333"/>
                </a:solidFill>
                <a:effectLst/>
                <a:latin typeface="Open Sans" panose="020B0606030504020204" pitchFamily="34" charset="0"/>
              </a:rPr>
              <a:t>（</a:t>
            </a:r>
            <a:r>
              <a:rPr lang="en-US" altLang="zh-CN" sz="1800" b="0" i="0" u="none" strike="noStrike" dirty="0">
                <a:solidFill>
                  <a:srgbClr val="333333"/>
                </a:solidFill>
                <a:effectLst/>
                <a:latin typeface="Open Sans" panose="020B0606030504020204" pitchFamily="34" charset="0"/>
              </a:rPr>
              <a:t>3</a:t>
            </a:r>
            <a:r>
              <a:rPr lang="zh-CN" altLang="en-US" sz="1800" b="0" i="0" u="none" strike="noStrike">
                <a:solidFill>
                  <a:srgbClr val="333333"/>
                </a:solidFill>
                <a:effectLst/>
                <a:latin typeface="Open Sans" panose="020B0606030504020204" pitchFamily="34" charset="0"/>
              </a:rPr>
              <a:t>）通过验证</a:t>
            </a:r>
            <a:r>
              <a:rPr lang="en" altLang="zh-CN" sz="1800" b="0" i="0" u="none" strike="noStrike" dirty="0">
                <a:solidFill>
                  <a:srgbClr val="333333"/>
                </a:solidFill>
                <a:effectLst/>
                <a:latin typeface="Open Sans" panose="020B0606030504020204" pitchFamily="34" charset="0"/>
              </a:rPr>
              <a:t>VK</a:t>
            </a:r>
            <a:r>
              <a:rPr lang="zh-CN" altLang="en-US" sz="1800" b="0" i="0" u="none" strike="noStrike">
                <a:solidFill>
                  <a:srgbClr val="333333"/>
                </a:solidFill>
                <a:effectLst/>
                <a:latin typeface="Open Sans" panose="020B0606030504020204" pitchFamily="34" charset="0"/>
              </a:rPr>
              <a:t>最新版软件已经修复了问题，明确了该笔代码可以回退的可能性。接下来验证将软解分辨率回退后是否可以修复当前问题。通过小包验证，将软编分辨率回退到</a:t>
            </a:r>
            <a:r>
              <a:rPr lang="en-US" altLang="zh-CN" sz="1800" b="0" i="0" u="none" strike="noStrike" dirty="0">
                <a:solidFill>
                  <a:srgbClr val="333333"/>
                </a:solidFill>
                <a:effectLst/>
                <a:latin typeface="Open Sans" panose="020B0606030504020204" pitchFamily="34" charset="0"/>
              </a:rPr>
              <a:t>2048*2048</a:t>
            </a:r>
            <a:r>
              <a:rPr lang="zh-CN" altLang="en-US" sz="1800" b="0" i="0" u="none" strike="noStrike">
                <a:solidFill>
                  <a:srgbClr val="333333"/>
                </a:solidFill>
                <a:effectLst/>
                <a:latin typeface="Open Sans" panose="020B0606030504020204" pitchFamily="34" charset="0"/>
              </a:rPr>
              <a:t>后，该问题依然是必现的，问题没有得到解决。说明当前编码失败原因并非是软编的分辨率不够导致的。</a:t>
            </a:r>
          </a:p>
        </p:txBody>
      </p:sp>
      <p:sp>
        <p:nvSpPr>
          <p:cNvPr id="9" name="文本框 8">
            <a:extLst>
              <a:ext uri="{FF2B5EF4-FFF2-40B4-BE49-F238E27FC236}">
                <a16:creationId xmlns:a16="http://schemas.microsoft.com/office/drawing/2014/main" id="{1874F23C-A657-7A55-317D-497269E3FA08}"/>
              </a:ext>
            </a:extLst>
          </p:cNvPr>
          <p:cNvSpPr txBox="1"/>
          <p:nvPr/>
        </p:nvSpPr>
        <p:spPr>
          <a:xfrm>
            <a:off x="304026" y="749509"/>
            <a:ext cx="6097424" cy="460382"/>
          </a:xfrm>
          <a:prstGeom prst="rect">
            <a:avLst/>
          </a:prstGeom>
          <a:noFill/>
        </p:spPr>
        <p:txBody>
          <a:bodyPr wrap="square">
            <a:spAutoFit/>
          </a:bodyPr>
          <a:lstStyle/>
          <a:p>
            <a:pPr>
              <a:lnSpc>
                <a:spcPct val="150000"/>
              </a:lnSpc>
              <a:defRPr/>
            </a:pPr>
            <a:r>
              <a:rPr kumimoji="1" lang="zh-CN" altLang="en-US"/>
              <a:t>同芯片的对比机为什么可以正常视频编码分享？</a:t>
            </a:r>
            <a:endParaRPr kumimoji="1" lang="en-US" altLang="zh-CN" dirty="0"/>
          </a:p>
        </p:txBody>
      </p:sp>
    </p:spTree>
    <p:extLst>
      <p:ext uri="{BB962C8B-B14F-4D97-AF65-F5344CB8AC3E}">
        <p14:creationId xmlns:p14="http://schemas.microsoft.com/office/powerpoint/2010/main" val="35027887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问题分析</a:t>
            </a:r>
          </a:p>
        </p:txBody>
      </p:sp>
      <p:sp>
        <p:nvSpPr>
          <p:cNvPr id="7" name="文本框 6">
            <a:extLst>
              <a:ext uri="{FF2B5EF4-FFF2-40B4-BE49-F238E27FC236}">
                <a16:creationId xmlns:a16="http://schemas.microsoft.com/office/drawing/2014/main" id="{3C214415-8F1D-E486-40EA-6F269589AC1B}"/>
              </a:ext>
            </a:extLst>
          </p:cNvPr>
          <p:cNvSpPr txBox="1"/>
          <p:nvPr/>
        </p:nvSpPr>
        <p:spPr>
          <a:xfrm>
            <a:off x="349075" y="640569"/>
            <a:ext cx="11579550" cy="874920"/>
          </a:xfrm>
          <a:prstGeom prst="rect">
            <a:avLst/>
          </a:prstGeom>
          <a:noFill/>
        </p:spPr>
        <p:txBody>
          <a:bodyPr wrap="square">
            <a:spAutoFit/>
          </a:bodyPr>
          <a:lstStyle/>
          <a:p>
            <a:pPr algn="l">
              <a:lnSpc>
                <a:spcPct val="150000"/>
              </a:lnSpc>
            </a:pPr>
            <a:r>
              <a:rPr lang="zh-CN" altLang="en-US" sz="1800" b="0" i="0" u="none" strike="noStrike">
                <a:solidFill>
                  <a:srgbClr val="333333"/>
                </a:solidFill>
                <a:effectLst/>
                <a:latin typeface="Open Sans" panose="020B0606030504020204" pitchFamily="34" charset="0"/>
              </a:rPr>
              <a:t>（</a:t>
            </a:r>
            <a:r>
              <a:rPr lang="en-US" altLang="zh-CN" sz="1800" b="0" i="0" u="none" strike="noStrike" dirty="0">
                <a:solidFill>
                  <a:srgbClr val="333333"/>
                </a:solidFill>
                <a:effectLst/>
                <a:latin typeface="Open Sans" panose="020B0606030504020204" pitchFamily="34" charset="0"/>
              </a:rPr>
              <a:t>4</a:t>
            </a:r>
            <a:r>
              <a:rPr lang="zh-CN" altLang="en-US" sz="1800" b="0" i="0" u="none" strike="noStrike">
                <a:solidFill>
                  <a:srgbClr val="333333"/>
                </a:solidFill>
                <a:effectLst/>
                <a:latin typeface="Open Sans" panose="020B0606030504020204" pitchFamily="34" charset="0"/>
              </a:rPr>
              <a:t>）继续抓取最新错误日志分析，发现系统在尝试使用硬编失败后，并没有切换到软编来继续执行业务。继续深入分析编码流程后发现，当前的系统框架层不支持将硬编切换到软编，只能是硬解切换软解。</a:t>
            </a:r>
          </a:p>
        </p:txBody>
      </p:sp>
      <p:sp>
        <p:nvSpPr>
          <p:cNvPr id="5" name="文本框 4">
            <a:extLst>
              <a:ext uri="{FF2B5EF4-FFF2-40B4-BE49-F238E27FC236}">
                <a16:creationId xmlns:a16="http://schemas.microsoft.com/office/drawing/2014/main" id="{E31C7BA7-9691-4677-161B-526A0221917E}"/>
              </a:ext>
            </a:extLst>
          </p:cNvPr>
          <p:cNvSpPr txBox="1"/>
          <p:nvPr/>
        </p:nvSpPr>
        <p:spPr>
          <a:xfrm>
            <a:off x="7127193" y="4908561"/>
            <a:ext cx="4578996" cy="1706878"/>
          </a:xfrm>
          <a:prstGeom prst="rect">
            <a:avLst/>
          </a:prstGeom>
          <a:noFill/>
        </p:spPr>
        <p:txBody>
          <a:bodyPr wrap="square">
            <a:spAutoFit/>
          </a:bodyPr>
          <a:lstStyle/>
          <a:p>
            <a:pPr>
              <a:lnSpc>
                <a:spcPct val="150000"/>
              </a:lnSpc>
            </a:pPr>
            <a:r>
              <a:rPr lang="zh-CN" altLang="en-US" sz="1800" b="0" i="0" u="none" strike="noStrike">
                <a:solidFill>
                  <a:srgbClr val="333333"/>
                </a:solidFill>
                <a:effectLst/>
                <a:latin typeface="Open Sans" panose="020B0606030504020204" pitchFamily="34" charset="0"/>
              </a:rPr>
              <a:t>通过询问该代码的修改者后得知，因为功能上以及性能上的设计原因，不使用硬编切换软编。最后一致认为还是保持当前功能上的特性。</a:t>
            </a:r>
            <a:endParaRPr lang="zh-CN" altLang="en-US"/>
          </a:p>
        </p:txBody>
      </p:sp>
      <p:pic>
        <p:nvPicPr>
          <p:cNvPr id="3" name="图片 2">
            <a:extLst>
              <a:ext uri="{FF2B5EF4-FFF2-40B4-BE49-F238E27FC236}">
                <a16:creationId xmlns:a16="http://schemas.microsoft.com/office/drawing/2014/main" id="{097E0F9F-7962-DB08-C357-166A0CBD4FB6}"/>
              </a:ext>
            </a:extLst>
          </p:cNvPr>
          <p:cNvPicPr>
            <a:picLocks noChangeAspect="1"/>
          </p:cNvPicPr>
          <p:nvPr/>
        </p:nvPicPr>
        <p:blipFill>
          <a:blip r:embed="rId2"/>
          <a:stretch>
            <a:fillRect/>
          </a:stretch>
        </p:blipFill>
        <p:spPr>
          <a:xfrm>
            <a:off x="726392" y="1533631"/>
            <a:ext cx="6155946" cy="4829391"/>
          </a:xfrm>
          <a:prstGeom prst="rect">
            <a:avLst/>
          </a:prstGeom>
        </p:spPr>
      </p:pic>
      <p:sp>
        <p:nvSpPr>
          <p:cNvPr id="9" name="右箭头 8">
            <a:extLst>
              <a:ext uri="{FF2B5EF4-FFF2-40B4-BE49-F238E27FC236}">
                <a16:creationId xmlns:a16="http://schemas.microsoft.com/office/drawing/2014/main" id="{FE59DCB1-24D9-AB77-C4BA-64653323BE8B}"/>
              </a:ext>
            </a:extLst>
          </p:cNvPr>
          <p:cNvSpPr/>
          <p:nvPr/>
        </p:nvSpPr>
        <p:spPr>
          <a:xfrm rot="19723059">
            <a:off x="5420819" y="3756045"/>
            <a:ext cx="1732464" cy="3845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6" name="图片 5">
            <a:extLst>
              <a:ext uri="{FF2B5EF4-FFF2-40B4-BE49-F238E27FC236}">
                <a16:creationId xmlns:a16="http://schemas.microsoft.com/office/drawing/2014/main" id="{CBDC9F4A-FC98-1851-848F-EA2B9C118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7989" y="1515489"/>
            <a:ext cx="4648200" cy="3175000"/>
          </a:xfrm>
          <a:prstGeom prst="rect">
            <a:avLst/>
          </a:prstGeom>
        </p:spPr>
      </p:pic>
    </p:spTree>
    <p:extLst>
      <p:ext uri="{BB962C8B-B14F-4D97-AF65-F5344CB8AC3E}">
        <p14:creationId xmlns:p14="http://schemas.microsoft.com/office/powerpoint/2010/main" val="9803279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问题分析</a:t>
            </a:r>
          </a:p>
        </p:txBody>
      </p:sp>
      <p:sp>
        <p:nvSpPr>
          <p:cNvPr id="7" name="文本框 6">
            <a:extLst>
              <a:ext uri="{FF2B5EF4-FFF2-40B4-BE49-F238E27FC236}">
                <a16:creationId xmlns:a16="http://schemas.microsoft.com/office/drawing/2014/main" id="{3C214415-8F1D-E486-40EA-6F269589AC1B}"/>
              </a:ext>
            </a:extLst>
          </p:cNvPr>
          <p:cNvSpPr txBox="1"/>
          <p:nvPr/>
        </p:nvSpPr>
        <p:spPr>
          <a:xfrm>
            <a:off x="417443" y="640569"/>
            <a:ext cx="11579550" cy="874920"/>
          </a:xfrm>
          <a:prstGeom prst="rect">
            <a:avLst/>
          </a:prstGeom>
          <a:noFill/>
        </p:spPr>
        <p:txBody>
          <a:bodyPr wrap="square">
            <a:spAutoFit/>
          </a:bodyPr>
          <a:lstStyle/>
          <a:p>
            <a:pPr algn="l">
              <a:lnSpc>
                <a:spcPct val="150000"/>
              </a:lnSpc>
            </a:pPr>
            <a:r>
              <a:rPr lang="zh-CN" altLang="en-US" sz="1800" b="0" i="0" u="none" strike="noStrike">
                <a:solidFill>
                  <a:srgbClr val="333333"/>
                </a:solidFill>
                <a:effectLst/>
                <a:latin typeface="Open Sans" panose="020B0606030504020204" pitchFamily="34" charset="0"/>
              </a:rPr>
              <a:t>对比机中发起的编码分辨率和</a:t>
            </a:r>
            <a:r>
              <a:rPr lang="en-US" altLang="zh-CN" sz="1800" b="0" i="0" u="none" strike="noStrike">
                <a:solidFill>
                  <a:srgbClr val="333333"/>
                </a:solidFill>
                <a:effectLst/>
                <a:latin typeface="Open Sans" panose="020B0606030504020204" pitchFamily="34" charset="0"/>
              </a:rPr>
              <a:t>P258</a:t>
            </a:r>
            <a:r>
              <a:rPr lang="zh-CN" altLang="en-US" sz="1800" b="0" i="0" u="none" strike="noStrike">
                <a:solidFill>
                  <a:srgbClr val="333333"/>
                </a:solidFill>
                <a:effectLst/>
                <a:latin typeface="Open Sans" panose="020B0606030504020204" pitchFamily="34" charset="0"/>
              </a:rPr>
              <a:t>机器发起的有差异。为什么应用会发起这种分辨率的视频编码？这并非个例，历史问题“逆水寒”游戏录屏中也存在相同的问题。</a:t>
            </a:r>
          </a:p>
        </p:txBody>
      </p:sp>
      <p:sp>
        <p:nvSpPr>
          <p:cNvPr id="3" name="文本框 2">
            <a:extLst>
              <a:ext uri="{FF2B5EF4-FFF2-40B4-BE49-F238E27FC236}">
                <a16:creationId xmlns:a16="http://schemas.microsoft.com/office/drawing/2014/main" id="{793D06AF-FA7A-5F5A-1121-F0920BEF3A85}"/>
              </a:ext>
            </a:extLst>
          </p:cNvPr>
          <p:cNvSpPr txBox="1"/>
          <p:nvPr/>
        </p:nvSpPr>
        <p:spPr>
          <a:xfrm>
            <a:off x="417443" y="5515830"/>
            <a:ext cx="11579549" cy="1290418"/>
          </a:xfrm>
          <a:prstGeom prst="rect">
            <a:avLst/>
          </a:prstGeom>
          <a:noFill/>
        </p:spPr>
        <p:txBody>
          <a:bodyPr wrap="square">
            <a:spAutoFit/>
          </a:bodyPr>
          <a:lstStyle/>
          <a:p>
            <a:pPr algn="l">
              <a:lnSpc>
                <a:spcPct val="150000"/>
              </a:lnSpc>
            </a:pPr>
            <a:r>
              <a:rPr lang="zh-CN" altLang="en-US" sz="1800" b="0" i="0" u="none" strike="noStrike">
                <a:solidFill>
                  <a:srgbClr val="333333"/>
                </a:solidFill>
                <a:effectLst/>
                <a:latin typeface="Open Sans" panose="020B0606030504020204" pitchFamily="34" charset="0"/>
              </a:rPr>
              <a:t>通过对比两者的屏幕尺寸来看，我们猜测，应用将</a:t>
            </a:r>
            <a:r>
              <a:rPr lang="en-US" altLang="zh-CN" sz="1800" b="0" i="0" u="none" strike="noStrike" dirty="0">
                <a:solidFill>
                  <a:srgbClr val="333333"/>
                </a:solidFill>
                <a:effectLst/>
                <a:latin typeface="Open Sans" panose="020B0606030504020204" pitchFamily="34" charset="0"/>
              </a:rPr>
              <a:t>1920</a:t>
            </a:r>
            <a:r>
              <a:rPr lang="zh-CN" altLang="en-US" sz="1800" b="0" i="0" u="none" strike="noStrike">
                <a:solidFill>
                  <a:srgbClr val="333333"/>
                </a:solidFill>
                <a:effectLst/>
                <a:latin typeface="Open Sans" panose="020B0606030504020204" pitchFamily="34" charset="0"/>
              </a:rPr>
              <a:t>作为编码分辨率中的宽，然后根据屏幕的分辨率等比例放缩得到高。这种只以宽作为参考的放缩方法显然没能考虑最终的设备编码能力支持，如果是通过参考高去放缩宽就可以解决该问题。</a:t>
            </a:r>
          </a:p>
        </p:txBody>
      </p:sp>
      <p:pic>
        <p:nvPicPr>
          <p:cNvPr id="2" name="图片 1">
            <a:extLst>
              <a:ext uri="{FF2B5EF4-FFF2-40B4-BE49-F238E27FC236}">
                <a16:creationId xmlns:a16="http://schemas.microsoft.com/office/drawing/2014/main" id="{C32A4D3D-43F9-03DB-BB07-8FEEB7F5AE85}"/>
              </a:ext>
            </a:extLst>
          </p:cNvPr>
          <p:cNvPicPr>
            <a:picLocks noChangeAspect="1"/>
          </p:cNvPicPr>
          <p:nvPr/>
        </p:nvPicPr>
        <p:blipFill>
          <a:blip r:embed="rId2"/>
          <a:stretch>
            <a:fillRect/>
          </a:stretch>
        </p:blipFill>
        <p:spPr>
          <a:xfrm>
            <a:off x="883528" y="1731587"/>
            <a:ext cx="10424943" cy="1242350"/>
          </a:xfrm>
          <a:prstGeom prst="rect">
            <a:avLst/>
          </a:prstGeom>
        </p:spPr>
      </p:pic>
      <p:sp>
        <p:nvSpPr>
          <p:cNvPr id="5" name="文本框 4">
            <a:extLst>
              <a:ext uri="{FF2B5EF4-FFF2-40B4-BE49-F238E27FC236}">
                <a16:creationId xmlns:a16="http://schemas.microsoft.com/office/drawing/2014/main" id="{57B4A0F7-E2B9-773B-2170-E4FC4B95DE9A}"/>
              </a:ext>
            </a:extLst>
          </p:cNvPr>
          <p:cNvSpPr txBox="1"/>
          <p:nvPr/>
        </p:nvSpPr>
        <p:spPr>
          <a:xfrm>
            <a:off x="2122669" y="3393303"/>
            <a:ext cx="652743" cy="369332"/>
          </a:xfrm>
          <a:prstGeom prst="rect">
            <a:avLst/>
          </a:prstGeom>
          <a:noFill/>
        </p:spPr>
        <p:txBody>
          <a:bodyPr wrap="none" rtlCol="0">
            <a:spAutoFit/>
          </a:bodyPr>
          <a:lstStyle/>
          <a:p>
            <a:r>
              <a:rPr kumimoji="1" lang="en-US" altLang="zh-CN" dirty="0"/>
              <a:t>2000</a:t>
            </a:r>
            <a:endParaRPr kumimoji="1" lang="zh-CN" altLang="en-US"/>
          </a:p>
        </p:txBody>
      </p:sp>
      <p:sp>
        <p:nvSpPr>
          <p:cNvPr id="6" name="文本框 5">
            <a:extLst>
              <a:ext uri="{FF2B5EF4-FFF2-40B4-BE49-F238E27FC236}">
                <a16:creationId xmlns:a16="http://schemas.microsoft.com/office/drawing/2014/main" id="{BE5BE6EB-0092-DD63-BA2F-D3378E48EA91}"/>
              </a:ext>
            </a:extLst>
          </p:cNvPr>
          <p:cNvSpPr txBox="1"/>
          <p:nvPr/>
        </p:nvSpPr>
        <p:spPr>
          <a:xfrm>
            <a:off x="3262846" y="3399199"/>
            <a:ext cx="652743" cy="369332"/>
          </a:xfrm>
          <a:prstGeom prst="rect">
            <a:avLst/>
          </a:prstGeom>
          <a:noFill/>
        </p:spPr>
        <p:txBody>
          <a:bodyPr wrap="none" rtlCol="0">
            <a:spAutoFit/>
          </a:bodyPr>
          <a:lstStyle/>
          <a:p>
            <a:r>
              <a:rPr kumimoji="1" lang="en-US" altLang="zh-CN" dirty="0"/>
              <a:t>1200</a:t>
            </a:r>
            <a:endParaRPr kumimoji="1" lang="zh-CN" altLang="en-US"/>
          </a:p>
        </p:txBody>
      </p:sp>
      <p:sp>
        <p:nvSpPr>
          <p:cNvPr id="8" name="文本框 7">
            <a:extLst>
              <a:ext uri="{FF2B5EF4-FFF2-40B4-BE49-F238E27FC236}">
                <a16:creationId xmlns:a16="http://schemas.microsoft.com/office/drawing/2014/main" id="{46978A96-A981-24CE-124F-DB6B5281BCBE}"/>
              </a:ext>
            </a:extLst>
          </p:cNvPr>
          <p:cNvSpPr txBox="1"/>
          <p:nvPr/>
        </p:nvSpPr>
        <p:spPr>
          <a:xfrm>
            <a:off x="2122669" y="3875768"/>
            <a:ext cx="652743" cy="369332"/>
          </a:xfrm>
          <a:prstGeom prst="rect">
            <a:avLst/>
          </a:prstGeom>
          <a:noFill/>
        </p:spPr>
        <p:txBody>
          <a:bodyPr wrap="none" rtlCol="0">
            <a:spAutoFit/>
          </a:bodyPr>
          <a:lstStyle/>
          <a:p>
            <a:r>
              <a:rPr kumimoji="1" lang="en-US" altLang="zh-CN" dirty="0"/>
              <a:t>1920</a:t>
            </a:r>
            <a:endParaRPr kumimoji="1" lang="zh-CN" altLang="en-US"/>
          </a:p>
        </p:txBody>
      </p:sp>
      <p:sp>
        <p:nvSpPr>
          <p:cNvPr id="9" name="文本框 8">
            <a:extLst>
              <a:ext uri="{FF2B5EF4-FFF2-40B4-BE49-F238E27FC236}">
                <a16:creationId xmlns:a16="http://schemas.microsoft.com/office/drawing/2014/main" id="{AC28317B-8CF8-4BA0-3999-B8B23C111875}"/>
              </a:ext>
            </a:extLst>
          </p:cNvPr>
          <p:cNvSpPr txBox="1"/>
          <p:nvPr/>
        </p:nvSpPr>
        <p:spPr>
          <a:xfrm>
            <a:off x="3270861" y="3875768"/>
            <a:ext cx="652743" cy="369332"/>
          </a:xfrm>
          <a:prstGeom prst="rect">
            <a:avLst/>
          </a:prstGeom>
          <a:noFill/>
        </p:spPr>
        <p:txBody>
          <a:bodyPr wrap="none" rtlCol="0">
            <a:spAutoFit/>
          </a:bodyPr>
          <a:lstStyle/>
          <a:p>
            <a:r>
              <a:rPr kumimoji="1" lang="en-US" altLang="zh-CN" dirty="0"/>
              <a:t>1152</a:t>
            </a:r>
            <a:endParaRPr kumimoji="1" lang="zh-CN" altLang="en-US"/>
          </a:p>
        </p:txBody>
      </p:sp>
      <p:sp>
        <p:nvSpPr>
          <p:cNvPr id="12" name="文本框 11">
            <a:extLst>
              <a:ext uri="{FF2B5EF4-FFF2-40B4-BE49-F238E27FC236}">
                <a16:creationId xmlns:a16="http://schemas.microsoft.com/office/drawing/2014/main" id="{ABEA56F6-45D9-8394-DE22-585079B6B511}"/>
              </a:ext>
            </a:extLst>
          </p:cNvPr>
          <p:cNvSpPr txBox="1"/>
          <p:nvPr/>
        </p:nvSpPr>
        <p:spPr>
          <a:xfrm>
            <a:off x="1139264" y="3598527"/>
            <a:ext cx="654346" cy="369332"/>
          </a:xfrm>
          <a:prstGeom prst="rect">
            <a:avLst/>
          </a:prstGeom>
          <a:noFill/>
        </p:spPr>
        <p:txBody>
          <a:bodyPr wrap="none" rtlCol="0">
            <a:spAutoFit/>
          </a:bodyPr>
          <a:lstStyle/>
          <a:p>
            <a:r>
              <a:rPr kumimoji="1" lang="en-US" altLang="zh-CN" dirty="0"/>
              <a:t>P258</a:t>
            </a:r>
            <a:endParaRPr kumimoji="1" lang="zh-CN" altLang="en-US"/>
          </a:p>
        </p:txBody>
      </p:sp>
      <p:sp>
        <p:nvSpPr>
          <p:cNvPr id="13" name="文本框 12">
            <a:extLst>
              <a:ext uri="{FF2B5EF4-FFF2-40B4-BE49-F238E27FC236}">
                <a16:creationId xmlns:a16="http://schemas.microsoft.com/office/drawing/2014/main" id="{8D6C8D51-AEEE-EF01-916B-002A3AF99A0D}"/>
              </a:ext>
            </a:extLst>
          </p:cNvPr>
          <p:cNvSpPr txBox="1"/>
          <p:nvPr/>
        </p:nvSpPr>
        <p:spPr>
          <a:xfrm>
            <a:off x="1031862" y="4646178"/>
            <a:ext cx="869149" cy="369332"/>
          </a:xfrm>
          <a:prstGeom prst="rect">
            <a:avLst/>
          </a:prstGeom>
          <a:noFill/>
        </p:spPr>
        <p:txBody>
          <a:bodyPr wrap="none" rtlCol="0">
            <a:spAutoFit/>
          </a:bodyPr>
          <a:lstStyle/>
          <a:p>
            <a:r>
              <a:rPr kumimoji="1" lang="zh-CN" altLang="en-US"/>
              <a:t>对比机</a:t>
            </a:r>
          </a:p>
        </p:txBody>
      </p:sp>
      <p:sp>
        <p:nvSpPr>
          <p:cNvPr id="14" name="文本框 13">
            <a:extLst>
              <a:ext uri="{FF2B5EF4-FFF2-40B4-BE49-F238E27FC236}">
                <a16:creationId xmlns:a16="http://schemas.microsoft.com/office/drawing/2014/main" id="{ABA795DF-0685-4536-4139-5FF6E7B94D63}"/>
              </a:ext>
            </a:extLst>
          </p:cNvPr>
          <p:cNvSpPr txBox="1"/>
          <p:nvPr/>
        </p:nvSpPr>
        <p:spPr>
          <a:xfrm>
            <a:off x="2122669" y="4480450"/>
            <a:ext cx="652743" cy="369332"/>
          </a:xfrm>
          <a:prstGeom prst="rect">
            <a:avLst/>
          </a:prstGeom>
          <a:noFill/>
        </p:spPr>
        <p:txBody>
          <a:bodyPr wrap="none" rtlCol="0">
            <a:spAutoFit/>
          </a:bodyPr>
          <a:lstStyle/>
          <a:p>
            <a:r>
              <a:rPr kumimoji="1" lang="en-US" altLang="zh-CN" dirty="0"/>
              <a:t>1920</a:t>
            </a:r>
            <a:endParaRPr kumimoji="1" lang="zh-CN" altLang="en-US"/>
          </a:p>
        </p:txBody>
      </p:sp>
      <p:sp>
        <p:nvSpPr>
          <p:cNvPr id="15" name="文本框 14">
            <a:extLst>
              <a:ext uri="{FF2B5EF4-FFF2-40B4-BE49-F238E27FC236}">
                <a16:creationId xmlns:a16="http://schemas.microsoft.com/office/drawing/2014/main" id="{BB7F13A9-FE38-2B97-B11E-4D75407C795C}"/>
              </a:ext>
            </a:extLst>
          </p:cNvPr>
          <p:cNvSpPr txBox="1"/>
          <p:nvPr/>
        </p:nvSpPr>
        <p:spPr>
          <a:xfrm>
            <a:off x="3262846" y="4483701"/>
            <a:ext cx="652743" cy="369332"/>
          </a:xfrm>
          <a:prstGeom prst="rect">
            <a:avLst/>
          </a:prstGeom>
          <a:noFill/>
        </p:spPr>
        <p:txBody>
          <a:bodyPr wrap="none" rtlCol="0">
            <a:spAutoFit/>
          </a:bodyPr>
          <a:lstStyle/>
          <a:p>
            <a:r>
              <a:rPr kumimoji="1" lang="en-US" altLang="zh-CN" dirty="0"/>
              <a:t>1200</a:t>
            </a:r>
            <a:endParaRPr kumimoji="1" lang="zh-CN" altLang="en-US"/>
          </a:p>
        </p:txBody>
      </p:sp>
      <p:sp>
        <p:nvSpPr>
          <p:cNvPr id="16" name="文本框 15">
            <a:extLst>
              <a:ext uri="{FF2B5EF4-FFF2-40B4-BE49-F238E27FC236}">
                <a16:creationId xmlns:a16="http://schemas.microsoft.com/office/drawing/2014/main" id="{F6A5F875-34FF-0335-B5C8-03D56AA270A7}"/>
              </a:ext>
            </a:extLst>
          </p:cNvPr>
          <p:cNvSpPr txBox="1"/>
          <p:nvPr/>
        </p:nvSpPr>
        <p:spPr>
          <a:xfrm>
            <a:off x="2112485" y="4928670"/>
            <a:ext cx="652743" cy="369332"/>
          </a:xfrm>
          <a:prstGeom prst="rect">
            <a:avLst/>
          </a:prstGeom>
          <a:noFill/>
        </p:spPr>
        <p:txBody>
          <a:bodyPr wrap="none" rtlCol="0">
            <a:spAutoFit/>
          </a:bodyPr>
          <a:lstStyle/>
          <a:p>
            <a:r>
              <a:rPr kumimoji="1" lang="en-US" altLang="zh-CN" dirty="0"/>
              <a:t>1920</a:t>
            </a:r>
            <a:endParaRPr kumimoji="1" lang="zh-CN" altLang="en-US"/>
          </a:p>
        </p:txBody>
      </p:sp>
      <p:sp>
        <p:nvSpPr>
          <p:cNvPr id="17" name="文本框 16">
            <a:extLst>
              <a:ext uri="{FF2B5EF4-FFF2-40B4-BE49-F238E27FC236}">
                <a16:creationId xmlns:a16="http://schemas.microsoft.com/office/drawing/2014/main" id="{A4E3A250-B926-2631-F3B9-A982D3D092C9}"/>
              </a:ext>
            </a:extLst>
          </p:cNvPr>
          <p:cNvSpPr txBox="1"/>
          <p:nvPr/>
        </p:nvSpPr>
        <p:spPr>
          <a:xfrm>
            <a:off x="3268146" y="4928670"/>
            <a:ext cx="652743" cy="369332"/>
          </a:xfrm>
          <a:prstGeom prst="rect">
            <a:avLst/>
          </a:prstGeom>
          <a:noFill/>
        </p:spPr>
        <p:txBody>
          <a:bodyPr wrap="none" rtlCol="0">
            <a:spAutoFit/>
          </a:bodyPr>
          <a:lstStyle/>
          <a:p>
            <a:r>
              <a:rPr kumimoji="1" lang="en-US" altLang="zh-CN" dirty="0"/>
              <a:t>1200</a:t>
            </a:r>
            <a:endParaRPr kumimoji="1" lang="zh-CN" altLang="en-US"/>
          </a:p>
        </p:txBody>
      </p:sp>
      <p:sp>
        <p:nvSpPr>
          <p:cNvPr id="21" name="手杖形箭头 20">
            <a:extLst>
              <a:ext uri="{FF2B5EF4-FFF2-40B4-BE49-F238E27FC236}">
                <a16:creationId xmlns:a16="http://schemas.microsoft.com/office/drawing/2014/main" id="{9E381F2E-295E-B2D7-56A4-1FDAEEEBACAA}"/>
              </a:ext>
            </a:extLst>
          </p:cNvPr>
          <p:cNvSpPr/>
          <p:nvPr/>
        </p:nvSpPr>
        <p:spPr>
          <a:xfrm rot="5400000">
            <a:off x="3785351" y="4758367"/>
            <a:ext cx="550625" cy="290150"/>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2" name="文本框 21">
            <a:extLst>
              <a:ext uri="{FF2B5EF4-FFF2-40B4-BE49-F238E27FC236}">
                <a16:creationId xmlns:a16="http://schemas.microsoft.com/office/drawing/2014/main" id="{2804F20D-7590-79C1-B53C-056537CE1ECB}"/>
              </a:ext>
            </a:extLst>
          </p:cNvPr>
          <p:cNvSpPr txBox="1"/>
          <p:nvPr/>
        </p:nvSpPr>
        <p:spPr>
          <a:xfrm>
            <a:off x="4246324" y="4695799"/>
            <a:ext cx="1338828" cy="369332"/>
          </a:xfrm>
          <a:prstGeom prst="rect">
            <a:avLst/>
          </a:prstGeom>
          <a:noFill/>
        </p:spPr>
        <p:txBody>
          <a:bodyPr wrap="none" rtlCol="0">
            <a:spAutoFit/>
          </a:bodyPr>
          <a:lstStyle/>
          <a:p>
            <a:r>
              <a:rPr kumimoji="1" lang="zh-CN" altLang="en-US"/>
              <a:t>等比例不变</a:t>
            </a:r>
          </a:p>
        </p:txBody>
      </p:sp>
      <p:sp>
        <p:nvSpPr>
          <p:cNvPr id="23" name="手杖形箭头 22">
            <a:extLst>
              <a:ext uri="{FF2B5EF4-FFF2-40B4-BE49-F238E27FC236}">
                <a16:creationId xmlns:a16="http://schemas.microsoft.com/office/drawing/2014/main" id="{2D6F3977-359A-3B0D-4C88-5404DB17FAE9}"/>
              </a:ext>
            </a:extLst>
          </p:cNvPr>
          <p:cNvSpPr/>
          <p:nvPr/>
        </p:nvSpPr>
        <p:spPr>
          <a:xfrm rot="5400000">
            <a:off x="3785351" y="3704639"/>
            <a:ext cx="550625" cy="290150"/>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文本框 23">
            <a:extLst>
              <a:ext uri="{FF2B5EF4-FFF2-40B4-BE49-F238E27FC236}">
                <a16:creationId xmlns:a16="http://schemas.microsoft.com/office/drawing/2014/main" id="{C0B33159-8AFD-9D39-9FA1-0D0AC90C7F03}"/>
              </a:ext>
            </a:extLst>
          </p:cNvPr>
          <p:cNvSpPr txBox="1"/>
          <p:nvPr/>
        </p:nvSpPr>
        <p:spPr>
          <a:xfrm>
            <a:off x="4246324" y="3642071"/>
            <a:ext cx="1338828" cy="369332"/>
          </a:xfrm>
          <a:prstGeom prst="rect">
            <a:avLst/>
          </a:prstGeom>
          <a:noFill/>
        </p:spPr>
        <p:txBody>
          <a:bodyPr wrap="none" rtlCol="0">
            <a:spAutoFit/>
          </a:bodyPr>
          <a:lstStyle/>
          <a:p>
            <a:r>
              <a:rPr kumimoji="1" lang="zh-CN" altLang="en-US"/>
              <a:t>等比例放缩</a:t>
            </a:r>
          </a:p>
        </p:txBody>
      </p:sp>
      <p:sp>
        <p:nvSpPr>
          <p:cNvPr id="25" name="文本框 24">
            <a:extLst>
              <a:ext uri="{FF2B5EF4-FFF2-40B4-BE49-F238E27FC236}">
                <a16:creationId xmlns:a16="http://schemas.microsoft.com/office/drawing/2014/main" id="{9EB18BE9-8532-2606-9478-5F9E6E6EEA6F}"/>
              </a:ext>
            </a:extLst>
          </p:cNvPr>
          <p:cNvSpPr txBox="1"/>
          <p:nvPr/>
        </p:nvSpPr>
        <p:spPr>
          <a:xfrm>
            <a:off x="7933889" y="3393303"/>
            <a:ext cx="652743" cy="369332"/>
          </a:xfrm>
          <a:prstGeom prst="rect">
            <a:avLst/>
          </a:prstGeom>
          <a:noFill/>
        </p:spPr>
        <p:txBody>
          <a:bodyPr wrap="none" rtlCol="0">
            <a:spAutoFit/>
          </a:bodyPr>
          <a:lstStyle/>
          <a:p>
            <a:r>
              <a:rPr kumimoji="1" lang="en-US" altLang="zh-CN" dirty="0"/>
              <a:t>2000</a:t>
            </a:r>
            <a:endParaRPr kumimoji="1" lang="zh-CN" altLang="en-US"/>
          </a:p>
        </p:txBody>
      </p:sp>
      <p:sp>
        <p:nvSpPr>
          <p:cNvPr id="26" name="文本框 25">
            <a:extLst>
              <a:ext uri="{FF2B5EF4-FFF2-40B4-BE49-F238E27FC236}">
                <a16:creationId xmlns:a16="http://schemas.microsoft.com/office/drawing/2014/main" id="{3C395DB9-08B0-6BAC-13CA-A3CADFC58012}"/>
              </a:ext>
            </a:extLst>
          </p:cNvPr>
          <p:cNvSpPr txBox="1"/>
          <p:nvPr/>
        </p:nvSpPr>
        <p:spPr>
          <a:xfrm>
            <a:off x="9066420" y="3390800"/>
            <a:ext cx="652743" cy="369332"/>
          </a:xfrm>
          <a:prstGeom prst="rect">
            <a:avLst/>
          </a:prstGeom>
          <a:noFill/>
        </p:spPr>
        <p:txBody>
          <a:bodyPr wrap="none" rtlCol="0">
            <a:spAutoFit/>
          </a:bodyPr>
          <a:lstStyle/>
          <a:p>
            <a:r>
              <a:rPr kumimoji="1" lang="en-US" altLang="zh-CN" dirty="0"/>
              <a:t>1200</a:t>
            </a:r>
            <a:endParaRPr kumimoji="1" lang="zh-CN" altLang="en-US"/>
          </a:p>
        </p:txBody>
      </p:sp>
      <p:sp>
        <p:nvSpPr>
          <p:cNvPr id="27" name="文本框 26">
            <a:extLst>
              <a:ext uri="{FF2B5EF4-FFF2-40B4-BE49-F238E27FC236}">
                <a16:creationId xmlns:a16="http://schemas.microsoft.com/office/drawing/2014/main" id="{EE192385-55D6-85E4-9067-8BBDB6CBF391}"/>
              </a:ext>
            </a:extLst>
          </p:cNvPr>
          <p:cNvSpPr txBox="1"/>
          <p:nvPr/>
        </p:nvSpPr>
        <p:spPr>
          <a:xfrm>
            <a:off x="7933889" y="3875768"/>
            <a:ext cx="652743" cy="369332"/>
          </a:xfrm>
          <a:prstGeom prst="rect">
            <a:avLst/>
          </a:prstGeom>
          <a:noFill/>
        </p:spPr>
        <p:txBody>
          <a:bodyPr wrap="none" rtlCol="0">
            <a:spAutoFit/>
          </a:bodyPr>
          <a:lstStyle/>
          <a:p>
            <a:r>
              <a:rPr kumimoji="1" lang="en-US" altLang="zh-CN" dirty="0"/>
              <a:t>1800</a:t>
            </a:r>
            <a:endParaRPr kumimoji="1" lang="zh-CN" altLang="en-US"/>
          </a:p>
        </p:txBody>
      </p:sp>
      <p:sp>
        <p:nvSpPr>
          <p:cNvPr id="28" name="文本框 27">
            <a:extLst>
              <a:ext uri="{FF2B5EF4-FFF2-40B4-BE49-F238E27FC236}">
                <a16:creationId xmlns:a16="http://schemas.microsoft.com/office/drawing/2014/main" id="{76571D58-B13D-BAF0-02D6-BF432EF3A5D6}"/>
              </a:ext>
            </a:extLst>
          </p:cNvPr>
          <p:cNvSpPr txBox="1"/>
          <p:nvPr/>
        </p:nvSpPr>
        <p:spPr>
          <a:xfrm>
            <a:off x="9066421" y="3875768"/>
            <a:ext cx="652743" cy="369332"/>
          </a:xfrm>
          <a:prstGeom prst="rect">
            <a:avLst/>
          </a:prstGeom>
          <a:noFill/>
        </p:spPr>
        <p:txBody>
          <a:bodyPr wrap="none" rtlCol="0">
            <a:spAutoFit/>
          </a:bodyPr>
          <a:lstStyle/>
          <a:p>
            <a:r>
              <a:rPr kumimoji="1" lang="en-US" altLang="zh-CN" dirty="0"/>
              <a:t>1080</a:t>
            </a:r>
            <a:endParaRPr kumimoji="1" lang="zh-CN" altLang="en-US"/>
          </a:p>
        </p:txBody>
      </p:sp>
      <p:sp>
        <p:nvSpPr>
          <p:cNvPr id="29" name="文本框 28">
            <a:extLst>
              <a:ext uri="{FF2B5EF4-FFF2-40B4-BE49-F238E27FC236}">
                <a16:creationId xmlns:a16="http://schemas.microsoft.com/office/drawing/2014/main" id="{2C949057-DB16-ABE3-3C7E-897C39358AFA}"/>
              </a:ext>
            </a:extLst>
          </p:cNvPr>
          <p:cNvSpPr txBox="1"/>
          <p:nvPr/>
        </p:nvSpPr>
        <p:spPr>
          <a:xfrm>
            <a:off x="9973047" y="3642071"/>
            <a:ext cx="654346" cy="369332"/>
          </a:xfrm>
          <a:prstGeom prst="rect">
            <a:avLst/>
          </a:prstGeom>
          <a:noFill/>
        </p:spPr>
        <p:txBody>
          <a:bodyPr wrap="none" rtlCol="0">
            <a:spAutoFit/>
          </a:bodyPr>
          <a:lstStyle/>
          <a:p>
            <a:r>
              <a:rPr kumimoji="1" lang="en-US" altLang="zh-CN" dirty="0"/>
              <a:t>P258</a:t>
            </a:r>
            <a:endParaRPr kumimoji="1" lang="zh-CN" altLang="en-US"/>
          </a:p>
        </p:txBody>
      </p:sp>
      <p:sp>
        <p:nvSpPr>
          <p:cNvPr id="30" name="文本框 29">
            <a:extLst>
              <a:ext uri="{FF2B5EF4-FFF2-40B4-BE49-F238E27FC236}">
                <a16:creationId xmlns:a16="http://schemas.microsoft.com/office/drawing/2014/main" id="{573DE891-D226-F00B-195D-A307860BD071}"/>
              </a:ext>
            </a:extLst>
          </p:cNvPr>
          <p:cNvSpPr txBox="1"/>
          <p:nvPr/>
        </p:nvSpPr>
        <p:spPr>
          <a:xfrm>
            <a:off x="9865646" y="4714701"/>
            <a:ext cx="869149" cy="369332"/>
          </a:xfrm>
          <a:prstGeom prst="rect">
            <a:avLst/>
          </a:prstGeom>
          <a:noFill/>
        </p:spPr>
        <p:txBody>
          <a:bodyPr wrap="none" rtlCol="0">
            <a:spAutoFit/>
          </a:bodyPr>
          <a:lstStyle/>
          <a:p>
            <a:r>
              <a:rPr kumimoji="1" lang="zh-CN" altLang="en-US"/>
              <a:t>对比机</a:t>
            </a:r>
          </a:p>
        </p:txBody>
      </p:sp>
      <p:sp>
        <p:nvSpPr>
          <p:cNvPr id="31" name="文本框 30">
            <a:extLst>
              <a:ext uri="{FF2B5EF4-FFF2-40B4-BE49-F238E27FC236}">
                <a16:creationId xmlns:a16="http://schemas.microsoft.com/office/drawing/2014/main" id="{80EEF3F7-D555-5B11-F6A8-7E9C1E84B70C}"/>
              </a:ext>
            </a:extLst>
          </p:cNvPr>
          <p:cNvSpPr txBox="1"/>
          <p:nvPr/>
        </p:nvSpPr>
        <p:spPr>
          <a:xfrm>
            <a:off x="7933889" y="4480450"/>
            <a:ext cx="652743" cy="369332"/>
          </a:xfrm>
          <a:prstGeom prst="rect">
            <a:avLst/>
          </a:prstGeom>
          <a:noFill/>
        </p:spPr>
        <p:txBody>
          <a:bodyPr wrap="none" rtlCol="0">
            <a:spAutoFit/>
          </a:bodyPr>
          <a:lstStyle/>
          <a:p>
            <a:r>
              <a:rPr kumimoji="1" lang="en-US" altLang="zh-CN" dirty="0"/>
              <a:t>1920</a:t>
            </a:r>
            <a:endParaRPr kumimoji="1" lang="zh-CN" altLang="en-US"/>
          </a:p>
        </p:txBody>
      </p:sp>
      <p:sp>
        <p:nvSpPr>
          <p:cNvPr id="32" name="文本框 31">
            <a:extLst>
              <a:ext uri="{FF2B5EF4-FFF2-40B4-BE49-F238E27FC236}">
                <a16:creationId xmlns:a16="http://schemas.microsoft.com/office/drawing/2014/main" id="{8CE1EC9E-EA4C-EC13-87C3-63EA6B8569AC}"/>
              </a:ext>
            </a:extLst>
          </p:cNvPr>
          <p:cNvSpPr txBox="1"/>
          <p:nvPr/>
        </p:nvSpPr>
        <p:spPr>
          <a:xfrm>
            <a:off x="9079366" y="4474895"/>
            <a:ext cx="652743" cy="369332"/>
          </a:xfrm>
          <a:prstGeom prst="rect">
            <a:avLst/>
          </a:prstGeom>
          <a:noFill/>
        </p:spPr>
        <p:txBody>
          <a:bodyPr wrap="none" rtlCol="0">
            <a:spAutoFit/>
          </a:bodyPr>
          <a:lstStyle/>
          <a:p>
            <a:r>
              <a:rPr kumimoji="1" lang="en-US" altLang="zh-CN" dirty="0"/>
              <a:t>1200</a:t>
            </a:r>
            <a:endParaRPr kumimoji="1" lang="zh-CN" altLang="en-US"/>
          </a:p>
        </p:txBody>
      </p:sp>
      <p:sp>
        <p:nvSpPr>
          <p:cNvPr id="33" name="文本框 32">
            <a:extLst>
              <a:ext uri="{FF2B5EF4-FFF2-40B4-BE49-F238E27FC236}">
                <a16:creationId xmlns:a16="http://schemas.microsoft.com/office/drawing/2014/main" id="{405296F0-00D5-FE9C-3284-52042172AA27}"/>
              </a:ext>
            </a:extLst>
          </p:cNvPr>
          <p:cNvSpPr txBox="1"/>
          <p:nvPr/>
        </p:nvSpPr>
        <p:spPr>
          <a:xfrm>
            <a:off x="7923705" y="4928670"/>
            <a:ext cx="652743" cy="369332"/>
          </a:xfrm>
          <a:prstGeom prst="rect">
            <a:avLst/>
          </a:prstGeom>
          <a:noFill/>
        </p:spPr>
        <p:txBody>
          <a:bodyPr wrap="none" rtlCol="0">
            <a:spAutoFit/>
          </a:bodyPr>
          <a:lstStyle/>
          <a:p>
            <a:r>
              <a:rPr kumimoji="1" lang="en-US" altLang="zh-CN" dirty="0"/>
              <a:t>1728</a:t>
            </a:r>
            <a:endParaRPr kumimoji="1" lang="zh-CN" altLang="en-US"/>
          </a:p>
        </p:txBody>
      </p:sp>
      <p:sp>
        <p:nvSpPr>
          <p:cNvPr id="34" name="文本框 33">
            <a:extLst>
              <a:ext uri="{FF2B5EF4-FFF2-40B4-BE49-F238E27FC236}">
                <a16:creationId xmlns:a16="http://schemas.microsoft.com/office/drawing/2014/main" id="{D2892915-E79A-1515-5D0B-77C87A6B0F98}"/>
              </a:ext>
            </a:extLst>
          </p:cNvPr>
          <p:cNvSpPr txBox="1"/>
          <p:nvPr/>
        </p:nvSpPr>
        <p:spPr>
          <a:xfrm>
            <a:off x="9079366" y="4928670"/>
            <a:ext cx="652743" cy="369332"/>
          </a:xfrm>
          <a:prstGeom prst="rect">
            <a:avLst/>
          </a:prstGeom>
          <a:noFill/>
        </p:spPr>
        <p:txBody>
          <a:bodyPr wrap="none" rtlCol="0">
            <a:spAutoFit/>
          </a:bodyPr>
          <a:lstStyle/>
          <a:p>
            <a:r>
              <a:rPr kumimoji="1" lang="en-US" altLang="zh-CN" dirty="0"/>
              <a:t>1080</a:t>
            </a:r>
            <a:endParaRPr kumimoji="1" lang="zh-CN" altLang="en-US"/>
          </a:p>
        </p:txBody>
      </p:sp>
      <p:sp>
        <p:nvSpPr>
          <p:cNvPr id="40" name="手杖形箭头 39">
            <a:extLst>
              <a:ext uri="{FF2B5EF4-FFF2-40B4-BE49-F238E27FC236}">
                <a16:creationId xmlns:a16="http://schemas.microsoft.com/office/drawing/2014/main" id="{A1F9A39C-EE7C-FE9D-943A-4BA766106D5E}"/>
              </a:ext>
            </a:extLst>
          </p:cNvPr>
          <p:cNvSpPr/>
          <p:nvPr/>
        </p:nvSpPr>
        <p:spPr>
          <a:xfrm rot="16200000">
            <a:off x="7553558" y="3712674"/>
            <a:ext cx="550625" cy="290150"/>
          </a:xfrm>
          <a:prstGeom prst="uturnArrow">
            <a:avLst/>
          </a:prstGeom>
          <a:scene3d>
            <a:camera prst="orthographic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1" name="文本框 40">
            <a:extLst>
              <a:ext uri="{FF2B5EF4-FFF2-40B4-BE49-F238E27FC236}">
                <a16:creationId xmlns:a16="http://schemas.microsoft.com/office/drawing/2014/main" id="{EC63D3A3-C813-2F3E-F12F-6F8B02F28403}"/>
              </a:ext>
            </a:extLst>
          </p:cNvPr>
          <p:cNvSpPr txBox="1"/>
          <p:nvPr/>
        </p:nvSpPr>
        <p:spPr>
          <a:xfrm>
            <a:off x="6349653" y="3665048"/>
            <a:ext cx="1338828" cy="369332"/>
          </a:xfrm>
          <a:prstGeom prst="rect">
            <a:avLst/>
          </a:prstGeom>
          <a:noFill/>
        </p:spPr>
        <p:txBody>
          <a:bodyPr wrap="none" rtlCol="0">
            <a:spAutoFit/>
          </a:bodyPr>
          <a:lstStyle/>
          <a:p>
            <a:r>
              <a:rPr kumimoji="1" lang="zh-CN" altLang="en-US"/>
              <a:t>等比例放缩</a:t>
            </a:r>
          </a:p>
        </p:txBody>
      </p:sp>
      <p:sp>
        <p:nvSpPr>
          <p:cNvPr id="42" name="手杖形箭头 41">
            <a:extLst>
              <a:ext uri="{FF2B5EF4-FFF2-40B4-BE49-F238E27FC236}">
                <a16:creationId xmlns:a16="http://schemas.microsoft.com/office/drawing/2014/main" id="{98DBC9FB-BA7B-599F-556B-87D43CD6B9BF}"/>
              </a:ext>
            </a:extLst>
          </p:cNvPr>
          <p:cNvSpPr/>
          <p:nvPr/>
        </p:nvSpPr>
        <p:spPr>
          <a:xfrm rot="16200000">
            <a:off x="7553559" y="4772621"/>
            <a:ext cx="550625" cy="290150"/>
          </a:xfrm>
          <a:prstGeom prst="uturnArrow">
            <a:avLst/>
          </a:prstGeom>
          <a:scene3d>
            <a:camera prst="orthographic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3" name="文本框 42">
            <a:extLst>
              <a:ext uri="{FF2B5EF4-FFF2-40B4-BE49-F238E27FC236}">
                <a16:creationId xmlns:a16="http://schemas.microsoft.com/office/drawing/2014/main" id="{8559651D-A912-DD72-2D6E-104EE1FE1F99}"/>
              </a:ext>
            </a:extLst>
          </p:cNvPr>
          <p:cNvSpPr txBox="1"/>
          <p:nvPr/>
        </p:nvSpPr>
        <p:spPr>
          <a:xfrm>
            <a:off x="6349654" y="4724995"/>
            <a:ext cx="1338828" cy="369332"/>
          </a:xfrm>
          <a:prstGeom prst="rect">
            <a:avLst/>
          </a:prstGeom>
          <a:noFill/>
        </p:spPr>
        <p:txBody>
          <a:bodyPr wrap="none" rtlCol="0">
            <a:spAutoFit/>
          </a:bodyPr>
          <a:lstStyle/>
          <a:p>
            <a:r>
              <a:rPr kumimoji="1" lang="zh-CN" altLang="en-US"/>
              <a:t>等比例放缩</a:t>
            </a:r>
          </a:p>
        </p:txBody>
      </p:sp>
      <p:cxnSp>
        <p:nvCxnSpPr>
          <p:cNvPr id="45" name="直线连接符 44">
            <a:extLst>
              <a:ext uri="{FF2B5EF4-FFF2-40B4-BE49-F238E27FC236}">
                <a16:creationId xmlns:a16="http://schemas.microsoft.com/office/drawing/2014/main" id="{8A673804-F940-DFB9-F342-323E05B0180A}"/>
              </a:ext>
            </a:extLst>
          </p:cNvPr>
          <p:cNvCxnSpPr/>
          <p:nvPr/>
        </p:nvCxnSpPr>
        <p:spPr>
          <a:xfrm>
            <a:off x="5938576" y="3275763"/>
            <a:ext cx="0" cy="2120202"/>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FD416B83-7D37-E2D3-4CBC-E47E5A302AB6}"/>
              </a:ext>
            </a:extLst>
          </p:cNvPr>
          <p:cNvSpPr txBox="1"/>
          <p:nvPr/>
        </p:nvSpPr>
        <p:spPr>
          <a:xfrm>
            <a:off x="2011915" y="3024838"/>
            <a:ext cx="2262158" cy="369332"/>
          </a:xfrm>
          <a:prstGeom prst="rect">
            <a:avLst/>
          </a:prstGeom>
          <a:noFill/>
        </p:spPr>
        <p:txBody>
          <a:bodyPr wrap="none" rtlCol="0">
            <a:spAutoFit/>
          </a:bodyPr>
          <a:lstStyle/>
          <a:p>
            <a:r>
              <a:rPr kumimoji="1" lang="zh-CN" altLang="en-US"/>
              <a:t>固定宽后等比例缩放</a:t>
            </a:r>
          </a:p>
        </p:txBody>
      </p:sp>
      <p:sp>
        <p:nvSpPr>
          <p:cNvPr id="47" name="文本框 46">
            <a:extLst>
              <a:ext uri="{FF2B5EF4-FFF2-40B4-BE49-F238E27FC236}">
                <a16:creationId xmlns:a16="http://schemas.microsoft.com/office/drawing/2014/main" id="{12D977B5-83E0-44E7-8834-114144A6CD5C}"/>
              </a:ext>
            </a:extLst>
          </p:cNvPr>
          <p:cNvSpPr txBox="1"/>
          <p:nvPr/>
        </p:nvSpPr>
        <p:spPr>
          <a:xfrm>
            <a:off x="7657003" y="3047227"/>
            <a:ext cx="2262158" cy="369332"/>
          </a:xfrm>
          <a:prstGeom prst="rect">
            <a:avLst/>
          </a:prstGeom>
          <a:noFill/>
        </p:spPr>
        <p:txBody>
          <a:bodyPr wrap="none" rtlCol="0">
            <a:spAutoFit/>
          </a:bodyPr>
          <a:lstStyle/>
          <a:p>
            <a:r>
              <a:rPr kumimoji="1" lang="zh-CN" altLang="en-US"/>
              <a:t>固定高后等比例缩放</a:t>
            </a:r>
          </a:p>
        </p:txBody>
      </p:sp>
      <p:pic>
        <p:nvPicPr>
          <p:cNvPr id="49" name="图形 48" descr="复选标记 纯色填充">
            <a:extLst>
              <a:ext uri="{FF2B5EF4-FFF2-40B4-BE49-F238E27FC236}">
                <a16:creationId xmlns:a16="http://schemas.microsoft.com/office/drawing/2014/main" id="{4556586E-40C0-1CCF-68C3-A8637416F9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13552" y="4999908"/>
            <a:ext cx="226856" cy="226856"/>
          </a:xfrm>
          <a:prstGeom prst="rect">
            <a:avLst/>
          </a:prstGeom>
        </p:spPr>
      </p:pic>
      <p:pic>
        <p:nvPicPr>
          <p:cNvPr id="51" name="图形 50" descr="关闭 纯色填充">
            <a:extLst>
              <a:ext uri="{FF2B5EF4-FFF2-40B4-BE49-F238E27FC236}">
                <a16:creationId xmlns:a16="http://schemas.microsoft.com/office/drawing/2014/main" id="{E179C2A7-8246-9CCF-A02A-1DB1728BDB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04471" y="3930805"/>
            <a:ext cx="252324" cy="252324"/>
          </a:xfrm>
          <a:prstGeom prst="rect">
            <a:avLst/>
          </a:prstGeom>
        </p:spPr>
      </p:pic>
      <p:pic>
        <p:nvPicPr>
          <p:cNvPr id="52" name="图形 51" descr="复选标记 纯色填充">
            <a:extLst>
              <a:ext uri="{FF2B5EF4-FFF2-40B4-BE49-F238E27FC236}">
                <a16:creationId xmlns:a16="http://schemas.microsoft.com/office/drawing/2014/main" id="{6E56ACBA-B625-D8F6-DAF6-DCE1390FFA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74476" y="4970605"/>
            <a:ext cx="226856" cy="226856"/>
          </a:xfrm>
          <a:prstGeom prst="rect">
            <a:avLst/>
          </a:prstGeom>
        </p:spPr>
      </p:pic>
      <p:pic>
        <p:nvPicPr>
          <p:cNvPr id="53" name="图形 52" descr="复选标记 纯色填充">
            <a:extLst>
              <a:ext uri="{FF2B5EF4-FFF2-40B4-BE49-F238E27FC236}">
                <a16:creationId xmlns:a16="http://schemas.microsoft.com/office/drawing/2014/main" id="{1A06E5CB-CF38-6A61-5965-33DFDEAE99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74603" y="3937393"/>
            <a:ext cx="226856" cy="226856"/>
          </a:xfrm>
          <a:prstGeom prst="rect">
            <a:avLst/>
          </a:prstGeom>
        </p:spPr>
      </p:pic>
    </p:spTree>
    <p:extLst>
      <p:ext uri="{BB962C8B-B14F-4D97-AF65-F5344CB8AC3E}">
        <p14:creationId xmlns:p14="http://schemas.microsoft.com/office/powerpoint/2010/main" val="4252908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extLst>
      <p:ext uri="{BB962C8B-B14F-4D97-AF65-F5344CB8AC3E}">
        <p14:creationId xmlns:p14="http://schemas.microsoft.com/office/powerpoint/2010/main" val="4722064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解决方案</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4B7B5148-3775-2EC2-0345-EBFF04025EB9}"/>
              </a:ext>
            </a:extLst>
          </p:cNvPr>
          <p:cNvSpPr txBox="1"/>
          <p:nvPr/>
        </p:nvSpPr>
        <p:spPr>
          <a:xfrm>
            <a:off x="417443" y="818002"/>
            <a:ext cx="11478303" cy="49956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00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1</a:t>
            </a:r>
            <a:r>
              <a:rPr lang="zh-CN" altLang="en-US" sz="2000">
                <a:solidFill>
                  <a:prstClr val="black"/>
                </a:solidFill>
                <a:latin typeface="微软雅黑" panose="020B0503020204020204" pitchFamily="34" charset="-122"/>
                <a:ea typeface="微软雅黑" panose="020B0503020204020204" pitchFamily="34" charset="-122"/>
              </a:rPr>
              <a:t>）</a:t>
            </a:r>
            <a:r>
              <a:rPr lang="zh-CN" altLang="en-US" sz="2000" b="1">
                <a:solidFill>
                  <a:prstClr val="black"/>
                </a:solidFill>
                <a:latin typeface="微软雅黑" panose="020B0503020204020204" pitchFamily="34" charset="-122"/>
                <a:ea typeface="微软雅黑" panose="020B0503020204020204" pitchFamily="34" charset="-122"/>
              </a:rPr>
              <a:t>微信进入微信视频号，点击“发表视频”，长按录制</a:t>
            </a:r>
            <a:r>
              <a:rPr lang="en-US" altLang="zh-CN" sz="2000" b="1" dirty="0">
                <a:solidFill>
                  <a:prstClr val="black"/>
                </a:solidFill>
                <a:latin typeface="微软雅黑" panose="020B0503020204020204" pitchFamily="34" charset="-122"/>
                <a:ea typeface="微软雅黑" panose="020B0503020204020204" pitchFamily="34" charset="-122"/>
              </a:rPr>
              <a:t>10s</a:t>
            </a:r>
            <a:r>
              <a:rPr lang="zh-CN" altLang="en-US" sz="2000" b="1">
                <a:solidFill>
                  <a:prstClr val="black"/>
                </a:solidFill>
                <a:latin typeface="微软雅黑" panose="020B0503020204020204" pitchFamily="34" charset="-122"/>
                <a:ea typeface="微软雅黑" panose="020B0503020204020204" pitchFamily="34" charset="-122"/>
              </a:rPr>
              <a:t>松开，发现一直转圈圈。</a:t>
            </a:r>
            <a:endParaRPr lang="en-US" altLang="zh-CN" sz="2000" b="1" dirty="0">
              <a:solidFill>
                <a:prstClr val="black"/>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F7F5A9E5-288B-F2F1-24E7-1D155DAD7CDA}"/>
              </a:ext>
            </a:extLst>
          </p:cNvPr>
          <p:cNvSpPr txBox="1"/>
          <p:nvPr/>
        </p:nvSpPr>
        <p:spPr>
          <a:xfrm>
            <a:off x="417443" y="3233218"/>
            <a:ext cx="11478303" cy="499560"/>
          </a:xfrm>
          <a:prstGeom prst="rect">
            <a:avLst/>
          </a:prstGeom>
          <a:noFill/>
        </p:spPr>
        <p:txBody>
          <a:bodyPr wrap="square">
            <a:spAutoFit/>
          </a:bodyPr>
          <a:lstStyle/>
          <a:p>
            <a:pPr>
              <a:lnSpc>
                <a:spcPct val="150000"/>
              </a:lnSpc>
              <a:defRPr/>
            </a:pP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2000" b="1" dirty="0">
                <a:solidFill>
                  <a:prstClr val="black"/>
                </a:solidFill>
                <a:latin typeface="微软雅黑" panose="020B0503020204020204" pitchFamily="34" charset="-122"/>
                <a:ea typeface="微软雅黑" panose="020B0503020204020204" pitchFamily="34" charset="-122"/>
              </a:rPr>
              <a:t>2</a:t>
            </a:r>
            <a:r>
              <a:rPr kumimoji="0" lang="zh-CN" altLang="en-US" sz="20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zh-CN" altLang="en-US" sz="2000" b="1">
                <a:solidFill>
                  <a:prstClr val="black"/>
                </a:solidFill>
                <a:latin typeface="微软雅黑" panose="020B0503020204020204" pitchFamily="34" charset="-122"/>
                <a:ea typeface="微软雅黑" panose="020B0503020204020204" pitchFamily="34" charset="-122"/>
              </a:rPr>
              <a:t>永劫无间”应用主界面依次点击“英雄”</a:t>
            </a:r>
            <a:r>
              <a:rPr lang="en-US" altLang="zh-CN" sz="2000" b="1" dirty="0">
                <a:solidFill>
                  <a:prstClr val="black"/>
                </a:solidFill>
                <a:latin typeface="微软雅黑" panose="020B0503020204020204" pitchFamily="34" charset="-122"/>
                <a:ea typeface="微软雅黑" panose="020B0503020204020204" pitchFamily="34" charset="-122"/>
              </a:rPr>
              <a:t>&gt;</a:t>
            </a:r>
            <a:r>
              <a:rPr lang="zh-CN" altLang="en-US" sz="2000" b="1">
                <a:solidFill>
                  <a:prstClr val="black"/>
                </a:solidFill>
                <a:latin typeface="微软雅黑" panose="020B0503020204020204" pitchFamily="34" charset="-122"/>
                <a:ea typeface="微软雅黑" panose="020B0503020204020204" pitchFamily="34" charset="-122"/>
              </a:rPr>
              <a:t>“分享</a:t>
            </a:r>
            <a:r>
              <a:rPr lang="en-US" altLang="zh-CN" sz="2000" b="1" dirty="0">
                <a:solidFill>
                  <a:prstClr val="black"/>
                </a:solidFill>
                <a:latin typeface="微软雅黑" panose="020B0503020204020204" pitchFamily="34" charset="-122"/>
                <a:ea typeface="微软雅黑" panose="020B0503020204020204" pitchFamily="34" charset="-122"/>
              </a:rPr>
              <a:t>”&gt;</a:t>
            </a:r>
            <a:r>
              <a:rPr lang="zh-CN" altLang="en-US" sz="2000" b="1">
                <a:solidFill>
                  <a:prstClr val="black"/>
                </a:solidFill>
                <a:latin typeface="微软雅黑" panose="020B0503020204020204" pitchFamily="34" charset="-122"/>
                <a:ea typeface="微软雅黑" panose="020B0503020204020204" pitchFamily="34" charset="-122"/>
              </a:rPr>
              <a:t>“分享”后游戏闪退。</a:t>
            </a:r>
            <a:endParaRPr lang="en-US" altLang="zh-CN" sz="2000" b="1" dirty="0">
              <a:solidFill>
                <a:prstClr val="black"/>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3D6C7565-E00E-BFB0-6C50-27136DD311E8}"/>
              </a:ext>
            </a:extLst>
          </p:cNvPr>
          <p:cNvSpPr txBox="1"/>
          <p:nvPr/>
        </p:nvSpPr>
        <p:spPr>
          <a:xfrm>
            <a:off x="984264" y="1389566"/>
            <a:ext cx="10911482" cy="1706878"/>
          </a:xfrm>
          <a:prstGeom prst="rect">
            <a:avLst/>
          </a:prstGeom>
          <a:noFill/>
        </p:spPr>
        <p:txBody>
          <a:bodyPr wrap="square" rtlCol="0">
            <a:spAutoFit/>
          </a:bodyPr>
          <a:lstStyle/>
          <a:p>
            <a:pPr>
              <a:lnSpc>
                <a:spcPct val="150000"/>
              </a:lnSpc>
            </a:pPr>
            <a:r>
              <a:rPr kumimoji="1" lang="zh-CN" altLang="en-US"/>
              <a:t>全局多路超宏块说明应用在同一时间有多路的硬编</a:t>
            </a:r>
            <a:r>
              <a:rPr kumimoji="1" lang="en-US" altLang="zh-CN"/>
              <a:t>/</a:t>
            </a:r>
            <a:r>
              <a:rPr kumimoji="1" lang="zh-CN" altLang="en-US"/>
              <a:t>解码业务，机器受限于芯片的规格限制无法满足需求而导致问题的产生。需要从三方应用的角度去减少同时多路的硬编</a:t>
            </a:r>
            <a:r>
              <a:rPr kumimoji="1" lang="en-US" altLang="zh-CN"/>
              <a:t>/</a:t>
            </a:r>
            <a:r>
              <a:rPr kumimoji="1" lang="zh-CN" altLang="en-US"/>
              <a:t>解码业务的产生或者减小单路业务的分辨率大小。如果无法避免该问题的产生，应用也应该对该问题导致的异常进行通知和处理，避免阻塞用户交互。</a:t>
            </a:r>
          </a:p>
        </p:txBody>
      </p:sp>
      <p:sp>
        <p:nvSpPr>
          <p:cNvPr id="3" name="文本框 2">
            <a:extLst>
              <a:ext uri="{FF2B5EF4-FFF2-40B4-BE49-F238E27FC236}">
                <a16:creationId xmlns:a16="http://schemas.microsoft.com/office/drawing/2014/main" id="{07B5441C-18F5-34E4-A3B7-FCE4EF7B21F1}"/>
              </a:ext>
            </a:extLst>
          </p:cNvPr>
          <p:cNvSpPr txBox="1"/>
          <p:nvPr/>
        </p:nvSpPr>
        <p:spPr>
          <a:xfrm>
            <a:off x="984264" y="3828900"/>
            <a:ext cx="10707881" cy="1291379"/>
          </a:xfrm>
          <a:prstGeom prst="rect">
            <a:avLst/>
          </a:prstGeom>
          <a:noFill/>
        </p:spPr>
        <p:txBody>
          <a:bodyPr wrap="square" rtlCol="0">
            <a:spAutoFit/>
          </a:bodyPr>
          <a:lstStyle/>
          <a:p>
            <a:pPr>
              <a:lnSpc>
                <a:spcPct val="150000"/>
              </a:lnSpc>
            </a:pPr>
            <a:r>
              <a:rPr kumimoji="1" lang="zh-CN" altLang="en-US"/>
              <a:t>首先，应用侧对该问题导致的异常进行通知和处理，避免应用的崩溃影响用户体验。其次，应用在视频编码业务下发前对设备的编码能力进行查询，然后下发可执行的编码分辨率。再者，编码的业务的开始都尽量要以硬编码的能力作为基础，减少软编码对</a:t>
            </a:r>
            <a:r>
              <a:rPr kumimoji="1" lang="en-US" altLang="zh-CN"/>
              <a:t>CPU</a:t>
            </a:r>
            <a:r>
              <a:rPr kumimoji="1" lang="zh-CN" altLang="en-US"/>
              <a:t>的大量占用产生更多的性能问题。</a:t>
            </a:r>
          </a:p>
        </p:txBody>
      </p:sp>
    </p:spTree>
    <p:extLst>
      <p:ext uri="{BB962C8B-B14F-4D97-AF65-F5344CB8AC3E}">
        <p14:creationId xmlns:p14="http://schemas.microsoft.com/office/powerpoint/2010/main" val="41461085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lang="zh-CN" altLang="en-US" sz="4000" b="1">
                <a:solidFill>
                  <a:prstClr val="white"/>
                </a:solidFill>
                <a:latin typeface="微软雅黑" panose="020B0503020204020204" pitchFamily="34" charset="-122"/>
                <a:ea typeface="微软雅黑" panose="020B0503020204020204" pitchFamily="34" charset="-122"/>
              </a:rPr>
              <a:t>总结</a:t>
            </a:r>
            <a:endParaRPr kumimoji="0" lang="zh-CN" altLang="en-US" sz="4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61552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8258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总结</a:t>
            </a:r>
          </a:p>
        </p:txBody>
      </p:sp>
      <p:sp>
        <p:nvSpPr>
          <p:cNvPr id="2" name="文本框 1">
            <a:extLst>
              <a:ext uri="{FF2B5EF4-FFF2-40B4-BE49-F238E27FC236}">
                <a16:creationId xmlns:a16="http://schemas.microsoft.com/office/drawing/2014/main" id="{F0594ED0-A4A9-238C-27A9-2207E1704665}"/>
              </a:ext>
            </a:extLst>
          </p:cNvPr>
          <p:cNvSpPr txBox="1"/>
          <p:nvPr/>
        </p:nvSpPr>
        <p:spPr>
          <a:xfrm>
            <a:off x="435836" y="1034041"/>
            <a:ext cx="11485547" cy="962956"/>
          </a:xfrm>
          <a:prstGeom prst="rect">
            <a:avLst/>
          </a:prstGeom>
          <a:noFill/>
        </p:spPr>
        <p:txBody>
          <a:bodyPr wrap="square" rtlCol="0">
            <a:spAutoFit/>
          </a:bodyPr>
          <a:lstStyle/>
          <a:p>
            <a:pPr>
              <a:lnSpc>
                <a:spcPct val="150000"/>
              </a:lnSpc>
            </a:pPr>
            <a:r>
              <a:rPr kumimoji="1" lang="zh-CN" altLang="en-US" sz="2000" b="1"/>
              <a:t>此类编码超规格问题的原因本质上来说都可以归结为三方应用下发了超出芯片规格的视频编解码业务导致。应用端可以在以下三个方面进行问题的避免和优化：</a:t>
            </a:r>
          </a:p>
        </p:txBody>
      </p:sp>
      <p:sp>
        <p:nvSpPr>
          <p:cNvPr id="3" name="文本框 2">
            <a:extLst>
              <a:ext uri="{FF2B5EF4-FFF2-40B4-BE49-F238E27FC236}">
                <a16:creationId xmlns:a16="http://schemas.microsoft.com/office/drawing/2014/main" id="{15928F98-141D-C087-DB96-2BD5B7756478}"/>
              </a:ext>
            </a:extLst>
          </p:cNvPr>
          <p:cNvSpPr txBox="1"/>
          <p:nvPr/>
        </p:nvSpPr>
        <p:spPr>
          <a:xfrm>
            <a:off x="512745" y="2166357"/>
            <a:ext cx="11271903" cy="875881"/>
          </a:xfrm>
          <a:prstGeom prst="rect">
            <a:avLst/>
          </a:prstGeom>
          <a:noFill/>
        </p:spPr>
        <p:txBody>
          <a:bodyPr wrap="square" rtlCol="0">
            <a:spAutoFit/>
          </a:bodyPr>
          <a:lstStyle/>
          <a:p>
            <a:pPr>
              <a:lnSpc>
                <a:spcPct val="150000"/>
              </a:lnSpc>
            </a:pPr>
            <a:r>
              <a:rPr kumimoji="1" lang="en-US" altLang="zh-CN"/>
              <a:t>1.</a:t>
            </a:r>
            <a:r>
              <a:rPr kumimoji="1" lang="zh-CN" altLang="en-US"/>
              <a:t>应用在执行视频编码业务前，可以先查询设备支持的视频编码能力。对于不同芯片尤其是低端芯片的不同规格，可以对其下发不同的处理需求来增强应用对不同产品的适配能力。</a:t>
            </a:r>
          </a:p>
        </p:txBody>
      </p:sp>
      <p:sp>
        <p:nvSpPr>
          <p:cNvPr id="5" name="文本框 4">
            <a:extLst>
              <a:ext uri="{FF2B5EF4-FFF2-40B4-BE49-F238E27FC236}">
                <a16:creationId xmlns:a16="http://schemas.microsoft.com/office/drawing/2014/main" id="{7C6E5215-2333-F1F0-5D89-20B37E4A4C13}"/>
              </a:ext>
            </a:extLst>
          </p:cNvPr>
          <p:cNvSpPr txBox="1"/>
          <p:nvPr/>
        </p:nvSpPr>
        <p:spPr>
          <a:xfrm>
            <a:off x="512745" y="3429000"/>
            <a:ext cx="11270703" cy="875881"/>
          </a:xfrm>
          <a:prstGeom prst="rect">
            <a:avLst/>
          </a:prstGeom>
          <a:noFill/>
        </p:spPr>
        <p:txBody>
          <a:bodyPr wrap="square" rtlCol="0">
            <a:spAutoFit/>
          </a:bodyPr>
          <a:lstStyle/>
          <a:p>
            <a:pPr>
              <a:lnSpc>
                <a:spcPct val="150000"/>
              </a:lnSpc>
            </a:pPr>
            <a:r>
              <a:rPr kumimoji="1" lang="en-US" altLang="zh-CN"/>
              <a:t>2.</a:t>
            </a:r>
            <a:r>
              <a:rPr kumimoji="1" lang="zh-CN" altLang="en-US"/>
              <a:t>由于视频编码中宏块的限制，应用应提前考虑编码业务可能产生异常的点并对其进行通知和处理。以免程序产生意料之外的执行结果（例如闪退和卡死），影响用户体验。</a:t>
            </a:r>
          </a:p>
        </p:txBody>
      </p:sp>
      <p:sp>
        <p:nvSpPr>
          <p:cNvPr id="6" name="文本框 5">
            <a:extLst>
              <a:ext uri="{FF2B5EF4-FFF2-40B4-BE49-F238E27FC236}">
                <a16:creationId xmlns:a16="http://schemas.microsoft.com/office/drawing/2014/main" id="{408F7D0A-DF69-5D7B-F0FF-A46069882A4A}"/>
              </a:ext>
            </a:extLst>
          </p:cNvPr>
          <p:cNvSpPr txBox="1"/>
          <p:nvPr/>
        </p:nvSpPr>
        <p:spPr>
          <a:xfrm>
            <a:off x="512745" y="4691643"/>
            <a:ext cx="11270703" cy="875881"/>
          </a:xfrm>
          <a:prstGeom prst="rect">
            <a:avLst/>
          </a:prstGeom>
          <a:noFill/>
        </p:spPr>
        <p:txBody>
          <a:bodyPr wrap="square" rtlCol="0">
            <a:spAutoFit/>
          </a:bodyPr>
          <a:lstStyle/>
          <a:p>
            <a:pPr>
              <a:lnSpc>
                <a:spcPct val="150000"/>
              </a:lnSpc>
            </a:pPr>
            <a:r>
              <a:rPr kumimoji="1" lang="en-US" altLang="zh-CN"/>
              <a:t>3.</a:t>
            </a:r>
            <a:r>
              <a:rPr kumimoji="1" lang="zh-CN" altLang="en-US"/>
              <a:t>应用的视频编码业务的尽量以设备的硬编码能力作为基础，避免软编码带来的更多不确定的性能问题，增强应用在不同设备上的表现能力。</a:t>
            </a:r>
          </a:p>
        </p:txBody>
      </p:sp>
    </p:spTree>
    <p:extLst>
      <p:ext uri="{BB962C8B-B14F-4D97-AF65-F5344CB8AC3E}">
        <p14:creationId xmlns:p14="http://schemas.microsoft.com/office/powerpoint/2010/main" val="6197224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charset="-122"/>
                <a:ea typeface="微软雅黑" panose="020B0503020204020204" charset="-122"/>
                <a:cs typeface="微软雅黑" panose="020B050302020402020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p>
        </p:txBody>
      </p:sp>
    </p:spTree>
    <p:extLst>
      <p:ext uri="{BB962C8B-B14F-4D97-AF65-F5344CB8AC3E}">
        <p14:creationId xmlns:p14="http://schemas.microsoft.com/office/powerpoint/2010/main" val="24164958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27338</TotalTime>
  <Words>2790</Words>
  <Application>Microsoft Macintosh PowerPoint</Application>
  <PresentationFormat>宽屏</PresentationFormat>
  <Paragraphs>167</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20</vt:i4>
      </vt:variant>
    </vt:vector>
  </HeadingPairs>
  <TitlesOfParts>
    <vt:vector size="31" baseType="lpstr">
      <vt:lpstr>等线</vt:lpstr>
      <vt:lpstr>等线 Light</vt:lpstr>
      <vt:lpstr>楷体</vt:lpstr>
      <vt:lpstr>微软雅黑</vt:lpstr>
      <vt:lpstr>Arial</vt:lpstr>
      <vt:lpstr>Arial Black</vt:lpstr>
      <vt:lpstr>Calibri</vt:lpstr>
      <vt:lpstr>Open Sans</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ZhaoYiHong@longcheer.com</dc:creator>
  <cp:lastModifiedBy>B305</cp:lastModifiedBy>
  <cp:revision>2442</cp:revision>
  <dcterms:created xsi:type="dcterms:W3CDTF">2017-05-23T02:23:00Z</dcterms:created>
  <dcterms:modified xsi:type="dcterms:W3CDTF">2025-09-07T14:17:42Z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2052-10.1.0.6030</vt:lpwstr>
  </property>
</Properties>
</file>