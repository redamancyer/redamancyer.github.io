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57" r:id="rId2"/>
    <p:sldMasterId id="2147483669" r:id="rId3"/>
    <p:sldMasterId id="2147483680" r:id="rId4"/>
  </p:sldMasterIdLst>
  <p:notesMasterIdLst>
    <p:notesMasterId r:id="rId34"/>
  </p:notesMasterIdLst>
  <p:sldIdLst>
    <p:sldId id="6170" r:id="rId5"/>
    <p:sldId id="1394" r:id="rId6"/>
    <p:sldId id="6162" r:id="rId7"/>
    <p:sldId id="1401" r:id="rId8"/>
    <p:sldId id="6171" r:id="rId9"/>
    <p:sldId id="1379" r:id="rId10"/>
    <p:sldId id="6172" r:id="rId11"/>
    <p:sldId id="6200" r:id="rId12"/>
    <p:sldId id="1389" r:id="rId13"/>
    <p:sldId id="6173" r:id="rId14"/>
    <p:sldId id="1385" r:id="rId15"/>
    <p:sldId id="6195" r:id="rId16"/>
    <p:sldId id="6208" r:id="rId17"/>
    <p:sldId id="6206" r:id="rId18"/>
    <p:sldId id="6201" r:id="rId19"/>
    <p:sldId id="6196" r:id="rId20"/>
    <p:sldId id="6197" r:id="rId21"/>
    <p:sldId id="6198" r:id="rId22"/>
    <p:sldId id="6199" r:id="rId23"/>
    <p:sldId id="6202" r:id="rId24"/>
    <p:sldId id="6203" r:id="rId25"/>
    <p:sldId id="6204" r:id="rId26"/>
    <p:sldId id="6205" r:id="rId27"/>
    <p:sldId id="6174" r:id="rId28"/>
    <p:sldId id="6193" r:id="rId29"/>
    <p:sldId id="6207" r:id="rId30"/>
    <p:sldId id="6175" r:id="rId31"/>
    <p:sldId id="1380" r:id="rId32"/>
    <p:sldId id="6176" r:id="rId33"/>
  </p:sldIdLst>
  <p:sldSz cx="12192000" cy="6858000"/>
  <p:notesSz cx="6858000" cy="9144000"/>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0609"/>
    <a:srgbClr val="CF3138"/>
    <a:srgbClr val="3333FF"/>
    <a:srgbClr val="BA494F"/>
    <a:srgbClr val="FFFFFF"/>
    <a:srgbClr val="C44F3C"/>
    <a:srgbClr val="7CA193"/>
    <a:srgbClr val="1010F0"/>
    <a:srgbClr val="A5B07B"/>
    <a:srgbClr val="F1F1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651" autoAdjust="0"/>
    <p:restoredTop sz="93963" autoAdjust="0"/>
  </p:normalViewPr>
  <p:slideViewPr>
    <p:cSldViewPr snapToGrid="0" showGuides="1">
      <p:cViewPr varScale="1">
        <p:scale>
          <a:sx n="156" d="100"/>
          <a:sy n="156" d="100"/>
        </p:scale>
        <p:origin x="1024" y="17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7" d="100"/>
          <a:sy n="57" d="100"/>
        </p:scale>
        <p:origin x="2808" y="3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gs" Target="tags/tag1.xml"/><Relationship Id="rId8" Type="http://schemas.openxmlformats.org/officeDocument/2006/relationships/slide" Target="slides/slide4.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800AD-93AD-4C4C-85DD-6086F39F5F44}" type="datetimeFigureOut">
              <a:rPr lang="zh-CN" altLang="en-US" smtClean="0"/>
              <a:t>2025/9/7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A8361D-8C5B-4832-B897-84B74FD7AE5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387501" y="94782"/>
            <a:ext cx="7052899" cy="889066"/>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2387501" y="94782"/>
            <a:ext cx="7052899" cy="889066"/>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2387501" y="94782"/>
            <a:ext cx="7052899" cy="889066"/>
          </a:xfrm>
          <a:prstGeom prst="rect">
            <a:avLst/>
          </a:prstGeom>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6" name="Footer Placeholder 3"/>
          <p:cNvSpPr>
            <a:spLocks noGrp="1"/>
          </p:cNvSpPr>
          <p:nvPr>
            <p:ph type="ftr" sz="quarter" idx="11"/>
          </p:nvPr>
        </p:nvSpPr>
        <p:spPr>
          <a:xfrm>
            <a:off x="171669" y="6401522"/>
            <a:ext cx="4114800" cy="365125"/>
          </a:xfrm>
        </p:spPr>
        <p:txBody>
          <a:bodyPr/>
          <a:lstStyle>
            <a:lvl1pPr algn="l">
              <a:defRPr sz="1600" i="1">
                <a:solidFill>
                  <a:schemeClr val="bg1">
                    <a:lumMod val="50000"/>
                  </a:schemeClr>
                </a:solidFill>
              </a:defRPr>
            </a:lvl1pPr>
          </a:lstStyle>
          <a:p>
            <a:r>
              <a:rPr lang="en-GB"/>
              <a:t>Company Name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69B57F1-69E0-47C0-93B4-D0FAD86E9417}" type="datetimeFigureOut">
              <a:rPr lang="zh-CN" altLang="en-US" smtClean="0"/>
              <a:t>2025/9/7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A2691-C292-4C45-BE27-81DB2E216495}"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EFD9D74-47D9-4702-A33C-335B63B48DBF}"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dirty="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ABC47A4-756D-490B-A52F-7D9E2C9FC05F}"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EFD9D74-47D9-4702-A33C-335B63B48DBF}"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dirty="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FABC47A4-756D-490B-A52F-7D9E2C9FC05F}"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theme" Target="../theme/theme3.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theme" Target="../theme/theme4.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2400" b="0" kern="1200" spc="200" baseline="0">
          <a:ln>
            <a:noFill/>
          </a:ln>
          <a:solidFill>
            <a:srgbClr val="53585B"/>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9B57F1-69E0-47C0-93B4-D0FAD86E9417}" type="datetimeFigureOut">
              <a:rPr lang="zh-CN" altLang="en-US" smtClean="0"/>
              <a:t>2025/9/7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6A2691-C292-4C45-BE27-81DB2E21649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760FBDFE-C587-4B4C-A407-44438C67B59E}" type="datetimeFigureOut">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2025/9/7</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49AE70B2-8BF9-45C0-BB95-33D1B9D3A854}" type="slidenum">
              <a:rPr kumimoji="0" lang="zh-CN" altLang="en-US" sz="1200" b="0" i="0" u="none" strike="noStrike" kern="1200" cap="none" spc="0" normalizeH="0" baseline="0" noProof="0" smtClean="0">
                <a:ln>
                  <a:noFill/>
                </a:ln>
                <a:solidFill>
                  <a:prstClr val="black">
                    <a:tint val="75000"/>
                  </a:prstClr>
                </a:solidFill>
                <a:effectLst/>
                <a:uLnTx/>
                <a:uFillTx/>
                <a:latin typeface="Arial" panose="020B0604020202020204"/>
                <a:ea typeface="黑体" panose="02010609060101010101" pitchFamily="49" charset="-122"/>
                <a:cs typeface="+mn-cs"/>
              </a:rPr>
              <a:t>‹#›</a:t>
            </a:fld>
            <a:endParaRPr kumimoji="0" lang="zh-CN" altLang="en-US" sz="1200" b="0" i="0" u="none" strike="noStrike" kern="1200" cap="none" spc="0" normalizeH="0" baseline="0" noProof="0">
              <a:ln>
                <a:noFill/>
              </a:ln>
              <a:solidFill>
                <a:prstClr val="black">
                  <a:tint val="75000"/>
                </a:prstClr>
              </a:solidFill>
              <a:effectLst/>
              <a:uLnTx/>
              <a:uFillTx/>
              <a:latin typeface="Arial" panose="020B0604020202020204"/>
              <a:ea typeface="黑体" panose="02010609060101010101" pitchFamily="49" charset="-122"/>
              <a:cs typeface="+mn-cs"/>
            </a:endParaRPr>
          </a:p>
        </p:txBody>
      </p:sp>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codesearch.rnd.hihonor.com/#opts" TargetMode="External"/><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hyperlink" Target="http://codesearch.rnd.hihonor.com/#resolver"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标题 4"/>
          <p:cNvSpPr txBox="1"/>
          <p:nvPr/>
        </p:nvSpPr>
        <p:spPr>
          <a:xfrm>
            <a:off x="0" y="2722999"/>
            <a:ext cx="12192022" cy="1243584"/>
          </a:xfrm>
          <a:prstGeom prst="rect">
            <a:avLst/>
          </a:prstGeom>
          <a:effectLst>
            <a:outerShdw blurRad="152400" dist="190500" dir="5400000" algn="t" rotWithShape="0">
              <a:srgbClr val="000000">
                <a:alpha val="37000"/>
              </a:srgbClr>
            </a:outerShdw>
          </a:effectLst>
        </p:spPr>
        <p:txBody>
          <a:bodyPr vert="horz" wrap="square" lIns="91440" tIns="45720" rIns="91440" bIns="45720" rtlCol="0" anchor="ctr">
            <a:noAutofit/>
          </a:bodyPr>
          <a:lstStyle>
            <a:lvl1pPr algn="l" defTabSz="914400" rtl="0" eaLnBrk="1" latinLnBrk="0" hangingPunct="1">
              <a:lnSpc>
                <a:spcPct val="90000"/>
              </a:lnSpc>
              <a:spcBef>
                <a:spcPct val="0"/>
              </a:spcBef>
              <a:buNone/>
              <a:defRPr lang="zh-CN" altLang="en-US" sz="4800" b="1" kern="1200" spc="300">
                <a:ln w="635">
                  <a:noFill/>
                </a:ln>
                <a:solidFill>
                  <a:schemeClr val="bg1"/>
                </a:solidFill>
                <a:latin typeface="微软雅黑" panose="020B0503020204020204" pitchFamily="34" charset="-122"/>
                <a:ea typeface="微软雅黑" panose="020B0503020204020204" pitchFamily="34" charset="-122"/>
                <a:cs typeface="+mn-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1800" b="1" i="0" u="none" strike="noStrike" kern="1200" cap="none" spc="300" normalizeH="0" baseline="0" noProof="0">
                <a:ln w="635">
                  <a:noFill/>
                </a:ln>
                <a:solidFill>
                  <a:srgbClr val="FFFFFF"/>
                </a:solidFill>
                <a:effectLst/>
                <a:uLnTx/>
                <a:uFillTx/>
                <a:latin typeface="微软雅黑" panose="020B0503020204020204" pitchFamily="34" charset="-122"/>
                <a:ea typeface="微软雅黑" panose="020B0503020204020204" pitchFamily="34" charset="-122"/>
                <a:cs typeface="+mn-cs"/>
              </a:rPr>
              <a:t>SW-</a:t>
            </a:r>
            <a:r>
              <a:rPr kumimoji="0" lang="zh-CN" altLang="en-US" sz="1800" b="1" i="0" u="none" strike="noStrike" kern="1200" cap="none" spc="300" normalizeH="0" baseline="0" noProof="0">
                <a:ln w="635">
                  <a:noFill/>
                </a:ln>
                <a:solidFill>
                  <a:srgbClr val="FFFFFF"/>
                </a:solidFill>
                <a:effectLst/>
                <a:uLnTx/>
                <a:uFillTx/>
                <a:latin typeface="微软雅黑" panose="020B0503020204020204" pitchFamily="34" charset="-122"/>
                <a:ea typeface="微软雅黑" panose="020B0503020204020204" pitchFamily="34" charset="-122"/>
                <a:cs typeface="+mn-cs"/>
              </a:rPr>
              <a:t>多媒体</a:t>
            </a:r>
            <a:r>
              <a:rPr kumimoji="0" lang="en-US" altLang="zh-CN" sz="1800" b="1" i="0" u="none" strike="noStrike" kern="1200" cap="none" spc="300" normalizeH="0" baseline="0" noProof="0">
                <a:ln w="635">
                  <a:noFill/>
                </a:ln>
                <a:solidFill>
                  <a:srgbClr val="FFFFFF"/>
                </a:solidFill>
                <a:effectLst/>
                <a:uLnTx/>
                <a:uFillTx/>
                <a:latin typeface="微软雅黑" panose="020B0503020204020204" pitchFamily="34" charset="-122"/>
                <a:ea typeface="微软雅黑" panose="020B0503020204020204" pitchFamily="34" charset="-122"/>
                <a:cs typeface="+mn-cs"/>
              </a:rPr>
              <a:t>-VIDEO-20250908-0005 P258 </a:t>
            </a:r>
            <a:r>
              <a:rPr kumimoji="0" lang="zh-CN" altLang="en-US" sz="1800" b="1" i="0" u="none" strike="noStrike" kern="1200" cap="none" spc="300" normalizeH="0" baseline="0" noProof="0">
                <a:ln w="635">
                  <a:noFill/>
                </a:ln>
                <a:solidFill>
                  <a:srgbClr val="FFFFFF"/>
                </a:solidFill>
                <a:effectLst/>
                <a:uLnTx/>
                <a:uFillTx/>
                <a:latin typeface="微软雅黑" panose="020B0503020204020204" pitchFamily="34" charset="-122"/>
                <a:ea typeface="微软雅黑" panose="020B0503020204020204" pitchFamily="34" charset="-122"/>
                <a:cs typeface="+mn-cs"/>
              </a:rPr>
              <a:t>视频播放器点击投屏闪黑问题分析</a:t>
            </a:r>
            <a:endParaRPr kumimoji="0" lang="zh-CN" altLang="en-US" sz="1800" b="0" i="0" u="none" strike="noStrike" kern="1200" cap="none" spc="300" normalizeH="0" baseline="0" noProof="0" dirty="0">
              <a:ln w="635">
                <a:noFill/>
              </a:ln>
              <a:solidFill>
                <a:schemeClr val="bg1">
                  <a:lumMod val="65000"/>
                </a:schemeClr>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8" name="表格 7"/>
          <p:cNvGraphicFramePr>
            <a:graphicFrameLocks noGrp="1"/>
          </p:cNvGraphicFramePr>
          <p:nvPr>
            <p:extLst>
              <p:ext uri="{D42A27DB-BD31-4B8C-83A1-F6EECF244321}">
                <p14:modId xmlns:p14="http://schemas.microsoft.com/office/powerpoint/2010/main" val="4048497493"/>
              </p:ext>
            </p:extLst>
          </p:nvPr>
        </p:nvGraphicFramePr>
        <p:xfrm>
          <a:off x="3731466" y="4650874"/>
          <a:ext cx="6502779" cy="1318335"/>
        </p:xfrm>
        <a:graphic>
          <a:graphicData uri="http://schemas.openxmlformats.org/drawingml/2006/table">
            <a:tbl>
              <a:tblPr/>
              <a:tblGrid>
                <a:gridCol w="1980979">
                  <a:extLst>
                    <a:ext uri="{9D8B030D-6E8A-4147-A177-3AD203B41FA5}">
                      <a16:colId xmlns:a16="http://schemas.microsoft.com/office/drawing/2014/main" val="20000"/>
                    </a:ext>
                  </a:extLst>
                </a:gridCol>
                <a:gridCol w="4521800">
                  <a:extLst>
                    <a:ext uri="{9D8B030D-6E8A-4147-A177-3AD203B41FA5}">
                      <a16:colId xmlns:a16="http://schemas.microsoft.com/office/drawing/2014/main" val="20001"/>
                    </a:ext>
                  </a:extLst>
                </a:gridCol>
              </a:tblGrid>
              <a:tr h="439445">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r" fontAlgn="ct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提交人</a:t>
                      </a:r>
                      <a:r>
                        <a:rPr lang="en-US" altLang="zh-CN" sz="1800" b="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团队</a:t>
                      </a:r>
                      <a:r>
                        <a:rPr lang="en-US" altLang="zh-CN" sz="1800" b="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l" fontAlgn="ctr"/>
                      <a:r>
                        <a:rPr lang="zh-CN" altLang="en-US" sz="1800" b="0" u="none" strike="noStrike">
                          <a:solidFill>
                            <a:schemeClr val="tx1"/>
                          </a:solidFill>
                          <a:effectLst/>
                          <a:latin typeface="微软雅黑" panose="020B0503020204020204" pitchFamily="34" charset="-122"/>
                          <a:ea typeface="微软雅黑" panose="020B0503020204020204" pitchFamily="34" charset="-122"/>
                        </a:rPr>
                        <a:t>第一事业部</a:t>
                      </a:r>
                      <a:r>
                        <a:rPr lang="en-US" altLang="zh-CN" sz="1800" b="0" u="none" strike="noStrike">
                          <a:solidFill>
                            <a:schemeClr val="tx1"/>
                          </a:solidFill>
                          <a:effectLst/>
                          <a:latin typeface="微软雅黑" panose="020B0503020204020204" pitchFamily="34" charset="-122"/>
                          <a:ea typeface="微软雅黑" panose="020B0503020204020204" pitchFamily="34" charset="-122"/>
                        </a:rPr>
                        <a:t>/</a:t>
                      </a:r>
                      <a:r>
                        <a:rPr lang="zh-CN" altLang="en-US" sz="1800" b="0" u="none" strike="noStrike">
                          <a:solidFill>
                            <a:schemeClr val="tx1"/>
                          </a:solidFill>
                          <a:effectLst/>
                          <a:latin typeface="微软雅黑" panose="020B0503020204020204" pitchFamily="34" charset="-122"/>
                          <a:ea typeface="微软雅黑" panose="020B0503020204020204" pitchFamily="34" charset="-122"/>
                        </a:rPr>
                        <a:t>伍方健</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39445">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r" fontAlgn="ct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审核人员：</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l" fontAlgn="ctr"/>
                      <a:r>
                        <a:rPr lang="zh-CN" altLang="en-US" sz="1800" b="0" i="0" u="none" strike="noStrike">
                          <a:solidFill>
                            <a:schemeClr val="tx1"/>
                          </a:solidFill>
                          <a:effectLst/>
                          <a:latin typeface="微软雅黑" panose="020B0503020204020204" pitchFamily="34" charset="-122"/>
                          <a:ea typeface="微软雅黑" panose="020B0503020204020204" pitchFamily="34" charset="-122"/>
                        </a:rPr>
                        <a:t>项俊</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439445">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r" fontAlgn="ctr"/>
                      <a:r>
                        <a:rPr lang="zh-CN" altLang="en-US" sz="1800" b="0" u="none" strike="noStrike" dirty="0">
                          <a:solidFill>
                            <a:schemeClr val="tx1"/>
                          </a:solidFill>
                          <a:effectLst/>
                          <a:latin typeface="微软雅黑" panose="020B0503020204020204" pitchFamily="34" charset="-122"/>
                          <a:ea typeface="微软雅黑" panose="020B0503020204020204" pitchFamily="34" charset="-122"/>
                        </a:rPr>
                        <a:t>提交日期：</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等线" panose="02010600030101010101" charset="-122"/>
                        </a:defRPr>
                      </a:lvl1pPr>
                      <a:lvl2pPr marL="457200" algn="l" defTabSz="914400" rtl="0" eaLnBrk="1" latinLnBrk="0" hangingPunct="1">
                        <a:defRPr sz="1800" kern="1200">
                          <a:solidFill>
                            <a:schemeClr val="tx1"/>
                          </a:solidFill>
                          <a:latin typeface="等线" panose="02010600030101010101" charset="-122"/>
                        </a:defRPr>
                      </a:lvl2pPr>
                      <a:lvl3pPr marL="914400" algn="l" defTabSz="914400" rtl="0" eaLnBrk="1" latinLnBrk="0" hangingPunct="1">
                        <a:defRPr sz="1800" kern="1200">
                          <a:solidFill>
                            <a:schemeClr val="tx1"/>
                          </a:solidFill>
                          <a:latin typeface="等线" panose="02010600030101010101" charset="-122"/>
                        </a:defRPr>
                      </a:lvl3pPr>
                      <a:lvl4pPr marL="1371600" algn="l" defTabSz="914400" rtl="0" eaLnBrk="1" latinLnBrk="0" hangingPunct="1">
                        <a:defRPr sz="1800" kern="1200">
                          <a:solidFill>
                            <a:schemeClr val="tx1"/>
                          </a:solidFill>
                          <a:latin typeface="等线" panose="02010600030101010101" charset="-122"/>
                        </a:defRPr>
                      </a:lvl4pPr>
                      <a:lvl5pPr marL="1828800" algn="l" defTabSz="914400" rtl="0" eaLnBrk="1" latinLnBrk="0" hangingPunct="1">
                        <a:defRPr sz="1800" kern="1200">
                          <a:solidFill>
                            <a:schemeClr val="tx1"/>
                          </a:solidFill>
                          <a:latin typeface="等线" panose="02010600030101010101" charset="-122"/>
                        </a:defRPr>
                      </a:lvl5pPr>
                      <a:lvl6pPr marL="2286000" algn="l" defTabSz="914400" rtl="0" eaLnBrk="1" latinLnBrk="0" hangingPunct="1">
                        <a:defRPr sz="1800" kern="1200">
                          <a:solidFill>
                            <a:schemeClr val="tx1"/>
                          </a:solidFill>
                          <a:latin typeface="等线" panose="02010600030101010101" charset="-122"/>
                        </a:defRPr>
                      </a:lvl6pPr>
                      <a:lvl7pPr marL="2743200" algn="l" defTabSz="914400" rtl="0" eaLnBrk="1" latinLnBrk="0" hangingPunct="1">
                        <a:defRPr sz="1800" kern="1200">
                          <a:solidFill>
                            <a:schemeClr val="tx1"/>
                          </a:solidFill>
                          <a:latin typeface="等线" panose="02010600030101010101" charset="-122"/>
                        </a:defRPr>
                      </a:lvl7pPr>
                      <a:lvl8pPr marL="3200400" algn="l" defTabSz="914400" rtl="0" eaLnBrk="1" latinLnBrk="0" hangingPunct="1">
                        <a:defRPr sz="1800" kern="1200">
                          <a:solidFill>
                            <a:schemeClr val="tx1"/>
                          </a:solidFill>
                          <a:latin typeface="等线" panose="02010600030101010101" charset="-122"/>
                        </a:defRPr>
                      </a:lvl8pPr>
                      <a:lvl9pPr marL="3657600" algn="l" defTabSz="914400" rtl="0" eaLnBrk="1" latinLnBrk="0" hangingPunct="1">
                        <a:defRPr sz="1800" kern="1200">
                          <a:solidFill>
                            <a:schemeClr val="tx1"/>
                          </a:solidFill>
                          <a:latin typeface="等线" panose="02010600030101010101" charset="-122"/>
                        </a:defRPr>
                      </a:lvl9pPr>
                    </a:lstStyle>
                    <a:p>
                      <a:pPr algn="l" fontAlgn="ctr"/>
                      <a:r>
                        <a:rPr lang="en-US" sz="1800" b="0" u="none" strike="noStrike">
                          <a:solidFill>
                            <a:schemeClr val="tx1"/>
                          </a:solidFill>
                          <a:effectLst/>
                          <a:latin typeface="微软雅黑" panose="020B0503020204020204" pitchFamily="34" charset="-122"/>
                          <a:ea typeface="微软雅黑" panose="020B0503020204020204" pitchFamily="34" charset="-122"/>
                        </a:rPr>
                        <a:t>2025</a:t>
                      </a:r>
                      <a:r>
                        <a:rPr lang="zh-CN" altLang="en-US" sz="1800" b="0" u="none" strike="noStrike">
                          <a:solidFill>
                            <a:schemeClr val="tx1"/>
                          </a:solidFill>
                          <a:effectLst/>
                          <a:latin typeface="微软雅黑" panose="020B0503020204020204" pitchFamily="34" charset="-122"/>
                          <a:ea typeface="微软雅黑" panose="020B0503020204020204" pitchFamily="34" charset="-122"/>
                        </a:rPr>
                        <a:t>年</a:t>
                      </a:r>
                      <a:r>
                        <a:rPr lang="en-US" altLang="zh-CN" sz="1800" b="0" u="none" strike="noStrike">
                          <a:solidFill>
                            <a:schemeClr val="tx1"/>
                          </a:solidFill>
                          <a:effectLst/>
                          <a:latin typeface="微软雅黑" panose="020B0503020204020204" pitchFamily="34" charset="-122"/>
                          <a:ea typeface="微软雅黑" panose="020B0503020204020204" pitchFamily="34" charset="-122"/>
                        </a:rPr>
                        <a:t>9</a:t>
                      </a:r>
                      <a:r>
                        <a:rPr lang="zh-CN" altLang="en-US" sz="1800" b="0" u="none" strike="noStrike">
                          <a:solidFill>
                            <a:schemeClr val="tx1"/>
                          </a:solidFill>
                          <a:effectLst/>
                          <a:latin typeface="微软雅黑" panose="020B0503020204020204" pitchFamily="34" charset="-122"/>
                          <a:ea typeface="微软雅黑" panose="020B0503020204020204" pitchFamily="34" charset="-122"/>
                        </a:rPr>
                        <a:t>月</a:t>
                      </a:r>
                      <a:r>
                        <a:rPr lang="en-US" altLang="zh-CN" sz="1800" b="0" u="none" strike="noStrike">
                          <a:solidFill>
                            <a:schemeClr val="tx1"/>
                          </a:solidFill>
                          <a:effectLst/>
                          <a:latin typeface="微软雅黑" panose="020B0503020204020204" pitchFamily="34" charset="-122"/>
                          <a:ea typeface="微软雅黑" panose="020B0503020204020204" pitchFamily="34" charset="-122"/>
                        </a:rPr>
                        <a:t>8</a:t>
                      </a:r>
                      <a:r>
                        <a:rPr lang="zh-CN" altLang="en-US" sz="1800" b="0" u="none" strike="noStrike">
                          <a:solidFill>
                            <a:schemeClr val="tx1"/>
                          </a:solidFill>
                          <a:effectLst/>
                          <a:latin typeface="微软雅黑" panose="020B0503020204020204" pitchFamily="34" charset="-122"/>
                          <a:ea typeface="微软雅黑" panose="020B0503020204020204" pitchFamily="34" charset="-122"/>
                        </a:rPr>
                        <a:t>日</a:t>
                      </a:r>
                      <a:endParaRPr lang="zh-CN" altLang="en-US" sz="1800" b="0" i="0" u="none" strike="noStrike" dirty="0">
                        <a:solidFill>
                          <a:schemeClr val="tx1"/>
                        </a:solidFill>
                        <a:effectLst/>
                        <a:latin typeface="微软雅黑" panose="020B0503020204020204" pitchFamily="34" charset="-122"/>
                        <a:ea typeface="微软雅黑" panose="020B0503020204020204" pitchFamily="34" charset="-122"/>
                      </a:endParaRPr>
                    </a:p>
                  </a:txBody>
                  <a:tcPr marL="7620" marR="7620" marT="762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custDataLst>
              <p:tags r:id="rId1"/>
            </p:custDataLst>
            <p:extLst>
              <p:ext uri="{D42A27DB-BD31-4B8C-83A1-F6EECF244321}">
                <p14:modId xmlns:p14="http://schemas.microsoft.com/office/powerpoint/2010/main" val="1729835915"/>
              </p:ext>
            </p:extLst>
          </p:nvPr>
        </p:nvGraphicFramePr>
        <p:xfrm>
          <a:off x="175581" y="584352"/>
          <a:ext cx="11840837" cy="782810"/>
        </p:xfrm>
        <a:graphic>
          <a:graphicData uri="http://schemas.openxmlformats.org/drawingml/2006/table">
            <a:tbl>
              <a:tblPr/>
              <a:tblGrid>
                <a:gridCol w="1120079">
                  <a:extLst>
                    <a:ext uri="{9D8B030D-6E8A-4147-A177-3AD203B41FA5}">
                      <a16:colId xmlns:a16="http://schemas.microsoft.com/office/drawing/2014/main" val="20000"/>
                    </a:ext>
                  </a:extLst>
                </a:gridCol>
                <a:gridCol w="1060075">
                  <a:extLst>
                    <a:ext uri="{9D8B030D-6E8A-4147-A177-3AD203B41FA5}">
                      <a16:colId xmlns:a16="http://schemas.microsoft.com/office/drawing/2014/main" val="20001"/>
                    </a:ext>
                  </a:extLst>
                </a:gridCol>
                <a:gridCol w="1060075">
                  <a:extLst>
                    <a:ext uri="{9D8B030D-6E8A-4147-A177-3AD203B41FA5}">
                      <a16:colId xmlns:a16="http://schemas.microsoft.com/office/drawing/2014/main" val="20002"/>
                    </a:ext>
                  </a:extLst>
                </a:gridCol>
                <a:gridCol w="1060075">
                  <a:extLst>
                    <a:ext uri="{9D8B030D-6E8A-4147-A177-3AD203B41FA5}">
                      <a16:colId xmlns:a16="http://schemas.microsoft.com/office/drawing/2014/main" val="20003"/>
                    </a:ext>
                  </a:extLst>
                </a:gridCol>
                <a:gridCol w="1060075">
                  <a:extLst>
                    <a:ext uri="{9D8B030D-6E8A-4147-A177-3AD203B41FA5}">
                      <a16:colId xmlns:a16="http://schemas.microsoft.com/office/drawing/2014/main" val="20004"/>
                    </a:ext>
                  </a:extLst>
                </a:gridCol>
                <a:gridCol w="1060075">
                  <a:extLst>
                    <a:ext uri="{9D8B030D-6E8A-4147-A177-3AD203B41FA5}">
                      <a16:colId xmlns:a16="http://schemas.microsoft.com/office/drawing/2014/main" val="20005"/>
                    </a:ext>
                  </a:extLst>
                </a:gridCol>
                <a:gridCol w="1060075">
                  <a:extLst>
                    <a:ext uri="{9D8B030D-6E8A-4147-A177-3AD203B41FA5}">
                      <a16:colId xmlns:a16="http://schemas.microsoft.com/office/drawing/2014/main" val="20006"/>
                    </a:ext>
                  </a:extLst>
                </a:gridCol>
                <a:gridCol w="1120079">
                  <a:extLst>
                    <a:ext uri="{9D8B030D-6E8A-4147-A177-3AD203B41FA5}">
                      <a16:colId xmlns:a16="http://schemas.microsoft.com/office/drawing/2014/main" val="20007"/>
                    </a:ext>
                  </a:extLst>
                </a:gridCol>
                <a:gridCol w="1060075">
                  <a:extLst>
                    <a:ext uri="{9D8B030D-6E8A-4147-A177-3AD203B41FA5}">
                      <a16:colId xmlns:a16="http://schemas.microsoft.com/office/drawing/2014/main" val="20008"/>
                    </a:ext>
                  </a:extLst>
                </a:gridCol>
                <a:gridCol w="1120079">
                  <a:extLst>
                    <a:ext uri="{9D8B030D-6E8A-4147-A177-3AD203B41FA5}">
                      <a16:colId xmlns:a16="http://schemas.microsoft.com/office/drawing/2014/main" val="20009"/>
                    </a:ext>
                  </a:extLst>
                </a:gridCol>
                <a:gridCol w="1060075">
                  <a:extLst>
                    <a:ext uri="{9D8B030D-6E8A-4147-A177-3AD203B41FA5}">
                      <a16:colId xmlns:a16="http://schemas.microsoft.com/office/drawing/2014/main" val="20010"/>
                    </a:ext>
                  </a:extLst>
                </a:gridCol>
              </a:tblGrid>
              <a:tr h="391405">
                <a:tc>
                  <a:txBody>
                    <a:bodyPr/>
                    <a:lstStyle/>
                    <a:p>
                      <a:pPr algn="ctr" fontAlgn="ct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文件密级</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绝密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机密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秘密</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内部公开</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800" b="1" i="0" u="none" strike="noStrike">
                          <a:solidFill>
                            <a:srgbClr val="FF0000"/>
                          </a:solidFill>
                          <a:effectLst/>
                          <a:latin typeface="楷体" panose="02010609060101010101" pitchFamily="49" charset="-122"/>
                          <a:ea typeface="楷体" panose="02010609060101010101" pitchFamily="49" charset="-122"/>
                        </a:rPr>
                        <a:t>√</a:t>
                      </a:r>
                      <a:endParaRPr lang="zh-CN" altLang="en-US" sz="1800" b="0" i="0" u="none" strike="noStrike" dirty="0">
                        <a:solidFill>
                          <a:srgbClr val="FF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外部公开</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0"/>
                  </a:ext>
                </a:extLst>
              </a:tr>
              <a:tr h="391405">
                <a:tc>
                  <a:txBody>
                    <a:bodyPr/>
                    <a:lstStyle/>
                    <a:p>
                      <a:pPr algn="ctr" fontAlgn="ct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分享范围</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全员</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zh-CN" altLang="en-US" sz="18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800" b="0" i="0" u="none" strike="noStrike" dirty="0">
                        <a:solidFill>
                          <a:srgbClr val="00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领域内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1" i="0" u="none" strike="noStrike">
                          <a:solidFill>
                            <a:srgbClr val="FF0000"/>
                          </a:solidFill>
                          <a:effectLst/>
                          <a:latin typeface="楷体" panose="02010609060101010101" pitchFamily="49" charset="-122"/>
                          <a:ea typeface="楷体" panose="02010609060101010101" pitchFamily="49" charset="-122"/>
                        </a:rPr>
                        <a:t>√</a:t>
                      </a:r>
                      <a:endParaRPr lang="zh-CN" altLang="en-US" sz="1800" b="0" i="0" u="none" strike="noStrike" dirty="0">
                        <a:solidFill>
                          <a:srgbClr val="FF0000"/>
                        </a:solidFill>
                        <a:effectLst/>
                        <a:latin typeface="微软雅黑" panose="020B0503020204020204" pitchFamily="34" charset="-122"/>
                        <a:ea typeface="微软雅黑" panose="020B0503020204020204" pitchFamily="34" charset="-122"/>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en-US" sz="1800" b="0" i="0" u="none" strike="noStrike" dirty="0">
                          <a:solidFill>
                            <a:srgbClr val="000000"/>
                          </a:solidFill>
                          <a:effectLst/>
                          <a:latin typeface="微软雅黑" panose="020B0503020204020204" pitchFamily="34" charset="-122"/>
                          <a:ea typeface="微软雅黑" panose="020B0503020204020204" pitchFamily="34" charset="-122"/>
                        </a:rPr>
                        <a:t>BU</a:t>
                      </a: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部门内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项目内</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8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1"/>
                  </a:ext>
                </a:extLst>
              </a:tr>
            </a:tbl>
          </a:graphicData>
        </a:graphic>
      </p:graphicFrame>
      <p:sp>
        <p:nvSpPr>
          <p:cNvPr id="7" name="文本框 6"/>
          <p:cNvSpPr txBox="1"/>
          <p:nvPr/>
        </p:nvSpPr>
        <p:spPr>
          <a:xfrm>
            <a:off x="175581" y="121614"/>
            <a:ext cx="11840836" cy="369332"/>
          </a:xfrm>
          <a:prstGeom prst="rect">
            <a:avLst/>
          </a:prstGeom>
          <a:noFill/>
        </p:spPr>
        <p:txBody>
          <a:bodyPr wrap="square">
            <a:spAutoFit/>
          </a:bodyPr>
          <a:lstStyle/>
          <a:p>
            <a:pPr algn="l" fontAlgn="ctr"/>
            <a:r>
              <a:rPr lang="en-US" altLang="zh-CN" sz="1800" b="1" i="0" u="none" strike="noStrike" dirty="0">
                <a:solidFill>
                  <a:srgbClr val="000000"/>
                </a:solidFill>
                <a:effectLst/>
                <a:latin typeface="微软雅黑" panose="020B0503020204020204" pitchFamily="34" charset="-122"/>
                <a:ea typeface="微软雅黑" panose="020B0503020204020204" pitchFamily="34" charset="-122"/>
              </a:rPr>
              <a:t>Lesson Learn</a:t>
            </a:r>
            <a:r>
              <a:rPr lang="zh-CN" altLang="en-US" sz="1800" b="1" i="0" u="none" strike="noStrike" dirty="0">
                <a:solidFill>
                  <a:srgbClr val="000000"/>
                </a:solidFill>
                <a:effectLst/>
                <a:latin typeface="微软雅黑" panose="020B0503020204020204" pitchFamily="34" charset="-122"/>
                <a:ea typeface="微软雅黑" panose="020B0503020204020204" pitchFamily="34" charset="-122"/>
              </a:rPr>
              <a:t>案例信息安全要求与权限分配</a:t>
            </a:r>
            <a:r>
              <a:rPr lang="zh-CN" altLang="en-US" sz="1800" b="1" i="0" u="none" strike="noStrike" dirty="0">
                <a:solidFill>
                  <a:srgbClr val="FF0000"/>
                </a:solidFill>
                <a:effectLst/>
                <a:latin typeface="楷体" panose="02010609060101010101" pitchFamily="49" charset="-122"/>
                <a:ea typeface="楷体" panose="02010609060101010101" pitchFamily="49" charset="-122"/>
              </a:rPr>
              <a:t>（按照文档实际情况对应选项打“√” ）</a:t>
            </a:r>
          </a:p>
        </p:txBody>
      </p:sp>
      <p:graphicFrame>
        <p:nvGraphicFramePr>
          <p:cNvPr id="8" name="表格 7"/>
          <p:cNvGraphicFramePr>
            <a:graphicFrameLocks noGrp="1"/>
          </p:cNvGraphicFramePr>
          <p:nvPr/>
        </p:nvGraphicFramePr>
        <p:xfrm>
          <a:off x="179526" y="1460570"/>
          <a:ext cx="11840836" cy="5301828"/>
        </p:xfrm>
        <a:graphic>
          <a:graphicData uri="http://schemas.openxmlformats.org/drawingml/2006/table">
            <a:tbl>
              <a:tblPr/>
              <a:tblGrid>
                <a:gridCol w="5883923">
                  <a:extLst>
                    <a:ext uri="{9D8B030D-6E8A-4147-A177-3AD203B41FA5}">
                      <a16:colId xmlns:a16="http://schemas.microsoft.com/office/drawing/2014/main" val="20000"/>
                    </a:ext>
                  </a:extLst>
                </a:gridCol>
                <a:gridCol w="5956913">
                  <a:extLst>
                    <a:ext uri="{9D8B030D-6E8A-4147-A177-3AD203B41FA5}">
                      <a16:colId xmlns:a16="http://schemas.microsoft.com/office/drawing/2014/main" val="20001"/>
                    </a:ext>
                  </a:extLst>
                </a:gridCol>
              </a:tblGrid>
              <a:tr h="219673">
                <a:tc gridSpan="2">
                  <a:txBody>
                    <a:bodyPr/>
                    <a:lstStyle/>
                    <a:p>
                      <a:pPr algn="ctr" fontAlgn="ct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知识库</a:t>
                      </a:r>
                      <a:r>
                        <a:rPr lang="en-US" altLang="zh-CN" sz="1400" b="1" i="0" u="none" strike="noStrike" dirty="0">
                          <a:solidFill>
                            <a:srgbClr val="000000"/>
                          </a:solidFill>
                          <a:effectLst/>
                          <a:latin typeface="微软雅黑" panose="020B0503020204020204" pitchFamily="34" charset="-122"/>
                          <a:ea typeface="微软雅黑" panose="020B0503020204020204" pitchFamily="34" charset="-122"/>
                        </a:rPr>
                        <a:t>KM</a:t>
                      </a: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的信息安全规范及要求</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p>
                  </a:txBody>
                  <a:tcPr/>
                </a:tc>
                <a:extLst>
                  <a:ext uri="{0D108BD9-81ED-4DB2-BD59-A6C34878D82A}">
                    <a16:rowId xmlns:a16="http://schemas.microsoft.com/office/drawing/2014/main" val="10000"/>
                  </a:ext>
                </a:extLst>
              </a:tr>
              <a:tr h="219673">
                <a:tc>
                  <a:txBody>
                    <a:bodyPr/>
                    <a:lstStyle/>
                    <a:p>
                      <a:pPr algn="ctr" fontAlgn="ctr"/>
                      <a:r>
                        <a:rPr lang="zh-CN" altLang="en-US" sz="1400" b="1" i="0" u="none" strike="noStrike" dirty="0">
                          <a:solidFill>
                            <a:srgbClr val="000000"/>
                          </a:solidFill>
                          <a:effectLst/>
                          <a:latin typeface="微软雅黑" panose="020B0503020204020204" pitchFamily="34" charset="-122"/>
                          <a:ea typeface="微软雅黑" panose="020B0503020204020204" pitchFamily="34" charset="-122"/>
                        </a:rPr>
                        <a:t>内容</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备注</a:t>
                      </a: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说明</a:t>
                      </a:r>
                      <a:r>
                        <a:rPr lang="en-US" altLang="zh-CN" sz="12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答疑</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287721">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1</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、知识文档</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Owner</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需要对其进行文件密级（绝密、机密、秘密、内部公开、外部公开）定级并给出使用范围（项目、部门、领域、</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BU</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、全员）；</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文件密级如何认定（绝密、机密、秘密、内部公开、外部公开），认定标准有哪些？</a:t>
                      </a:r>
                      <a:endParaRPr lang="en-US" altLang="zh-CN" sz="1200" b="0" i="0" u="none" strike="noStrike" dirty="0">
                        <a:solidFill>
                          <a:srgbClr val="0000FF"/>
                        </a:solidFill>
                        <a:effectLst/>
                        <a:latin typeface="微软雅黑" panose="020B0503020204020204" pitchFamily="34" charset="-122"/>
                        <a:ea typeface="微软雅黑" panose="020B0503020204020204" pitchFamily="34" charset="-122"/>
                      </a:endParaRPr>
                    </a:p>
                    <a:p>
                      <a:pPr algn="l" fontAlgn="ct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信安：</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有对应体系文件规范</a:t>
                      </a:r>
                      <a:r>
                        <a:rPr lang="en-US" altLang="zh-CN" sz="1200" b="0"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200" b="1" i="0" u="none" strike="noStrike" dirty="0">
                          <a:solidFill>
                            <a:schemeClr val="tx1"/>
                          </a:solidFill>
                          <a:effectLst/>
                          <a:latin typeface="微软雅黑" panose="020B0503020204020204" pitchFamily="34" charset="-122"/>
                          <a:ea typeface="微软雅黑" panose="020B0503020204020204" pitchFamily="34" charset="-122"/>
                        </a:rPr>
                        <a:t>保密信息等级分类及授权管理办法</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a:t>
                      </a:r>
                      <a:r>
                        <a:rPr lang="en-US" sz="1200" b="0" i="0" u="sng" strike="noStrike" dirty="0">
                          <a:solidFill>
                            <a:srgbClr val="C00000"/>
                          </a:solidFill>
                          <a:effectLst/>
                          <a:latin typeface="微软雅黑" panose="020B0503020204020204" pitchFamily="34" charset="-122"/>
                          <a:ea typeface="微软雅黑" panose="020B0503020204020204" pitchFamily="34" charset="-122"/>
                        </a:rPr>
                        <a:t>https://epros.longcheer.com:8080/static-web/#/view?p=1&amp;app=false&amp;t=fileContent&amp;f=search&amp;h=0&amp;id=5659</a:t>
                      </a:r>
                      <a:br>
                        <a:rPr 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en-US" sz="1200" b="0" i="0" u="none" strike="noStrike" dirty="0">
                          <a:solidFill>
                            <a:srgbClr val="0000FF"/>
                          </a:solidFill>
                          <a:effectLst/>
                          <a:latin typeface="微软雅黑" panose="020B0503020204020204" pitchFamily="34" charset="-122"/>
                          <a:ea typeface="微软雅黑" panose="020B0503020204020204" pitchFamily="34" charset="-122"/>
                        </a:rPr>
                        <a:t>b.</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知识文档</a:t>
                      </a:r>
                      <a:r>
                        <a:rPr lang="en-US" sz="1200" b="0" i="0" u="none" strike="noStrike" dirty="0">
                          <a:solidFill>
                            <a:srgbClr val="0000FF"/>
                          </a:solidFill>
                          <a:effectLst/>
                          <a:latin typeface="微软雅黑" panose="020B0503020204020204" pitchFamily="34" charset="-122"/>
                          <a:ea typeface="微软雅黑" panose="020B0503020204020204" pitchFamily="34" charset="-122"/>
                        </a:rPr>
                        <a:t>Owner，</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包含哪些人？</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1" i="0" u="none" strike="noStrike" dirty="0">
                          <a:solidFill>
                            <a:srgbClr val="000000"/>
                          </a:solidFill>
                          <a:effectLst/>
                          <a:latin typeface="微软雅黑" panose="020B0503020204020204" pitchFamily="34" charset="-122"/>
                          <a:ea typeface="微软雅黑" panose="020B0503020204020204" pitchFamily="34" charset="-122"/>
                        </a:rPr>
                        <a:t>信安：</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一般指文档作者本人，建议由文档作者进行脱敏，有文档作者直属领导进行审查并确定分享范围权限</a:t>
                      </a:r>
                      <a:endParaRPr lang="zh-CN" altLang="en-US" sz="1200" b="0" i="0" u="none" strike="noStrike" dirty="0">
                        <a:solidFill>
                          <a:srgbClr val="0000FF"/>
                        </a:solidFill>
                        <a:effectLst/>
                        <a:latin typeface="微软雅黑" panose="020B0503020204020204" pitchFamily="34" charset="-122"/>
                        <a:ea typeface="微软雅黑" panose="020B0503020204020204" pitchFamily="34" charset="-122"/>
                      </a:endParaRP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94443">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2</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、知识库</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KM</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不应存放绝密、机密、秘密级内容；内部公开、外部公开可适用全员访问；公司鼓励全员对可公开的知识文档上传知识库分享，跨领域全员分享需由领域</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KMO/KMC</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评估后决策；</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知识库平台分享属性强烈，要上传密级内容？</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不上传密级以上内容，风险更小。知识也是公司的经验成果，建议依然还是要控制分享范围，勿随意做全员分享，需做一定的保护，确定无关的部门或岗位建议不要对其分享（譬如研发的知识分享给行政），避免内部经验知识被外部轻易复制获取。</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p>
                      <a:pPr marL="0" marR="0" lvl="0" indent="0" algn="l" defTabSz="914400" rtl="0" eaLnBrk="1" fontAlgn="ctr" latinLnBrk="0" hangingPunct="1">
                        <a:lnSpc>
                          <a:spcPct val="100000"/>
                        </a:lnSpc>
                        <a:spcBef>
                          <a:spcPts val="0"/>
                        </a:spcBef>
                        <a:spcAft>
                          <a:spcPts val="0"/>
                        </a:spcAft>
                        <a:buClrTx/>
                        <a:buSzTx/>
                        <a:buFontTx/>
                        <a:buNone/>
                        <a:defRPr/>
                      </a:pPr>
                      <a:r>
                        <a:rPr lang="en-US" altLang="zh-CN" sz="1200" b="0" i="0" u="none" strike="noStrike" dirty="0">
                          <a:solidFill>
                            <a:srgbClr val="3333FF"/>
                          </a:solidFill>
                          <a:effectLst/>
                          <a:latin typeface="微软雅黑" panose="020B0503020204020204" pitchFamily="34" charset="-122"/>
                          <a:ea typeface="微软雅黑" panose="020B0503020204020204" pitchFamily="34" charset="-122"/>
                        </a:rPr>
                        <a:t>b.</a:t>
                      </a:r>
                      <a:r>
                        <a:rPr lang="zh-CN" altLang="en-US" sz="1200" b="0" i="0" u="none" strike="noStrike" dirty="0">
                          <a:solidFill>
                            <a:srgbClr val="3333FF"/>
                          </a:solidFill>
                          <a:effectLst/>
                          <a:latin typeface="微软雅黑" panose="020B0503020204020204" pitchFamily="34" charset="-122"/>
                          <a:ea typeface="微软雅黑" panose="020B0503020204020204" pitchFamily="34" charset="-122"/>
                        </a:rPr>
                        <a:t>内部公开指领域内部公开，外部公开指公司全员公开。</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33281">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3</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、领域管理</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Owner</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需对本领域知识进行分类、分级，对不同的人员设置上传、下载、预览等不同的权限，遵循最小授权要求，默认只有预览权限；</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领域管理</a:t>
                      </a: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Owner</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en-US" altLang="zh-CN" sz="1200" b="1" i="0" u="none" strike="noStrike" dirty="0">
                          <a:solidFill>
                            <a:schemeClr val="tx1"/>
                          </a:solidFill>
                          <a:effectLst/>
                          <a:latin typeface="微软雅黑" panose="020B0503020204020204" pitchFamily="34" charset="-122"/>
                          <a:ea typeface="微软雅黑" panose="020B0503020204020204" pitchFamily="34" charset="-122"/>
                        </a:rPr>
                        <a:t>KM</a:t>
                      </a:r>
                      <a:r>
                        <a:rPr lang="zh-CN" altLang="en-US" sz="1200" b="1"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知识库领域内拥有“管理”权限的知识管理员或部门知识接口人</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921533">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4</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、知识文档</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Owner</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需对文件名及文件内容进行脱敏，不可出现客户及客户项目、客户型号名称、</a:t>
                      </a: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LOGO</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等相关信息，需使用龙旗内部代码及项目名称替代，避免出现价格，重大项目问题等敏感信息；</a:t>
                      </a:r>
                      <a:r>
                        <a:rPr lang="zh-CN" altLang="en-US" sz="1380" b="1" i="0" u="none" strike="noStrike" dirty="0">
                          <a:solidFill>
                            <a:schemeClr val="tx1"/>
                          </a:solidFill>
                          <a:effectLst/>
                          <a:latin typeface="微软雅黑" panose="020B0503020204020204" pitchFamily="34" charset="-122"/>
                          <a:ea typeface="微软雅黑" panose="020B0503020204020204" pitchFamily="34" charset="-122"/>
                        </a:rPr>
                        <a:t>避免出现敏感词</a:t>
                      </a:r>
                      <a:r>
                        <a:rPr lang="en-US" altLang="zh-CN" sz="1380" b="1"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380" b="1" i="0" u="none" strike="noStrike" dirty="0">
                          <a:solidFill>
                            <a:schemeClr val="tx1"/>
                          </a:solidFill>
                          <a:effectLst/>
                          <a:latin typeface="微软雅黑" panose="020B0503020204020204" pitchFamily="34" charset="-122"/>
                          <a:ea typeface="微软雅黑" panose="020B0503020204020204" pitchFamily="34" charset="-122"/>
                        </a:rPr>
                        <a:t>信息安全部规定的为准</a:t>
                      </a:r>
                      <a:r>
                        <a:rPr lang="en-US" altLang="zh-CN" sz="1380" b="1" i="0" u="none" strike="noStrike" dirty="0">
                          <a:solidFill>
                            <a:schemeClr val="tx1"/>
                          </a:solidFill>
                          <a:effectLst/>
                          <a:latin typeface="微软雅黑" panose="020B0503020204020204" pitchFamily="34" charset="-122"/>
                          <a:ea typeface="微软雅黑" panose="020B0503020204020204" pitchFamily="34" charset="-122"/>
                        </a:rPr>
                        <a:t>)</a:t>
                      </a:r>
                      <a:r>
                        <a:rPr lang="zh-CN" altLang="en-US" sz="1380" b="1" i="0" u="none" strike="noStrike" dirty="0">
                          <a:solidFill>
                            <a:schemeClr val="tx1"/>
                          </a:solidFill>
                          <a:effectLst/>
                          <a:latin typeface="微软雅黑" panose="020B0503020204020204" pitchFamily="34" charset="-122"/>
                          <a:ea typeface="微软雅黑" panose="020B0503020204020204" pitchFamily="34" charset="-122"/>
                        </a:rPr>
                        <a:t>；</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重大项目问题：重大如何理解？</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信安：何为重大应由业务部门做界定，信安可以给出建议譬如给公司带来超过</a:t>
                      </a:r>
                      <a:r>
                        <a:rPr lang="en-US" altLang="zh-CN" sz="1200" b="0" i="0" u="none" strike="noStrike" dirty="0">
                          <a:solidFill>
                            <a:srgbClr val="000000"/>
                          </a:solidFill>
                          <a:effectLst/>
                          <a:latin typeface="微软雅黑" panose="020B0503020204020204" pitchFamily="34" charset="-122"/>
                          <a:ea typeface="微软雅黑" panose="020B0503020204020204" pitchFamily="34" charset="-122"/>
                        </a:rPr>
                        <a:t>100</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万损失的问题，本应获标而丢标的问题等；建议可通过脱敏模糊化进行知识分享。</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项目问题：部分知识案例就是对项目问题进行复盘</a:t>
                      </a: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总结并加以改善的。</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信安：做好内容脱敏即可</a:t>
                      </a:r>
                      <a:endParaRPr lang="zh-CN" altLang="en-US" sz="1200" b="0" i="0" u="none" strike="noStrike" dirty="0">
                        <a:solidFill>
                          <a:srgbClr val="0000FF"/>
                        </a:solidFill>
                        <a:effectLst/>
                        <a:latin typeface="微软雅黑" panose="020B0503020204020204" pitchFamily="34" charset="-122"/>
                        <a:ea typeface="微软雅黑" panose="020B0503020204020204" pitchFamily="34" charset="-122"/>
                      </a:endParaRP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652601">
                <a:tc>
                  <a:txBody>
                    <a:bodyPr/>
                    <a:lstStyle/>
                    <a:p>
                      <a:pPr algn="l" fontAlgn="ctr"/>
                      <a:r>
                        <a:rPr lang="en-US" altLang="zh-CN" sz="1380" b="1" i="0" u="none" strike="noStrike">
                          <a:solidFill>
                            <a:srgbClr val="000000"/>
                          </a:solidFill>
                          <a:effectLst/>
                          <a:latin typeface="微软雅黑" panose="020B0503020204020204" pitchFamily="34" charset="-122"/>
                          <a:ea typeface="微软雅黑" panose="020B0503020204020204" pitchFamily="34" charset="-122"/>
                        </a:rPr>
                        <a:t>5</a:t>
                      </a:r>
                      <a:r>
                        <a:rPr lang="zh-CN" altLang="en-US" sz="1380" b="1" i="0" u="none" strike="noStrike">
                          <a:solidFill>
                            <a:srgbClr val="000000"/>
                          </a:solidFill>
                          <a:effectLst/>
                          <a:latin typeface="微软雅黑" panose="020B0503020204020204" pitchFamily="34" charset="-122"/>
                          <a:ea typeface="微软雅黑" panose="020B0503020204020204" pitchFamily="34" charset="-122"/>
                        </a:rPr>
                        <a:t>、知识文档需要注意个人隐私保护，未经授权避免出现他人姓名、肖像、住址、身份证、银行卡号、电话号码等个人隐私内容；</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rowSpan="2">
                  <a:txBody>
                    <a:bodyPr/>
                    <a:lstStyle/>
                    <a:p>
                      <a:pPr algn="l" fontAlgn="ctr"/>
                      <a:r>
                        <a:rPr lang="en-US" altLang="zh-CN" sz="1200" b="0" i="0" u="none" strike="noStrike" dirty="0">
                          <a:solidFill>
                            <a:srgbClr val="0000FF"/>
                          </a:solidFill>
                          <a:effectLst/>
                          <a:latin typeface="微软雅黑" panose="020B0503020204020204" pitchFamily="34" charset="-122"/>
                          <a:ea typeface="微软雅黑" panose="020B0503020204020204" pitchFamily="34" charset="-122"/>
                        </a:rPr>
                        <a:t>a..</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知识文档萃取需要写上流程文档</a:t>
                      </a:r>
                      <a:r>
                        <a:rPr lang="en-US" altLang="zh-CN" sz="1200" b="0" i="0" u="none" strike="noStrike" dirty="0" err="1">
                          <a:solidFill>
                            <a:srgbClr val="0000FF"/>
                          </a:solidFill>
                          <a:effectLst/>
                          <a:latin typeface="微软雅黑" panose="020B0503020204020204" pitchFamily="34" charset="-122"/>
                          <a:ea typeface="微软雅黑" panose="020B0503020204020204" pitchFamily="34" charset="-122"/>
                        </a:rPr>
                        <a:t>Owenr</a:t>
                      </a:r>
                      <a: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t>作者姓名甚至工号，怎么处理？</a:t>
                      </a:r>
                      <a:br>
                        <a:rPr lang="zh-CN" altLang="en-US" sz="1200" b="0" i="0" u="none" strike="noStrike" dirty="0">
                          <a:solidFill>
                            <a:srgbClr val="0000FF"/>
                          </a:solidFill>
                          <a:effectLst/>
                          <a:latin typeface="微软雅黑" panose="020B0503020204020204" pitchFamily="34" charset="-122"/>
                          <a:ea typeface="微软雅黑" panose="020B0503020204020204" pitchFamily="34" charset="-122"/>
                        </a:rPr>
                      </a:b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信安：流程文档</a:t>
                      </a:r>
                      <a:r>
                        <a:rPr lang="en-US" altLang="zh-CN" sz="1200" b="0" i="0" u="none" strike="noStrike" dirty="0" err="1">
                          <a:solidFill>
                            <a:srgbClr val="000000"/>
                          </a:solidFill>
                          <a:effectLst/>
                          <a:latin typeface="微软雅黑" panose="020B0503020204020204" pitchFamily="34" charset="-122"/>
                          <a:ea typeface="微软雅黑" panose="020B0503020204020204" pitchFamily="34" charset="-122"/>
                        </a:rPr>
                        <a:t>Owenr</a:t>
                      </a:r>
                      <a:r>
                        <a:rPr lang="zh-CN" altLang="en-US" sz="1200" b="0" i="0" u="none" strike="noStrike" dirty="0">
                          <a:solidFill>
                            <a:srgbClr val="000000"/>
                          </a:solidFill>
                          <a:effectLst/>
                          <a:latin typeface="微软雅黑" panose="020B0503020204020204" pitchFamily="34" charset="-122"/>
                          <a:ea typeface="微软雅黑" panose="020B0503020204020204" pitchFamily="34" charset="-122"/>
                        </a:rPr>
                        <a:t>作者姓名甚至工号属于个人产出标注，是公司工作的标准要求需遵循的，也可认定是自愿行为并已授权</a:t>
                      </a:r>
                      <a:endParaRPr lang="en-US" altLang="zh-CN" sz="1200" b="0" i="0" u="none" strike="noStrike" dirty="0">
                        <a:solidFill>
                          <a:srgbClr val="000000"/>
                        </a:solidFill>
                        <a:effectLst/>
                        <a:latin typeface="微软雅黑" panose="020B0503020204020204" pitchFamily="34" charset="-122"/>
                        <a:ea typeface="微软雅黑" panose="020B0503020204020204" pitchFamily="34" charset="-122"/>
                      </a:endParaRPr>
                    </a:p>
                    <a:p>
                      <a:pPr algn="l" fontAlgn="ctr"/>
                      <a:r>
                        <a:rPr lang="en-US" altLang="zh-CN" sz="1200" b="1" i="0" u="none" strike="noStrike" dirty="0" err="1">
                          <a:solidFill>
                            <a:srgbClr val="3333FF"/>
                          </a:solidFill>
                          <a:effectLst/>
                          <a:latin typeface="微软雅黑" panose="020B0503020204020204" pitchFamily="34" charset="-122"/>
                          <a:ea typeface="微软雅黑" panose="020B0503020204020204" pitchFamily="34" charset="-122"/>
                        </a:rPr>
                        <a:t>b.LL</a:t>
                      </a:r>
                      <a:r>
                        <a:rPr lang="zh-CN" altLang="en-US" sz="1200" b="1" i="0" u="none" strike="noStrike" dirty="0">
                          <a:solidFill>
                            <a:srgbClr val="3333FF"/>
                          </a:solidFill>
                          <a:effectLst/>
                          <a:latin typeface="微软雅黑" panose="020B0503020204020204" pitchFamily="34" charset="-122"/>
                          <a:ea typeface="微软雅黑" panose="020B0503020204020204" pitchFamily="34" charset="-122"/>
                        </a:rPr>
                        <a:t>案例属于哪一类文件密级分类？</a:t>
                      </a:r>
                      <a:endParaRPr lang="en-US" altLang="zh-CN" sz="1200" b="1" i="0" u="none" strike="noStrike" dirty="0">
                        <a:solidFill>
                          <a:srgbClr val="3333FF"/>
                        </a:solidFill>
                        <a:effectLst/>
                        <a:latin typeface="微软雅黑" panose="020B0503020204020204" pitchFamily="34" charset="-122"/>
                        <a:ea typeface="微软雅黑" panose="020B0503020204020204" pitchFamily="34" charset="-122"/>
                      </a:endParaRPr>
                    </a:p>
                    <a:p>
                      <a:pPr algn="l" fontAlgn="ctr"/>
                      <a:r>
                        <a:rPr lang="zh-CN" altLang="en-US" sz="1200" b="0" i="0" u="none" strike="noStrike" dirty="0">
                          <a:solidFill>
                            <a:schemeClr val="tx1"/>
                          </a:solidFill>
                          <a:effectLst/>
                          <a:latin typeface="微软雅黑" panose="020B0503020204020204" pitchFamily="34" charset="-122"/>
                          <a:ea typeface="微软雅黑" panose="020B0503020204020204" pitchFamily="34" charset="-122"/>
                        </a:rPr>
                        <a:t>信安：案例脱敏后一般属于内部公开。如果案例在短期内具有高价值，建议可以定为秘密，限定领域范围分享。秘密的内容经过一段时间也可以经过评估后降级为内部公开。</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646891">
                <a:tc>
                  <a:txBody>
                    <a:bodyPr/>
                    <a:lstStyle/>
                    <a:p>
                      <a:pPr algn="l" fontAlgn="ctr"/>
                      <a:r>
                        <a:rPr lang="en-US" altLang="zh-CN" sz="1380" b="1" i="0" u="none" strike="noStrike" dirty="0">
                          <a:solidFill>
                            <a:srgbClr val="000000"/>
                          </a:solidFill>
                          <a:effectLst/>
                          <a:latin typeface="微软雅黑" panose="020B0503020204020204" pitchFamily="34" charset="-122"/>
                          <a:ea typeface="微软雅黑" panose="020B0503020204020204" pitchFamily="34" charset="-122"/>
                        </a:rPr>
                        <a:t>6</a:t>
                      </a:r>
                      <a:r>
                        <a:rPr lang="zh-CN" altLang="en-US" sz="1380" b="1" i="0" u="none" strike="noStrike" dirty="0">
                          <a:solidFill>
                            <a:srgbClr val="000000"/>
                          </a:solidFill>
                          <a:effectLst/>
                          <a:latin typeface="微软雅黑" panose="020B0503020204020204" pitchFamily="34" charset="-122"/>
                          <a:ea typeface="微软雅黑" panose="020B0503020204020204" pitchFamily="34" charset="-122"/>
                        </a:rPr>
                        <a:t>、避免出现法律侵权内容，譬如使用未授权的字体、图片等相关侵权内容；避免上传未经授权的非原创的有版权合规风险的知识内容，譬如，未经授权的著作等；</a:t>
                      </a:r>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20000"/>
                        <a:lumOff val="80000"/>
                      </a:schemeClr>
                    </a:solidFill>
                  </a:tcPr>
                </a:tc>
                <a:tc vMerge="1">
                  <a:txBody>
                    <a:bodyPr/>
                    <a:lstStyle/>
                    <a:p>
                      <a:endParaRPr lang="zh-CN"/>
                    </a:p>
                  </a:txBody>
                  <a:tcPr marL="6055" marR="6055" marT="605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p:cNvGraphicFramePr>
            <a:graphicFrameLocks noGrp="1"/>
          </p:cNvGraphicFramePr>
          <p:nvPr>
            <p:extLst>
              <p:ext uri="{D42A27DB-BD31-4B8C-83A1-F6EECF244321}">
                <p14:modId xmlns:p14="http://schemas.microsoft.com/office/powerpoint/2010/main" val="1501919953"/>
              </p:ext>
            </p:extLst>
          </p:nvPr>
        </p:nvGraphicFramePr>
        <p:xfrm>
          <a:off x="230819" y="119955"/>
          <a:ext cx="11718526" cy="3601749"/>
        </p:xfrm>
        <a:graphic>
          <a:graphicData uri="http://schemas.openxmlformats.org/drawingml/2006/table">
            <a:tbl>
              <a:tblPr/>
              <a:tblGrid>
                <a:gridCol w="995672">
                  <a:extLst>
                    <a:ext uri="{9D8B030D-6E8A-4147-A177-3AD203B41FA5}">
                      <a16:colId xmlns:a16="http://schemas.microsoft.com/office/drawing/2014/main" val="20000"/>
                    </a:ext>
                  </a:extLst>
                </a:gridCol>
                <a:gridCol w="1100009">
                  <a:extLst>
                    <a:ext uri="{9D8B030D-6E8A-4147-A177-3AD203B41FA5}">
                      <a16:colId xmlns:a16="http://schemas.microsoft.com/office/drawing/2014/main" val="20001"/>
                    </a:ext>
                  </a:extLst>
                </a:gridCol>
                <a:gridCol w="1430906">
                  <a:extLst>
                    <a:ext uri="{9D8B030D-6E8A-4147-A177-3AD203B41FA5}">
                      <a16:colId xmlns:a16="http://schemas.microsoft.com/office/drawing/2014/main" val="20002"/>
                    </a:ext>
                  </a:extLst>
                </a:gridCol>
                <a:gridCol w="1520337">
                  <a:extLst>
                    <a:ext uri="{9D8B030D-6E8A-4147-A177-3AD203B41FA5}">
                      <a16:colId xmlns:a16="http://schemas.microsoft.com/office/drawing/2014/main" val="20003"/>
                    </a:ext>
                  </a:extLst>
                </a:gridCol>
                <a:gridCol w="1525460">
                  <a:extLst>
                    <a:ext uri="{9D8B030D-6E8A-4147-A177-3AD203B41FA5}">
                      <a16:colId xmlns:a16="http://schemas.microsoft.com/office/drawing/2014/main" val="20004"/>
                    </a:ext>
                  </a:extLst>
                </a:gridCol>
                <a:gridCol w="3507804">
                  <a:extLst>
                    <a:ext uri="{9D8B030D-6E8A-4147-A177-3AD203B41FA5}">
                      <a16:colId xmlns:a16="http://schemas.microsoft.com/office/drawing/2014/main" val="20005"/>
                    </a:ext>
                  </a:extLst>
                </a:gridCol>
                <a:gridCol w="1638338">
                  <a:extLst>
                    <a:ext uri="{9D8B030D-6E8A-4147-A177-3AD203B41FA5}">
                      <a16:colId xmlns:a16="http://schemas.microsoft.com/office/drawing/2014/main" val="20006"/>
                    </a:ext>
                  </a:extLst>
                </a:gridCol>
              </a:tblGrid>
              <a:tr h="465971">
                <a:tc gridSpan="7">
                  <a:txBody>
                    <a:bodyPr/>
                    <a:lstStyle/>
                    <a:p>
                      <a:pPr algn="l" fontAlgn="ctr"/>
                      <a:r>
                        <a:rPr lang="en-US" sz="1600" b="1" i="0" u="none" strike="noStrike" dirty="0">
                          <a:solidFill>
                            <a:srgbClr val="000000"/>
                          </a:solidFill>
                          <a:effectLst/>
                          <a:latin typeface="微软雅黑" panose="020B0503020204020204" pitchFamily="34" charset="-122"/>
                          <a:ea typeface="微软雅黑" panose="020B0503020204020204" pitchFamily="34" charset="-122"/>
                        </a:rPr>
                        <a:t>Lesson Learn</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转化</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标准化行动</a:t>
                      </a:r>
                      <a:r>
                        <a:rPr lang="en-US" altLang="zh-CN" sz="1600" b="1"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1" i="0" u="none" strike="noStrike" dirty="0">
                          <a:solidFill>
                            <a:srgbClr val="000000"/>
                          </a:solidFill>
                          <a:effectLst/>
                          <a:latin typeface="微软雅黑" panose="020B0503020204020204" pitchFamily="34" charset="-122"/>
                          <a:ea typeface="微软雅黑" panose="020B0503020204020204" pitchFamily="34" charset="-122"/>
                        </a:rPr>
                        <a:t>一览表</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0"/>
                  </a:ext>
                </a:extLst>
              </a:tr>
              <a:tr h="1156149">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问题阶段</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是否</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跨领域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是否有</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checklist/</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sop</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测试用例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操作手册等</a:t>
                      </a:r>
                      <a:endParaRPr 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是否有</a:t>
                      </a:r>
                      <a:endParaRPr lang="en-US" altLang="zh-CN" sz="1600" b="0" i="0" u="none" strike="noStrike" dirty="0">
                        <a:solidFill>
                          <a:srgbClr val="000000"/>
                        </a:solidFill>
                        <a:effectLst/>
                        <a:latin typeface="微软雅黑" panose="020B0503020204020204" pitchFamily="34" charset="-122"/>
                        <a:ea typeface="微软雅黑" panose="020B0503020204020204" pitchFamily="34" charset="-122"/>
                      </a:endParaRPr>
                    </a:p>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流程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机制</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是否需要</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checklist/sop/</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测试用例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操作手册</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流程</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机制等</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转化</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审核结果</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en-US" sz="1600" b="0" i="0" u="none" strike="noStrike" dirty="0">
                          <a:solidFill>
                            <a:srgbClr val="000000"/>
                          </a:solidFill>
                          <a:effectLst/>
                          <a:latin typeface="微软雅黑" panose="020B0503020204020204" pitchFamily="34" charset="-122"/>
                          <a:ea typeface="微软雅黑" panose="020B0503020204020204" pitchFamily="34" charset="-122"/>
                        </a:rPr>
                        <a:t>Action</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tc>
                  <a:txBody>
                    <a:bodyPr/>
                    <a:lstStyle/>
                    <a:p>
                      <a:pPr algn="ctr"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备注</a:t>
                      </a: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a:t>
                      </a: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其他</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001"/>
                  </a:ext>
                </a:extLst>
              </a:tr>
              <a:tr h="1979629">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TR4</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N</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Y</a:t>
                      </a:r>
                      <a:r>
                        <a:rPr lang="zh-CN" altLang="en-US" sz="1600" b="0" i="0" u="none" strike="noStrike">
                          <a:solidFill>
                            <a:srgbClr val="000000"/>
                          </a:solidFill>
                          <a:effectLst/>
                          <a:latin typeface="微软雅黑" panose="020B0503020204020204" pitchFamily="34" charset="-122"/>
                          <a:ea typeface="微软雅黑" panose="020B0503020204020204" pitchFamily="34" charset="-122"/>
                        </a:rPr>
                        <a:t>　</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N</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a:solidFill>
                            <a:srgbClr val="000000"/>
                          </a:solidFill>
                          <a:effectLst/>
                          <a:latin typeface="微软雅黑" panose="020B0503020204020204" pitchFamily="34" charset="-122"/>
                          <a:ea typeface="微软雅黑" panose="020B0503020204020204" pitchFamily="34" charset="-122"/>
                        </a:rPr>
                        <a:t>Y</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altLang="zh-CN" sz="1600" b="0" i="0" u="none" strike="noStrike" dirty="0">
                          <a:solidFill>
                            <a:srgbClr val="000000"/>
                          </a:solidFill>
                          <a:effectLst/>
                          <a:latin typeface="微软雅黑" panose="020B0503020204020204" pitchFamily="34" charset="-122"/>
                          <a:ea typeface="微软雅黑" panose="020B0503020204020204" pitchFamily="34" charset="-122"/>
                        </a:rPr>
                        <a:t>N</a:t>
                      </a:r>
                      <a:endParaRPr lang="zh-CN" altLang="en-US" sz="1600" b="0" i="0" u="none" strike="noStrike" dirty="0">
                        <a:solidFill>
                          <a:srgbClr val="000000"/>
                        </a:solidFill>
                        <a:effectLst/>
                        <a:latin typeface="微软雅黑" panose="020B0503020204020204" pitchFamily="34" charset="-122"/>
                        <a:ea typeface="微软雅黑" panose="020B0503020204020204" pitchFamily="34" charset="-12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zh-CN" altLang="en-US" sz="1600" b="0" i="0" u="none" strike="noStrike" dirty="0">
                          <a:solidFill>
                            <a:srgbClr val="000000"/>
                          </a:solidFill>
                          <a:effectLst/>
                          <a:latin typeface="微软雅黑" panose="020B0503020204020204" pitchFamily="34" charset="-122"/>
                          <a:ea typeface="微软雅黑" panose="020B0503020204020204" pitchFamily="34" charset="-122"/>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2" name="组合 21"/>
          <p:cNvGrpSpPr/>
          <p:nvPr/>
        </p:nvGrpSpPr>
        <p:grpSpPr>
          <a:xfrm>
            <a:off x="7113786" y="590196"/>
            <a:ext cx="4353926" cy="919401"/>
            <a:chOff x="7187492" y="801429"/>
            <a:chExt cx="4353926" cy="1340742"/>
          </a:xfrm>
        </p:grpSpPr>
        <p:sp>
          <p:nvSpPr>
            <p:cNvPr id="23" name="文本框 22"/>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01</a:t>
              </a:r>
            </a:p>
          </p:txBody>
        </p:sp>
        <p:sp>
          <p:nvSpPr>
            <p:cNvPr id="24" name="文本框 23"/>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关键字</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25" name="组合 24"/>
          <p:cNvGrpSpPr/>
          <p:nvPr/>
        </p:nvGrpSpPr>
        <p:grpSpPr>
          <a:xfrm>
            <a:off x="7113786" y="1769422"/>
            <a:ext cx="4353926" cy="919401"/>
            <a:chOff x="7187492" y="801429"/>
            <a:chExt cx="4353926" cy="1340742"/>
          </a:xfrm>
        </p:grpSpPr>
        <p:sp>
          <p:nvSpPr>
            <p:cNvPr id="26" name="文本框 25"/>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02</a:t>
              </a:r>
            </a:p>
          </p:txBody>
        </p:sp>
        <p:sp>
          <p:nvSpPr>
            <p:cNvPr id="27" name="文本框 26"/>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问题描述</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28" name="组合 27"/>
          <p:cNvGrpSpPr/>
          <p:nvPr/>
        </p:nvGrpSpPr>
        <p:grpSpPr>
          <a:xfrm>
            <a:off x="7113786" y="5307102"/>
            <a:ext cx="4353926" cy="919401"/>
            <a:chOff x="7187492" y="801429"/>
            <a:chExt cx="4353926" cy="1340742"/>
          </a:xfrm>
        </p:grpSpPr>
        <p:sp>
          <p:nvSpPr>
            <p:cNvPr id="29" name="文本框 28"/>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05</a:t>
              </a:r>
            </a:p>
          </p:txBody>
        </p:sp>
        <p:sp>
          <p:nvSpPr>
            <p:cNvPr id="30" name="文本框 29"/>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总结</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31" name="组合 30"/>
          <p:cNvGrpSpPr/>
          <p:nvPr/>
        </p:nvGrpSpPr>
        <p:grpSpPr>
          <a:xfrm>
            <a:off x="7113786" y="2948648"/>
            <a:ext cx="4353926" cy="919401"/>
            <a:chOff x="7187492" y="801429"/>
            <a:chExt cx="4353926" cy="1340742"/>
          </a:xfrm>
        </p:grpSpPr>
        <p:sp>
          <p:nvSpPr>
            <p:cNvPr id="32" name="文本框 31"/>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03</a:t>
              </a:r>
            </a:p>
          </p:txBody>
        </p:sp>
        <p:sp>
          <p:nvSpPr>
            <p:cNvPr id="33" name="文本框 32"/>
            <p:cNvSpPr txBox="1"/>
            <p:nvPr/>
          </p:nvSpPr>
          <p:spPr>
            <a:xfrm>
              <a:off x="8554986" y="1135181"/>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分析过程</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grpSp>
        <p:nvGrpSpPr>
          <p:cNvPr id="34" name="组合 33"/>
          <p:cNvGrpSpPr/>
          <p:nvPr/>
        </p:nvGrpSpPr>
        <p:grpSpPr>
          <a:xfrm>
            <a:off x="7113786" y="4127874"/>
            <a:ext cx="4353926" cy="919401"/>
            <a:chOff x="7187492" y="801429"/>
            <a:chExt cx="4353926" cy="1340742"/>
          </a:xfrm>
        </p:grpSpPr>
        <p:sp>
          <p:nvSpPr>
            <p:cNvPr id="35" name="文本框 34"/>
            <p:cNvSpPr txBox="1"/>
            <p:nvPr/>
          </p:nvSpPr>
          <p:spPr>
            <a:xfrm>
              <a:off x="7187492" y="801429"/>
              <a:ext cx="4353926" cy="1340742"/>
            </a:xfrm>
            <a:prstGeom prst="roundRect">
              <a:avLst/>
            </a:prstGeom>
            <a:solidFill>
              <a:srgbClr val="CF3138"/>
            </a:solidFill>
          </p:spPr>
          <p:txBody>
            <a:bodyPr wrap="square">
              <a:spAutoFit/>
            </a:bodyPr>
            <a:lstStyle>
              <a:defPPr>
                <a:defRPr lang="zh-CN"/>
              </a:defPPr>
              <a:lvl1pPr marR="0" lvl="0" indent="0" defTabSz="913765" fontAlgn="auto">
                <a:lnSpc>
                  <a:spcPct val="100000"/>
                </a:lnSpc>
                <a:spcBef>
                  <a:spcPts val="0"/>
                </a:spcBef>
                <a:spcAft>
                  <a:spcPts val="0"/>
                </a:spcAft>
                <a:buClrTx/>
                <a:buSzPct val="25000"/>
                <a:buFontTx/>
                <a:buNone/>
                <a:defRPr kumimoji="0" sz="6000" b="1" i="0" u="none" strike="noStrike" cap="none" spc="0" normalizeH="0" baseline="0">
                  <a:ln>
                    <a:noFill/>
                  </a:ln>
                  <a:solidFill>
                    <a:srgbClr val="FFFFFF">
                      <a:alpha val="90000"/>
                    </a:srgbClr>
                  </a:solidFill>
                  <a:effectLst/>
                  <a:uLnTx/>
                  <a:uFillTx/>
                </a:defRPr>
              </a:lvl1pPr>
            </a:lstStyle>
            <a:p>
              <a:pPr marL="0" marR="0" lvl="0" indent="0" algn="l" defTabSz="913765" rtl="0" eaLnBrk="1" fontAlgn="auto" latinLnBrk="0" hangingPunct="1">
                <a:lnSpc>
                  <a:spcPct val="100000"/>
                </a:lnSpc>
                <a:spcBef>
                  <a:spcPts val="0"/>
                </a:spcBef>
                <a:spcAft>
                  <a:spcPts val="0"/>
                </a:spcAft>
                <a:buClrTx/>
                <a:buSzPct val="25000"/>
                <a:buFontTx/>
                <a:buNone/>
                <a:defRPr/>
              </a:pPr>
              <a:r>
                <a:rPr kumimoji="0" lang="en-US" altLang="zh-CN" sz="48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04</a:t>
              </a:r>
            </a:p>
          </p:txBody>
        </p:sp>
        <p:sp>
          <p:nvSpPr>
            <p:cNvPr id="36" name="文本框 35"/>
            <p:cNvSpPr txBox="1"/>
            <p:nvPr/>
          </p:nvSpPr>
          <p:spPr>
            <a:xfrm>
              <a:off x="8554986" y="1139074"/>
              <a:ext cx="1578383" cy="673236"/>
            </a:xfrm>
            <a:prstGeom prst="rect">
              <a:avLst/>
            </a:prstGeom>
            <a:noFill/>
          </p:spPr>
          <p:txBody>
            <a:bodyPr wrap="square" rtlCol="0">
              <a:spAutoFit/>
            </a:bodyPr>
            <a:lstStyle>
              <a:defPPr>
                <a:defRPr lang="zh-CN"/>
              </a:defPPr>
              <a:lvl1pPr>
                <a:defRPr kumimoji="0" sz="1400" b="1" i="0" u="none" strike="noStrike" cap="none" spc="0" normalizeH="0" baseline="0">
                  <a:ln>
                    <a:noFill/>
                  </a:ln>
                  <a:solidFill>
                    <a:srgbClr val="FFFFFF"/>
                  </a:solidFill>
                  <a:effectLst/>
                  <a:uLnTx/>
                  <a:uFillTx/>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dirty="0">
                  <a:latin typeface="微软雅黑" panose="020B0503020204020204" pitchFamily="34" charset="-122"/>
                  <a:ea typeface="微软雅黑" panose="020B0503020204020204" pitchFamily="34" charset="-122"/>
                </a:rPr>
                <a:t>解决方案</a:t>
              </a:r>
              <a:endParaRPr kumimoji="0" lang="en-US" altLang="zh-CN" sz="1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sp>
        <p:nvSpPr>
          <p:cNvPr id="38" name="文本占位符 46"/>
          <p:cNvSpPr txBox="1"/>
          <p:nvPr/>
        </p:nvSpPr>
        <p:spPr>
          <a:xfrm>
            <a:off x="1185243" y="4916945"/>
            <a:ext cx="4113213" cy="841064"/>
          </a:xfrm>
          <a:prstGeom prst="rect">
            <a:avLst/>
          </a:prstGeom>
          <a:solidFill>
            <a:schemeClr val="bg1">
              <a:lumMod val="95000"/>
            </a:schemeClr>
          </a:solidFill>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0" lang="zh-CN" altLang="en-US" sz="1400" b="1" i="0" u="none" strike="noStrike" kern="1200" cap="none" spc="0" normalizeH="0" baseline="0" dirty="0" smtClean="0">
                <a:ln>
                  <a:noFill/>
                </a:ln>
                <a:solidFill>
                  <a:schemeClr val="tx2">
                    <a:lumMod val="60000"/>
                    <a:lumOff val="40000"/>
                  </a:schemeClr>
                </a:solidFill>
                <a:effectLst/>
                <a:uLnTx/>
                <a:uFillTx/>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en-US" altLang="zh-CN" sz="1680" b="1" i="0" u="none" strike="noStrike" kern="1200" cap="none" spc="0" normalizeH="0" baseline="0" noProof="0" dirty="0">
                <a:ln>
                  <a:noFill/>
                </a:ln>
                <a:solidFill>
                  <a:srgbClr val="474C50">
                    <a:lumMod val="60000"/>
                    <a:lumOff val="40000"/>
                  </a:srgb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Lesson Learn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kumimoji="0" lang="zh-CN" altLang="en-US" sz="2800" b="1" i="0" u="none" strike="noStrike" kern="1200" cap="none" spc="0" normalizeH="0" baseline="0" noProof="0" dirty="0">
                <a:ln>
                  <a:noFill/>
                </a:ln>
                <a:solidFill>
                  <a:srgbClr val="474C50">
                    <a:lumMod val="60000"/>
                    <a:lumOff val="40000"/>
                  </a:srgb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rPr>
              <a:t>案例总结</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3" name="矩形 2"/>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01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关键字</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17443" y="178904"/>
            <a:ext cx="1146468" cy="461665"/>
          </a:xfrm>
          <a:prstGeom prst="rect">
            <a:avLst/>
          </a:prstGeom>
          <a:noFill/>
        </p:spPr>
        <p:txBody>
          <a:bodyPr wrap="none" rtlCol="0">
            <a:spAutoFit/>
          </a:bodyPr>
          <a:lstStyle/>
          <a:p>
            <a:r>
              <a:rPr lang="zh-CN" altLang="en-US" sz="2400" b="1" spc="100" dirty="0">
                <a:latin typeface="微软雅黑" panose="020B0503020204020204" pitchFamily="34" charset="-122"/>
                <a:ea typeface="微软雅黑" panose="020B0503020204020204" pitchFamily="34" charset="-122"/>
              </a:rPr>
              <a:t>关键字</a:t>
            </a:r>
          </a:p>
        </p:txBody>
      </p:sp>
      <p:sp>
        <p:nvSpPr>
          <p:cNvPr id="5" name="文本框 4"/>
          <p:cNvSpPr txBox="1"/>
          <p:nvPr/>
        </p:nvSpPr>
        <p:spPr>
          <a:xfrm>
            <a:off x="346229" y="934277"/>
            <a:ext cx="11505460" cy="3528665"/>
          </a:xfrm>
          <a:prstGeom prst="rect">
            <a:avLst/>
          </a:prstGeom>
          <a:noFill/>
        </p:spPr>
        <p:txBody>
          <a:bodyPr wrap="square" rtlCol="0">
            <a:noAutofit/>
          </a:bodyPr>
          <a:lstStyle/>
          <a:p>
            <a:pPr>
              <a:lnSpc>
                <a:spcPct val="150000"/>
              </a:lnSpc>
            </a:pPr>
            <a:r>
              <a:rPr lang="zh-CN" altLang="en-US" sz="1600">
                <a:latin typeface="微软雅黑" panose="020B0503020204020204" pitchFamily="34" charset="-122"/>
                <a:ea typeface="微软雅黑" panose="020B0503020204020204" pitchFamily="34" charset="-122"/>
              </a:rPr>
              <a:t>关键字：</a:t>
            </a:r>
            <a:r>
              <a:rPr lang="zh-CN" altLang="en-US" sz="1600" dirty="0">
                <a:latin typeface="微软雅黑" panose="020B0503020204020204" pitchFamily="34" charset="-122"/>
                <a:ea typeface="微软雅黑" panose="020B0503020204020204" pitchFamily="34" charset="-122"/>
              </a:rPr>
              <a:t>媒体框架</a:t>
            </a:r>
            <a:r>
              <a:rPr lang="en-US" altLang="zh-CN" sz="1600">
                <a:latin typeface="微软雅黑" panose="020B0503020204020204" pitchFamily="34" charset="-122"/>
                <a:ea typeface="微软雅黑" panose="020B0503020204020204" pitchFamily="34" charset="-122"/>
              </a:rPr>
              <a:t> Mediaserver</a:t>
            </a:r>
            <a:r>
              <a:rPr lang="zh-CN" altLang="en-US" sz="1600">
                <a:latin typeface="微软雅黑" panose="020B0503020204020204" pitchFamily="34" charset="-122"/>
                <a:ea typeface="微软雅黑" panose="020B0503020204020204" pitchFamily="34" charset="-122"/>
              </a:rPr>
              <a:t> </a:t>
            </a:r>
            <a:r>
              <a:rPr lang="en-US" altLang="zh-CN" sz="1600">
                <a:latin typeface="微软雅黑" panose="020B0503020204020204" pitchFamily="34" charset="-122"/>
                <a:ea typeface="微软雅黑" panose="020B0503020204020204" pitchFamily="34" charset="-122"/>
              </a:rPr>
              <a:t>Binder</a:t>
            </a:r>
            <a:r>
              <a:rPr lang="zh-CN" altLang="en-US" sz="1600">
                <a:latin typeface="微软雅黑" panose="020B0503020204020204" pitchFamily="34" charset="-122"/>
                <a:ea typeface="微软雅黑" panose="020B0503020204020204" pitchFamily="34" charset="-122"/>
              </a:rPr>
              <a:t> </a:t>
            </a:r>
            <a:r>
              <a:rPr lang="en-US" altLang="zh-CN" sz="1600">
                <a:latin typeface="微软雅黑" panose="020B0503020204020204" pitchFamily="34" charset="-122"/>
                <a:ea typeface="微软雅黑" panose="020B0503020204020204" pitchFamily="34" charset="-122"/>
              </a:rPr>
              <a:t>media.c2</a:t>
            </a:r>
          </a:p>
          <a:p>
            <a:pPr>
              <a:lnSpc>
                <a:spcPct val="150000"/>
              </a:lnSpc>
            </a:pPr>
            <a:endParaRPr lang="en-US" altLang="zh-CN" sz="1600" dirty="0">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rPr>
              <a:t>关联领域</a:t>
            </a:r>
            <a:r>
              <a:rPr lang="zh-CN" altLang="en-US" sz="1600">
                <a:latin typeface="微软雅黑" panose="020B0503020204020204" pitchFamily="34" charset="-122"/>
                <a:ea typeface="微软雅黑" panose="020B0503020204020204" pitchFamily="34" charset="-122"/>
              </a:rPr>
              <a:t>： 软件 多媒体 视频框架</a:t>
            </a:r>
            <a:endParaRPr lang="en-US" altLang="zh-CN" sz="1600" dirty="0">
              <a:latin typeface="微软雅黑" panose="020B0503020204020204" pitchFamily="34" charset="-122"/>
              <a:ea typeface="微软雅黑" panose="020B0503020204020204" pitchFamily="34" charset="-122"/>
            </a:endParaRPr>
          </a:p>
          <a:p>
            <a:pPr>
              <a:lnSpc>
                <a:spcPct val="150000"/>
              </a:lnSpc>
            </a:pPr>
            <a:endParaRPr lang="en-US" altLang="zh-CN" sz="1600" dirty="0">
              <a:solidFill>
                <a:schemeClr val="bg1">
                  <a:lumMod val="65000"/>
                </a:schemeClr>
              </a:solidFill>
              <a:latin typeface="微软雅黑" panose="020B0503020204020204" pitchFamily="34" charset="-122"/>
              <a:ea typeface="微软雅黑" panose="020B0503020204020204" pitchFamily="34" charset="-122"/>
            </a:endParaRPr>
          </a:p>
          <a:p>
            <a:pPr>
              <a:lnSpc>
                <a:spcPct val="150000"/>
              </a:lnSpc>
            </a:pPr>
            <a:r>
              <a:rPr lang="zh-CN" altLang="en-US" sz="1600" dirty="0">
                <a:latin typeface="微软雅黑" panose="020B0503020204020204" pitchFamily="34" charset="-122"/>
                <a:ea typeface="微软雅黑" panose="020B0503020204020204" pitchFamily="34" charset="-122"/>
                <a:sym typeface="Wingdings" panose="05000000000000000000" pitchFamily="2" charset="2"/>
              </a:rPr>
              <a:t>概述</a:t>
            </a:r>
            <a:r>
              <a:rPr lang="zh-CN" altLang="en-US" sz="1600">
                <a:latin typeface="微软雅黑" panose="020B0503020204020204" pitchFamily="34" charset="-122"/>
                <a:ea typeface="微软雅黑" panose="020B0503020204020204" pitchFamily="34" charset="-122"/>
                <a:sym typeface="Wingdings" panose="05000000000000000000" pitchFamily="2" charset="2"/>
              </a:rPr>
              <a:t>：负载模型工程三个场景问题</a:t>
            </a:r>
            <a:endParaRPr lang="en-US" altLang="zh-CN" sz="1600">
              <a:latin typeface="微软雅黑" panose="020B0503020204020204" pitchFamily="34" charset="-122"/>
              <a:ea typeface="微软雅黑" panose="020B0503020204020204" pitchFamily="34" charset="-122"/>
              <a:sym typeface="Wingdings" panose="05000000000000000000" pitchFamily="2" charset="2"/>
            </a:endParaRPr>
          </a:p>
          <a:p>
            <a:pPr>
              <a:lnSpc>
                <a:spcPct val="150000"/>
              </a:lnSpc>
            </a:pPr>
            <a:r>
              <a:rPr lang="en-US" altLang="zh-CN" sz="1600">
                <a:latin typeface="微软雅黑" panose="020B0503020204020204" pitchFamily="34" charset="-122"/>
                <a:ea typeface="微软雅黑" panose="020B0503020204020204" pitchFamily="34" charset="-122"/>
                <a:sym typeface="Wingdings" panose="05000000000000000000" pitchFamily="2" charset="2"/>
              </a:rPr>
              <a:t>1.</a:t>
            </a:r>
            <a:r>
              <a:rPr lang="zh-CN" altLang="en-US" sz="1600">
                <a:latin typeface="微软雅黑" panose="020B0503020204020204" pitchFamily="34" charset="-122"/>
                <a:ea typeface="微软雅黑" panose="020B0503020204020204" pitchFamily="34" charset="-122"/>
                <a:sym typeface="Wingdings" panose="05000000000000000000" pitchFamily="2" charset="2"/>
              </a:rPr>
              <a:t>由于图库的代码升级，</a:t>
            </a:r>
            <a:r>
              <a:rPr lang="en-US" altLang="zh-CN" sz="1600">
                <a:latin typeface="微软雅黑" panose="020B0503020204020204" pitchFamily="34" charset="-122"/>
                <a:ea typeface="微软雅黑" panose="020B0503020204020204" pitchFamily="34" charset="-122"/>
                <a:sym typeface="Wingdings" panose="05000000000000000000" pitchFamily="2" charset="2"/>
              </a:rPr>
              <a:t>medialibrary</a:t>
            </a:r>
            <a:r>
              <a:rPr lang="zh-CN" altLang="en-US" sz="1600">
                <a:latin typeface="微软雅黑" panose="020B0503020204020204" pitchFamily="34" charset="-122"/>
                <a:ea typeface="微软雅黑" panose="020B0503020204020204" pitchFamily="34" charset="-122"/>
                <a:sym typeface="Wingdings" panose="05000000000000000000" pitchFamily="2" charset="2"/>
              </a:rPr>
              <a:t>作为图库的子进程会跟随图库冷启动，会进行媒体资源的同步造成不同于上一代的异常</a:t>
            </a:r>
            <a:r>
              <a:rPr lang="en-US" altLang="zh-CN" sz="1600">
                <a:latin typeface="微软雅黑" panose="020B0503020204020204" pitchFamily="34" charset="-122"/>
                <a:ea typeface="微软雅黑" panose="020B0503020204020204" pitchFamily="34" charset="-122"/>
                <a:sym typeface="Wingdings" panose="05000000000000000000" pitchFamily="2" charset="2"/>
              </a:rPr>
              <a:t>binder</a:t>
            </a:r>
            <a:r>
              <a:rPr lang="zh-CN" altLang="en-US" sz="1600">
                <a:latin typeface="微软雅黑" panose="020B0503020204020204" pitchFamily="34" charset="-122"/>
                <a:ea typeface="微软雅黑" panose="020B0503020204020204" pitchFamily="34" charset="-122"/>
                <a:sym typeface="Wingdings" panose="05000000000000000000" pitchFamily="2" charset="2"/>
              </a:rPr>
              <a:t>调用。</a:t>
            </a:r>
            <a:endParaRPr lang="en-US" altLang="zh-CN" sz="1600">
              <a:latin typeface="微软雅黑" panose="020B0503020204020204" pitchFamily="34" charset="-122"/>
              <a:ea typeface="微软雅黑" panose="020B0503020204020204" pitchFamily="34" charset="-122"/>
              <a:sym typeface="Wingdings" panose="05000000000000000000" pitchFamily="2" charset="2"/>
            </a:endParaRPr>
          </a:p>
          <a:p>
            <a:pPr>
              <a:lnSpc>
                <a:spcPct val="150000"/>
              </a:lnSpc>
            </a:pPr>
            <a:r>
              <a:rPr lang="en-US" altLang="zh-CN" sz="1600">
                <a:latin typeface="微软雅黑" panose="020B0503020204020204" pitchFamily="34" charset="-122"/>
                <a:ea typeface="微软雅黑" panose="020B0503020204020204" pitchFamily="34" charset="-122"/>
                <a:sym typeface="Wingdings" panose="05000000000000000000" pitchFamily="2" charset="2"/>
              </a:rPr>
              <a:t>2.</a:t>
            </a:r>
            <a:r>
              <a:rPr lang="zh-CN" altLang="en-US" sz="1600">
                <a:latin typeface="微软雅黑" panose="020B0503020204020204" pitchFamily="34" charset="-122"/>
                <a:ea typeface="微软雅黑" panose="020B0503020204020204" pitchFamily="34" charset="-122"/>
                <a:sym typeface="Wingdings" panose="05000000000000000000" pitchFamily="2" charset="2"/>
              </a:rPr>
              <a:t>无干扰冷启动中位置服务的相关业务导致图库执行媒体资源相关操作造成</a:t>
            </a:r>
            <a:r>
              <a:rPr lang="en-US" altLang="zh-CN" sz="1600">
                <a:latin typeface="微软雅黑" panose="020B0503020204020204" pitchFamily="34" charset="-122"/>
                <a:ea typeface="微软雅黑" panose="020B0503020204020204" pitchFamily="34" charset="-122"/>
                <a:sym typeface="Wingdings" panose="05000000000000000000" pitchFamily="2" charset="2"/>
              </a:rPr>
              <a:t>mediaserver</a:t>
            </a:r>
            <a:r>
              <a:rPr lang="zh-CN" altLang="en-US" sz="1600">
                <a:latin typeface="微软雅黑" panose="020B0503020204020204" pitchFamily="34" charset="-122"/>
                <a:ea typeface="微软雅黑" panose="020B0503020204020204" pitchFamily="34" charset="-122"/>
                <a:sym typeface="Wingdings" panose="05000000000000000000" pitchFamily="2" charset="2"/>
              </a:rPr>
              <a:t>的异常负载</a:t>
            </a:r>
            <a:endParaRPr lang="en-US" altLang="zh-CN" sz="1600">
              <a:latin typeface="微软雅黑" panose="020B0503020204020204" pitchFamily="34" charset="-122"/>
              <a:ea typeface="微软雅黑" panose="020B0503020204020204" pitchFamily="34" charset="-122"/>
              <a:sym typeface="Wingdings" panose="05000000000000000000" pitchFamily="2" charset="2"/>
            </a:endParaRPr>
          </a:p>
          <a:p>
            <a:pPr>
              <a:lnSpc>
                <a:spcPct val="150000"/>
              </a:lnSpc>
            </a:pPr>
            <a:r>
              <a:rPr lang="en-US" altLang="zh-CN" sz="1600">
                <a:latin typeface="微软雅黑" panose="020B0503020204020204" pitchFamily="34" charset="-122"/>
                <a:ea typeface="微软雅黑" panose="020B0503020204020204" pitchFamily="34" charset="-122"/>
                <a:sym typeface="Wingdings" panose="05000000000000000000" pitchFamily="2" charset="2"/>
              </a:rPr>
              <a:t>3.</a:t>
            </a:r>
            <a:r>
              <a:rPr lang="zh-CN" altLang="en-US" sz="1600">
                <a:latin typeface="微软雅黑" panose="020B0503020204020204" pitchFamily="34" charset="-122"/>
                <a:ea typeface="微软雅黑" panose="020B0503020204020204" pitchFamily="34" charset="-122"/>
                <a:sym typeface="Wingdings" panose="05000000000000000000" pitchFamily="2" charset="2"/>
              </a:rPr>
              <a:t>抖音直播间场景对</a:t>
            </a:r>
            <a:r>
              <a:rPr lang="en-US" altLang="zh-CN" sz="1600">
                <a:latin typeface="微软雅黑" panose="020B0503020204020204" pitchFamily="34" charset="-122"/>
                <a:ea typeface="微软雅黑" panose="020B0503020204020204" pitchFamily="34" charset="-122"/>
                <a:sym typeface="Wingdings" panose="05000000000000000000" pitchFamily="2" charset="2"/>
              </a:rPr>
              <a:t>trace</a:t>
            </a:r>
            <a:r>
              <a:rPr lang="zh-CN" altLang="en-US" sz="1600">
                <a:latin typeface="微软雅黑" panose="020B0503020204020204" pitchFamily="34" charset="-122"/>
                <a:ea typeface="微软雅黑" panose="020B0503020204020204" pitchFamily="34" charset="-122"/>
                <a:sym typeface="Wingdings" panose="05000000000000000000" pitchFamily="2" charset="2"/>
              </a:rPr>
              <a:t>的统计缺陷导致硬编解码进程</a:t>
            </a:r>
            <a:r>
              <a:rPr lang="en-US" altLang="zh-CN" sz="1600">
                <a:latin typeface="微软雅黑" panose="020B0503020204020204" pitchFamily="34" charset="-122"/>
                <a:ea typeface="微软雅黑" panose="020B0503020204020204" pitchFamily="34" charset="-122"/>
                <a:sym typeface="Wingdings" panose="05000000000000000000" pitchFamily="2" charset="2"/>
              </a:rPr>
              <a:t>CPU</a:t>
            </a:r>
            <a:r>
              <a:rPr lang="zh-CN" altLang="en-US" sz="1600">
                <a:latin typeface="微软雅黑" panose="020B0503020204020204" pitchFamily="34" charset="-122"/>
                <a:ea typeface="微软雅黑" panose="020B0503020204020204" pitchFamily="34" charset="-122"/>
                <a:sym typeface="Wingdings" panose="05000000000000000000" pitchFamily="2" charset="2"/>
              </a:rPr>
              <a:t>耗时与上一代的对比出现异常。</a:t>
            </a:r>
            <a:endParaRPr lang="en-US" altLang="zh-CN" sz="1600" dirty="0">
              <a:latin typeface="微软雅黑" panose="020B0503020204020204" pitchFamily="34" charset="-122"/>
              <a:ea typeface="微软雅黑" panose="020B0503020204020204" pitchFamily="34" charset="-122"/>
              <a:sym typeface="Wingdings" panose="05000000000000000000" pitchFamily="2" charset="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矩形 3"/>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02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问题描述</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5514" y="809231"/>
            <a:ext cx="11540971" cy="614968"/>
          </a:xfrm>
          <a:prstGeom prst="rect">
            <a:avLst/>
          </a:prstGeom>
        </p:spPr>
        <p:txBody>
          <a:bodyPr wrap="square">
            <a:noAutofit/>
          </a:bodyPr>
          <a:lstStyle/>
          <a:p>
            <a:pPr>
              <a:lnSpc>
                <a:spcPct val="150000"/>
              </a:lnSpc>
            </a:pPr>
            <a:r>
              <a:rPr lang="zh-CN" altLang="en-US" sz="1600" b="1" dirty="0">
                <a:latin typeface="微软雅黑" panose="020B0503020204020204" pitchFamily="34" charset="-122"/>
                <a:ea typeface="微软雅黑" panose="020B0503020204020204" pitchFamily="34" charset="-122"/>
              </a:rPr>
              <a:t>定义（</a:t>
            </a:r>
            <a:r>
              <a:rPr lang="en-US" altLang="zh-CN" sz="1600" b="1" dirty="0">
                <a:latin typeface="微软雅黑" panose="020B0503020204020204" pitchFamily="34" charset="-122"/>
                <a:ea typeface="微软雅黑" panose="020B0503020204020204" pitchFamily="34" charset="-122"/>
              </a:rPr>
              <a:t>definition</a:t>
            </a:r>
            <a:r>
              <a:rPr lang="zh-CN" altLang="en-US" sz="1600" b="1" dirty="0">
                <a:latin typeface="微软雅黑" panose="020B0503020204020204" pitchFamily="34" charset="-122"/>
                <a:ea typeface="微软雅黑" panose="020B0503020204020204" pitchFamily="34" charset="-122"/>
              </a:rPr>
              <a:t>）</a:t>
            </a:r>
          </a:p>
        </p:txBody>
      </p:sp>
      <p:sp>
        <p:nvSpPr>
          <p:cNvPr id="3" name="文本框 2"/>
          <p:cNvSpPr txBox="1"/>
          <p:nvPr/>
        </p:nvSpPr>
        <p:spPr>
          <a:xfrm>
            <a:off x="417443" y="178904"/>
            <a:ext cx="1467068" cy="461665"/>
          </a:xfrm>
          <a:prstGeom prst="rect">
            <a:avLst/>
          </a:prstGeom>
          <a:noFill/>
        </p:spPr>
        <p:txBody>
          <a:bodyPr wrap="none" rtlCol="0">
            <a:spAutoFit/>
          </a:bodyPr>
          <a:lstStyle/>
          <a:p>
            <a:r>
              <a:rPr lang="zh-CN" altLang="en-US" sz="2400" b="1" spc="100" dirty="0">
                <a:latin typeface="微软雅黑" panose="020B0503020204020204" pitchFamily="34" charset="-122"/>
                <a:ea typeface="微软雅黑" panose="020B0503020204020204" pitchFamily="34" charset="-122"/>
              </a:rPr>
              <a:t>问题描述</a:t>
            </a:r>
          </a:p>
        </p:txBody>
      </p:sp>
      <p:sp>
        <p:nvSpPr>
          <p:cNvPr id="5" name="文本框 4">
            <a:extLst>
              <a:ext uri="{FF2B5EF4-FFF2-40B4-BE49-F238E27FC236}">
                <a16:creationId xmlns:a16="http://schemas.microsoft.com/office/drawing/2014/main" id="{D60DD566-1741-947C-8149-D3F16DC3E9D6}"/>
              </a:ext>
            </a:extLst>
          </p:cNvPr>
          <p:cNvSpPr txBox="1"/>
          <p:nvPr/>
        </p:nvSpPr>
        <p:spPr>
          <a:xfrm>
            <a:off x="417443" y="1592861"/>
            <a:ext cx="11449042" cy="4247317"/>
          </a:xfrm>
          <a:prstGeom prst="rect">
            <a:avLst/>
          </a:prstGeom>
          <a:noFill/>
        </p:spPr>
        <p:txBody>
          <a:bodyPr wrap="square">
            <a:spAutoFit/>
          </a:bodyPr>
          <a:lstStyle/>
          <a:p>
            <a:r>
              <a:rPr lang="zh-CN" altLang="en-US"/>
              <a:t>1. mediaserver这是 Android 多媒体服务的核心进程，负责管理音频、视频的播放、录制及编解码工作。它通过 `AudioFlinger` 处理音频流，通过 `Stagefright` 框架进行视频解码，并协调硬件或软件编解码器（如 H.264、AAC）。此外，它还支持 DRM 加密媒体内容的播放，并通过 Binder 与上层应用（如 `MediaPlayer`）通信。  </a:t>
            </a:r>
          </a:p>
          <a:p>
            <a:endParaRPr lang="en-US" altLang="zh-CN"/>
          </a:p>
          <a:p>
            <a:endParaRPr lang="zh-CN" altLang="en-US"/>
          </a:p>
          <a:p>
            <a:r>
              <a:rPr lang="zh-CN" altLang="en-US"/>
              <a:t>2. media.extractor</a:t>
            </a:r>
          </a:p>
          <a:p>
            <a:r>
              <a:rPr lang="zh-CN" altLang="en-US"/>
              <a:t>这是 Android 7.0 之后引入的独立媒体解析服务，专门负责从媒体文件（如 MP4、MKV）中分离音视频轨道。它解析容器格式，提取原始数据（如 H.264 视频流或 AAC 音频流），并交给 `mediaserver` 进行后续解码。采用独立进程设计，增强了安全性和稳定性，避免恶意文件导致整个媒体服务崩溃。  </a:t>
            </a:r>
          </a:p>
          <a:p>
            <a:endParaRPr lang="en-US" altLang="zh-CN"/>
          </a:p>
          <a:p>
            <a:endParaRPr lang="zh-CN" altLang="en-US"/>
          </a:p>
          <a:p>
            <a:r>
              <a:rPr lang="zh-CN" altLang="en-US"/>
              <a:t>3. android.hardware.media.c2@1.2-mediatek-64b</a:t>
            </a:r>
            <a:endParaRPr lang="en-US" altLang="zh-CN"/>
          </a:p>
          <a:p>
            <a:r>
              <a:rPr lang="zh-CN" altLang="en-US"/>
              <a:t>这是 MediaTek 设备的 **Codec 2.0 (C2) HAL 进程**，基于 Android 的下一代媒体编解码框架，用于高效管理硬件编解码器（如 H.265/VP9）。它替代了传统的 `OMX` 接口，提供更低延迟、更高性能的编解码能力，并与 `mediaserver` 或 `media.codec` 进程交互，处理视频的硬件加速编解码任务。  </a:t>
            </a:r>
          </a:p>
        </p:txBody>
      </p:sp>
    </p:spTree>
    <p:extLst>
      <p:ext uri="{BB962C8B-B14F-4D97-AF65-F5344CB8AC3E}">
        <p14:creationId xmlns:p14="http://schemas.microsoft.com/office/powerpoint/2010/main" val="3325782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5514" y="809231"/>
            <a:ext cx="11540971" cy="614968"/>
          </a:xfrm>
          <a:prstGeom prst="rect">
            <a:avLst/>
          </a:prstGeom>
        </p:spPr>
        <p:txBody>
          <a:bodyPr wrap="square">
            <a:noAutofit/>
          </a:bodyPr>
          <a:lstStyle/>
          <a:p>
            <a:pPr>
              <a:lnSpc>
                <a:spcPct val="150000"/>
              </a:lnSpc>
            </a:pPr>
            <a:r>
              <a:rPr lang="zh-CN" altLang="en-US" sz="1600" b="1">
                <a:latin typeface="微软雅黑" panose="020B0503020204020204" pitchFamily="34" charset="-122"/>
                <a:ea typeface="微软雅黑" panose="020B0503020204020204" pitchFamily="34" charset="-122"/>
              </a:rPr>
              <a:t>背景</a:t>
            </a:r>
            <a:r>
              <a:rPr lang="zh-CN" altLang="en-US" sz="1600" b="1" dirty="0">
                <a:latin typeface="微软雅黑" panose="020B0503020204020204" pitchFamily="34" charset="-122"/>
                <a:ea typeface="微软雅黑" panose="020B0503020204020204" pitchFamily="34" charset="-122"/>
              </a:rPr>
              <a:t>（</a:t>
            </a:r>
            <a:r>
              <a:rPr lang="en-US" altLang="zh-CN" sz="1600" b="1" dirty="0">
                <a:latin typeface="微软雅黑" panose="020B0503020204020204" pitchFamily="34" charset="-122"/>
                <a:ea typeface="微软雅黑" panose="020B0503020204020204" pitchFamily="34" charset="-122"/>
              </a:rPr>
              <a:t>Situation</a:t>
            </a:r>
            <a:r>
              <a:rPr lang="zh-CN" altLang="en-US" sz="1600" b="1" dirty="0">
                <a:latin typeface="微软雅黑" panose="020B0503020204020204" pitchFamily="34" charset="-122"/>
                <a:ea typeface="微软雅黑" panose="020B0503020204020204" pitchFamily="34" charset="-122"/>
              </a:rPr>
              <a:t>）</a:t>
            </a:r>
          </a:p>
        </p:txBody>
      </p:sp>
      <p:sp>
        <p:nvSpPr>
          <p:cNvPr id="3" name="文本框 2"/>
          <p:cNvSpPr txBox="1"/>
          <p:nvPr/>
        </p:nvSpPr>
        <p:spPr>
          <a:xfrm>
            <a:off x="417443" y="178904"/>
            <a:ext cx="1467068" cy="461665"/>
          </a:xfrm>
          <a:prstGeom prst="rect">
            <a:avLst/>
          </a:prstGeom>
          <a:noFill/>
        </p:spPr>
        <p:txBody>
          <a:bodyPr wrap="none" rtlCol="0">
            <a:spAutoFit/>
          </a:bodyPr>
          <a:lstStyle/>
          <a:p>
            <a:r>
              <a:rPr lang="zh-CN" altLang="en-US" sz="2400" b="1" spc="100" dirty="0">
                <a:latin typeface="微软雅黑" panose="020B0503020204020204" pitchFamily="34" charset="-122"/>
                <a:ea typeface="微软雅黑" panose="020B0503020204020204" pitchFamily="34" charset="-122"/>
              </a:rPr>
              <a:t>问题描述</a:t>
            </a:r>
          </a:p>
        </p:txBody>
      </p:sp>
      <p:graphicFrame>
        <p:nvGraphicFramePr>
          <p:cNvPr id="6" name="表格 5">
            <a:extLst>
              <a:ext uri="{FF2B5EF4-FFF2-40B4-BE49-F238E27FC236}">
                <a16:creationId xmlns:a16="http://schemas.microsoft.com/office/drawing/2014/main" id="{8FD38EA2-7CD1-2028-D3E5-615399E01403}"/>
              </a:ext>
            </a:extLst>
          </p:cNvPr>
          <p:cNvGraphicFramePr>
            <a:graphicFrameLocks noGrp="1"/>
          </p:cNvGraphicFramePr>
          <p:nvPr>
            <p:extLst>
              <p:ext uri="{D42A27DB-BD31-4B8C-83A1-F6EECF244321}">
                <p14:modId xmlns:p14="http://schemas.microsoft.com/office/powerpoint/2010/main" val="3944726921"/>
              </p:ext>
            </p:extLst>
          </p:nvPr>
        </p:nvGraphicFramePr>
        <p:xfrm>
          <a:off x="417443" y="2279425"/>
          <a:ext cx="11291732" cy="1943100"/>
        </p:xfrm>
        <a:graphic>
          <a:graphicData uri="http://schemas.openxmlformats.org/drawingml/2006/table">
            <a:tbl>
              <a:tblPr firstRow="1" bandRow="1">
                <a:tableStyleId>{5C22544A-7EE6-4342-B048-85BDC9FD1C3A}</a:tableStyleId>
              </a:tblPr>
              <a:tblGrid>
                <a:gridCol w="2634422">
                  <a:extLst>
                    <a:ext uri="{9D8B030D-6E8A-4147-A177-3AD203B41FA5}">
                      <a16:colId xmlns:a16="http://schemas.microsoft.com/office/drawing/2014/main" val="1336693994"/>
                    </a:ext>
                  </a:extLst>
                </a:gridCol>
                <a:gridCol w="2009646">
                  <a:extLst>
                    <a:ext uri="{9D8B030D-6E8A-4147-A177-3AD203B41FA5}">
                      <a16:colId xmlns:a16="http://schemas.microsoft.com/office/drawing/2014/main" val="2757259051"/>
                    </a:ext>
                  </a:extLst>
                </a:gridCol>
                <a:gridCol w="3263333">
                  <a:extLst>
                    <a:ext uri="{9D8B030D-6E8A-4147-A177-3AD203B41FA5}">
                      <a16:colId xmlns:a16="http://schemas.microsoft.com/office/drawing/2014/main" val="3261887950"/>
                    </a:ext>
                  </a:extLst>
                </a:gridCol>
                <a:gridCol w="1602248">
                  <a:extLst>
                    <a:ext uri="{9D8B030D-6E8A-4147-A177-3AD203B41FA5}">
                      <a16:colId xmlns:a16="http://schemas.microsoft.com/office/drawing/2014/main" val="874051452"/>
                    </a:ext>
                  </a:extLst>
                </a:gridCol>
                <a:gridCol w="1782083">
                  <a:extLst>
                    <a:ext uri="{9D8B030D-6E8A-4147-A177-3AD203B41FA5}">
                      <a16:colId xmlns:a16="http://schemas.microsoft.com/office/drawing/2014/main" val="1081414543"/>
                    </a:ext>
                  </a:extLst>
                </a:gridCol>
              </a:tblGrid>
              <a:tr h="370840">
                <a:tc>
                  <a:txBody>
                    <a:bodyPr/>
                    <a:lstStyle/>
                    <a:p>
                      <a:r>
                        <a:rPr lang="zh-CN" altLang="en-US">
                          <a:latin typeface="+mn-ea"/>
                          <a:ea typeface="+mn-ea"/>
                        </a:rPr>
                        <a:t>问题场景</a:t>
                      </a:r>
                    </a:p>
                  </a:txBody>
                  <a:tcPr/>
                </a:tc>
                <a:tc>
                  <a:txBody>
                    <a:bodyPr/>
                    <a:lstStyle/>
                    <a:p>
                      <a:r>
                        <a:rPr lang="zh-CN" altLang="en-US">
                          <a:latin typeface="+mn-ea"/>
                          <a:ea typeface="+mn-ea"/>
                        </a:rPr>
                        <a:t>统计指标</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1">
                          <a:effectLst/>
                          <a:latin typeface="+mn-ea"/>
                          <a:ea typeface="+mn-ea"/>
                        </a:rPr>
                        <a:t>进程名</a:t>
                      </a:r>
                    </a:p>
                  </a:txBody>
                  <a:tcPr marL="123825" marR="123825" marT="57150" marB="57150" anchor="ctr"/>
                </a:tc>
                <a:tc>
                  <a:txBody>
                    <a:bodyPr/>
                    <a:lstStyle/>
                    <a:p>
                      <a:r>
                        <a:rPr lang="en" b="1">
                          <a:effectLst/>
                          <a:latin typeface="+mn-ea"/>
                          <a:ea typeface="+mn-ea"/>
                        </a:rPr>
                        <a:t>M639</a:t>
                      </a:r>
                    </a:p>
                  </a:txBody>
                  <a:tcPr marL="123825" marR="123825" marT="57150" marB="57150" anchor="ctr"/>
                </a:tc>
                <a:tc>
                  <a:txBody>
                    <a:bodyPr/>
                    <a:lstStyle/>
                    <a:p>
                      <a:r>
                        <a:rPr lang="en" b="1">
                          <a:effectLst/>
                          <a:latin typeface="+mn-ea"/>
                          <a:ea typeface="+mn-ea"/>
                        </a:rPr>
                        <a:t>上一代</a:t>
                      </a:r>
                    </a:p>
                  </a:txBody>
                  <a:tcPr marL="123825" marR="123825" marT="57150" marB="57150" anchor="ctr"/>
                </a:tc>
                <a:extLst>
                  <a:ext uri="{0D108BD9-81ED-4DB2-BD59-A6C34878D82A}">
                    <a16:rowId xmlns:a16="http://schemas.microsoft.com/office/drawing/2014/main" val="3297988467"/>
                  </a:ext>
                </a:extLst>
              </a:tr>
              <a:tr h="370840">
                <a:tc rowSpan="2">
                  <a:txBody>
                    <a:bodyPr/>
                    <a:lstStyle/>
                    <a:p>
                      <a:pPr algn="l"/>
                      <a:r>
                        <a:rPr lang="zh-CN" altLang="en-US">
                          <a:latin typeface="+mn-ea"/>
                          <a:ea typeface="+mn-ea"/>
                        </a:rPr>
                        <a:t>图库冷启动</a:t>
                      </a:r>
                    </a:p>
                  </a:txBody>
                  <a:tcPr anchor="ctr"/>
                </a:tc>
                <a:tc rowSpan="3">
                  <a:txBody>
                    <a:bodyPr/>
                    <a:lstStyle/>
                    <a:p>
                      <a:pPr algn="ctr"/>
                      <a:r>
                        <a:rPr lang="zh-CN" altLang="en-US">
                          <a:latin typeface="+mn-ea"/>
                          <a:ea typeface="+mn-ea"/>
                        </a:rPr>
                        <a:t>同步</a:t>
                      </a:r>
                      <a:r>
                        <a:rPr lang="en-US" altLang="zh-CN">
                          <a:latin typeface="+mn-ea"/>
                          <a:ea typeface="+mn-ea"/>
                        </a:rPr>
                        <a:t>Binder</a:t>
                      </a:r>
                      <a:r>
                        <a:rPr lang="zh-CN" altLang="en-US">
                          <a:latin typeface="+mn-ea"/>
                          <a:ea typeface="+mn-ea"/>
                        </a:rPr>
                        <a:t>次数</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a:effectLst/>
                          <a:latin typeface="+mn-ea"/>
                          <a:ea typeface="+mn-ea"/>
                        </a:rPr>
                        <a:t>mediaserver</a:t>
                      </a:r>
                    </a:p>
                  </a:txBody>
                  <a:tcPr marL="123825" marR="123825" marT="57150" marB="57150" anchor="ctr"/>
                </a:tc>
                <a:tc>
                  <a:txBody>
                    <a:bodyPr/>
                    <a:lstStyle/>
                    <a:p>
                      <a:r>
                        <a:rPr lang="en-US" altLang="zh-CN">
                          <a:effectLst/>
                          <a:latin typeface="+mn-ea"/>
                          <a:ea typeface="+mn-ea"/>
                        </a:rPr>
                        <a:t>31</a:t>
                      </a:r>
                    </a:p>
                  </a:txBody>
                  <a:tcPr marL="123825" marR="123825" marT="57150" marB="57150" anchor="ctr"/>
                </a:tc>
                <a:tc>
                  <a:txBody>
                    <a:bodyPr/>
                    <a:lstStyle/>
                    <a:p>
                      <a:r>
                        <a:rPr lang="en-US" altLang="zh-CN">
                          <a:effectLst/>
                          <a:latin typeface="+mn-ea"/>
                          <a:ea typeface="+mn-ea"/>
                        </a:rPr>
                        <a:t>0</a:t>
                      </a:r>
                    </a:p>
                  </a:txBody>
                  <a:tcPr marL="123825" marR="123825" marT="57150" marB="57150" anchor="ctr"/>
                </a:tc>
                <a:extLst>
                  <a:ext uri="{0D108BD9-81ED-4DB2-BD59-A6C34878D82A}">
                    <a16:rowId xmlns:a16="http://schemas.microsoft.com/office/drawing/2014/main" val="109787957"/>
                  </a:ext>
                </a:extLst>
              </a:tr>
              <a:tr h="370840">
                <a:tc vMerge="1">
                  <a:txBody>
                    <a:bodyPr/>
                    <a:lstStyle/>
                    <a:p>
                      <a:endParaRPr lang="zh-CN" altLang="en-US"/>
                    </a:p>
                  </a:txBody>
                  <a:tcPr/>
                </a:tc>
                <a:tc vMerge="1">
                  <a:txBody>
                    <a:bodyPr/>
                    <a:lstStyle/>
                    <a:p>
                      <a:endParaRPr lang="zh-CN"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a:effectLst/>
                          <a:latin typeface="+mn-ea"/>
                          <a:ea typeface="+mn-ea"/>
                        </a:rPr>
                        <a:t>media.extractor</a:t>
                      </a:r>
                    </a:p>
                  </a:txBody>
                  <a:tcPr marL="123825" marR="123825" marT="57150" marB="57150" anchor="ctr"/>
                </a:tc>
                <a:tc>
                  <a:txBody>
                    <a:bodyPr/>
                    <a:lstStyle/>
                    <a:p>
                      <a:r>
                        <a:rPr lang="en-US" altLang="zh-CN">
                          <a:effectLst/>
                          <a:latin typeface="+mn-ea"/>
                          <a:ea typeface="+mn-ea"/>
                        </a:rPr>
                        <a:t>106</a:t>
                      </a:r>
                    </a:p>
                  </a:txBody>
                  <a:tcPr marL="123825" marR="123825" marT="57150" marB="57150" anchor="ctr"/>
                </a:tc>
                <a:tc>
                  <a:txBody>
                    <a:bodyPr/>
                    <a:lstStyle/>
                    <a:p>
                      <a:r>
                        <a:rPr lang="en-US" altLang="zh-CN">
                          <a:effectLst/>
                          <a:latin typeface="+mn-ea"/>
                          <a:ea typeface="+mn-ea"/>
                        </a:rPr>
                        <a:t>0</a:t>
                      </a:r>
                    </a:p>
                  </a:txBody>
                  <a:tcPr marL="123825" marR="123825" marT="57150" marB="57150" anchor="ctr"/>
                </a:tc>
                <a:extLst>
                  <a:ext uri="{0D108BD9-81ED-4DB2-BD59-A6C34878D82A}">
                    <a16:rowId xmlns:a16="http://schemas.microsoft.com/office/drawing/2014/main" val="2214857429"/>
                  </a:ext>
                </a:extLst>
              </a:tr>
              <a:tr h="370840">
                <a:tc>
                  <a:txBody>
                    <a:bodyPr/>
                    <a:lstStyle/>
                    <a:p>
                      <a:r>
                        <a:rPr lang="zh-CN" altLang="en-US">
                          <a:latin typeface="+mn-ea"/>
                          <a:ea typeface="+mn-ea"/>
                        </a:rPr>
                        <a:t>无干扰冷启动</a:t>
                      </a:r>
                    </a:p>
                  </a:txBody>
                  <a:tcPr anchor="ctr"/>
                </a:tc>
                <a:tc vMerge="1">
                  <a:txBody>
                    <a:bodyPr/>
                    <a:lstStyle/>
                    <a:p>
                      <a:endParaRPr lang="zh-CN"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a:effectLst/>
                          <a:latin typeface="+mn-ea"/>
                          <a:ea typeface="+mn-ea"/>
                        </a:rPr>
                        <a:t>mediaserver</a:t>
                      </a:r>
                    </a:p>
                  </a:txBody>
                  <a:tcPr marL="123825" marR="123825" marT="57150" marB="57150" anchor="ctr"/>
                </a:tc>
                <a:tc>
                  <a:txBody>
                    <a:bodyPr/>
                    <a:lstStyle/>
                    <a:p>
                      <a:r>
                        <a:rPr lang="en-US" altLang="zh-CN">
                          <a:effectLst/>
                          <a:latin typeface="+mn-ea"/>
                          <a:ea typeface="+mn-ea"/>
                        </a:rPr>
                        <a:t>26.4</a:t>
                      </a:r>
                    </a:p>
                  </a:txBody>
                  <a:tcPr marL="123825" marR="123825" marT="57150" marB="57150" anchor="ctr"/>
                </a:tc>
                <a:tc>
                  <a:txBody>
                    <a:bodyPr/>
                    <a:lstStyle/>
                    <a:p>
                      <a:r>
                        <a:rPr lang="en-US" altLang="zh-CN">
                          <a:effectLst/>
                          <a:latin typeface="+mn-ea"/>
                          <a:ea typeface="+mn-ea"/>
                        </a:rPr>
                        <a:t>0</a:t>
                      </a:r>
                    </a:p>
                  </a:txBody>
                  <a:tcPr marL="123825" marR="123825" marT="57150" marB="57150" anchor="ctr"/>
                </a:tc>
                <a:extLst>
                  <a:ext uri="{0D108BD9-81ED-4DB2-BD59-A6C34878D82A}">
                    <a16:rowId xmlns:a16="http://schemas.microsoft.com/office/drawing/2014/main" val="763327658"/>
                  </a:ext>
                </a:extLst>
              </a:tr>
              <a:tr h="370840">
                <a:tc>
                  <a:txBody>
                    <a:bodyPr/>
                    <a:lstStyle/>
                    <a:p>
                      <a:r>
                        <a:rPr lang="zh-CN" altLang="en-US">
                          <a:latin typeface="+mn-ea"/>
                          <a:ea typeface="+mn-ea"/>
                        </a:rPr>
                        <a:t>抖音直播间上滑十次</a:t>
                      </a:r>
                    </a:p>
                  </a:txBody>
                  <a:tcPr anchor="ctr"/>
                </a:tc>
                <a:tc>
                  <a:txBody>
                    <a:bodyPr/>
                    <a:lstStyle/>
                    <a:p>
                      <a:r>
                        <a:rPr lang="zh-CN" altLang="en-US">
                          <a:latin typeface="+mn-ea"/>
                          <a:ea typeface="+mn-ea"/>
                        </a:rPr>
                        <a:t>   进程耗时</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800" kern="1200">
                          <a:solidFill>
                            <a:schemeClr val="dk1"/>
                          </a:solidFill>
                          <a:latin typeface="+mn-ea"/>
                          <a:ea typeface="+mn-ea"/>
                          <a:cs typeface="+mn-cs"/>
                        </a:rPr>
                        <a:t>媒体框架进程</a:t>
                      </a:r>
                    </a:p>
                  </a:txBody>
                  <a:tcPr marL="123825" marR="123825" marT="57150" marB="57150" anchor="ctr"/>
                </a:tc>
                <a:tc>
                  <a:txBody>
                    <a:bodyPr/>
                    <a:lstStyle/>
                    <a:p>
                      <a:r>
                        <a:rPr lang="en-US" altLang="zh-CN">
                          <a:effectLst/>
                          <a:latin typeface="+mn-ea"/>
                          <a:ea typeface="+mn-ea"/>
                        </a:rPr>
                        <a:t>6,694.31</a:t>
                      </a:r>
                    </a:p>
                  </a:txBody>
                  <a:tcPr marL="123825" marR="123825" marT="57150" marB="57150" anchor="ctr"/>
                </a:tc>
                <a:tc>
                  <a:txBody>
                    <a:bodyPr/>
                    <a:lstStyle/>
                    <a:p>
                      <a:r>
                        <a:rPr lang="en-US" altLang="zh-CN">
                          <a:effectLst/>
                          <a:latin typeface="+mn-ea"/>
                          <a:ea typeface="+mn-ea"/>
                        </a:rPr>
                        <a:t>4,818.71</a:t>
                      </a:r>
                    </a:p>
                  </a:txBody>
                  <a:tcPr marL="123825" marR="123825" marT="57150" marB="57150" anchor="ctr"/>
                </a:tc>
                <a:extLst>
                  <a:ext uri="{0D108BD9-81ED-4DB2-BD59-A6C34878D82A}">
                    <a16:rowId xmlns:a16="http://schemas.microsoft.com/office/drawing/2014/main" val="1963127937"/>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03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分析过程</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1B4614F1-288C-E26A-A87A-C41DFD1E0A31}"/>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1D1C1C6E-FC38-8995-769D-85959F2C52B1}"/>
              </a:ext>
            </a:extLst>
          </p:cNvPr>
          <p:cNvSpPr txBox="1"/>
          <p:nvPr/>
        </p:nvSpPr>
        <p:spPr>
          <a:xfrm>
            <a:off x="2003482" y="225070"/>
            <a:ext cx="2262158" cy="369332"/>
          </a:xfrm>
          <a:prstGeom prst="rect">
            <a:avLst/>
          </a:prstGeom>
          <a:noFill/>
        </p:spPr>
        <p:txBody>
          <a:bodyPr wrap="none" rtlCol="0">
            <a:spAutoFit/>
          </a:bodyPr>
          <a:lstStyle/>
          <a:p>
            <a:r>
              <a:rPr kumimoji="1" lang="zh-CN" altLang="en-US" b="1">
                <a:latin typeface="Microsoft YaHei" panose="020B0503020204020204" pitchFamily="34" charset="-122"/>
                <a:ea typeface="Microsoft YaHei" panose="020B0503020204020204" pitchFamily="34" charset="-122"/>
              </a:rPr>
              <a:t>场景一：图库冷启动</a:t>
            </a:r>
            <a:endParaRPr lang="zh-CN" altLang="en-US" b="1">
              <a:latin typeface="Microsoft YaHei" panose="020B0503020204020204" pitchFamily="34" charset="-122"/>
              <a:ea typeface="Microsoft YaHei" panose="020B0503020204020204" pitchFamily="34" charset="-122"/>
            </a:endParaRPr>
          </a:p>
        </p:txBody>
      </p:sp>
      <p:graphicFrame>
        <p:nvGraphicFramePr>
          <p:cNvPr id="7" name="表格 6">
            <a:extLst>
              <a:ext uri="{FF2B5EF4-FFF2-40B4-BE49-F238E27FC236}">
                <a16:creationId xmlns:a16="http://schemas.microsoft.com/office/drawing/2014/main" id="{DD62E1A7-7C5F-FEE4-6BE9-ED6D6516F32E}"/>
              </a:ext>
            </a:extLst>
          </p:cNvPr>
          <p:cNvGraphicFramePr>
            <a:graphicFrameLocks noGrp="1"/>
          </p:cNvGraphicFramePr>
          <p:nvPr>
            <p:extLst>
              <p:ext uri="{D42A27DB-BD31-4B8C-83A1-F6EECF244321}">
                <p14:modId xmlns:p14="http://schemas.microsoft.com/office/powerpoint/2010/main" val="1593472964"/>
              </p:ext>
            </p:extLst>
          </p:nvPr>
        </p:nvGraphicFramePr>
        <p:xfrm>
          <a:off x="1043820" y="2112760"/>
          <a:ext cx="10104360" cy="2217337"/>
        </p:xfrm>
        <a:graphic>
          <a:graphicData uri="http://schemas.openxmlformats.org/drawingml/2006/table">
            <a:tbl>
              <a:tblPr firstRow="1" bandRow="1">
                <a:tableStyleId>{5C22544A-7EE6-4342-B048-85BDC9FD1C3A}</a:tableStyleId>
              </a:tblPr>
              <a:tblGrid>
                <a:gridCol w="1467689">
                  <a:extLst>
                    <a:ext uri="{9D8B030D-6E8A-4147-A177-3AD203B41FA5}">
                      <a16:colId xmlns:a16="http://schemas.microsoft.com/office/drawing/2014/main" val="1821617799"/>
                    </a:ext>
                  </a:extLst>
                </a:gridCol>
                <a:gridCol w="2996844">
                  <a:extLst>
                    <a:ext uri="{9D8B030D-6E8A-4147-A177-3AD203B41FA5}">
                      <a16:colId xmlns:a16="http://schemas.microsoft.com/office/drawing/2014/main" val="356915532"/>
                    </a:ext>
                  </a:extLst>
                </a:gridCol>
                <a:gridCol w="837100">
                  <a:extLst>
                    <a:ext uri="{9D8B030D-6E8A-4147-A177-3AD203B41FA5}">
                      <a16:colId xmlns:a16="http://schemas.microsoft.com/office/drawing/2014/main" val="3494274970"/>
                    </a:ext>
                  </a:extLst>
                </a:gridCol>
                <a:gridCol w="775849">
                  <a:extLst>
                    <a:ext uri="{9D8B030D-6E8A-4147-A177-3AD203B41FA5}">
                      <a16:colId xmlns:a16="http://schemas.microsoft.com/office/drawing/2014/main" val="531878912"/>
                    </a:ext>
                  </a:extLst>
                </a:gridCol>
                <a:gridCol w="993631">
                  <a:extLst>
                    <a:ext uri="{9D8B030D-6E8A-4147-A177-3AD203B41FA5}">
                      <a16:colId xmlns:a16="http://schemas.microsoft.com/office/drawing/2014/main" val="761115079"/>
                    </a:ext>
                  </a:extLst>
                </a:gridCol>
                <a:gridCol w="1075298">
                  <a:extLst>
                    <a:ext uri="{9D8B030D-6E8A-4147-A177-3AD203B41FA5}">
                      <a16:colId xmlns:a16="http://schemas.microsoft.com/office/drawing/2014/main" val="1649560512"/>
                    </a:ext>
                  </a:extLst>
                </a:gridCol>
                <a:gridCol w="833364">
                  <a:extLst>
                    <a:ext uri="{9D8B030D-6E8A-4147-A177-3AD203B41FA5}">
                      <a16:colId xmlns:a16="http://schemas.microsoft.com/office/drawing/2014/main" val="978466840"/>
                    </a:ext>
                  </a:extLst>
                </a:gridCol>
                <a:gridCol w="1124585">
                  <a:extLst>
                    <a:ext uri="{9D8B030D-6E8A-4147-A177-3AD203B41FA5}">
                      <a16:colId xmlns:a16="http://schemas.microsoft.com/office/drawing/2014/main" val="1025280545"/>
                    </a:ext>
                  </a:extLst>
                </a:gridCol>
              </a:tblGrid>
              <a:tr h="388571">
                <a:tc>
                  <a:txBody>
                    <a:bodyPr/>
                    <a:lstStyle/>
                    <a:p>
                      <a:endParaRPr lang="en" b="1">
                        <a:effectLst/>
                      </a:endParaRPr>
                    </a:p>
                  </a:txBody>
                  <a:tcPr marL="123825" marR="123825" marT="57150" marB="57150" anchor="ctr"/>
                </a:tc>
                <a:tc>
                  <a:txBody>
                    <a:bodyPr/>
                    <a:lstStyle/>
                    <a:p>
                      <a:r>
                        <a:rPr lang="en" b="1">
                          <a:effectLst/>
                        </a:rPr>
                        <a:t>Process Name</a:t>
                      </a:r>
                    </a:p>
                  </a:txBody>
                  <a:tcPr marL="123825" marR="123825" marT="57150" marB="57150" anchor="ctr"/>
                </a:tc>
                <a:tc>
                  <a:txBody>
                    <a:bodyPr/>
                    <a:lstStyle/>
                    <a:p>
                      <a:pPr algn="ctr"/>
                      <a:r>
                        <a:rPr lang="en-US" altLang="zh-CN" b="1">
                          <a:effectLst/>
                        </a:rPr>
                        <a:t>0</a:t>
                      </a:r>
                    </a:p>
                  </a:txBody>
                  <a:tcPr marL="123825" marR="123825" marT="57150" marB="57150" anchor="ctr"/>
                </a:tc>
                <a:tc>
                  <a:txBody>
                    <a:bodyPr/>
                    <a:lstStyle/>
                    <a:p>
                      <a:pPr algn="ctr"/>
                      <a:r>
                        <a:rPr lang="en-US" altLang="zh-CN" b="1">
                          <a:effectLst/>
                        </a:rPr>
                        <a:t>1</a:t>
                      </a:r>
                    </a:p>
                  </a:txBody>
                  <a:tcPr marL="123825" marR="123825" marT="57150" marB="57150" anchor="ctr"/>
                </a:tc>
                <a:tc>
                  <a:txBody>
                    <a:bodyPr/>
                    <a:lstStyle/>
                    <a:p>
                      <a:pPr algn="ctr"/>
                      <a:r>
                        <a:rPr lang="en-US" altLang="zh-CN" b="1">
                          <a:effectLst/>
                        </a:rPr>
                        <a:t>2</a:t>
                      </a:r>
                    </a:p>
                  </a:txBody>
                  <a:tcPr marL="123825" marR="123825" marT="57150" marB="57150" anchor="ctr"/>
                </a:tc>
                <a:tc>
                  <a:txBody>
                    <a:bodyPr/>
                    <a:lstStyle/>
                    <a:p>
                      <a:pPr algn="ctr"/>
                      <a:r>
                        <a:rPr lang="en-US" altLang="zh-CN" b="1">
                          <a:effectLst/>
                        </a:rPr>
                        <a:t>3</a:t>
                      </a:r>
                    </a:p>
                  </a:txBody>
                  <a:tcPr marL="123825" marR="123825" marT="57150" marB="57150" anchor="ctr"/>
                </a:tc>
                <a:tc>
                  <a:txBody>
                    <a:bodyPr/>
                    <a:lstStyle/>
                    <a:p>
                      <a:pPr algn="ctr"/>
                      <a:r>
                        <a:rPr lang="en-US" altLang="zh-CN" b="1">
                          <a:effectLst/>
                        </a:rPr>
                        <a:t>4</a:t>
                      </a:r>
                    </a:p>
                  </a:txBody>
                  <a:tcPr marL="123825" marR="123825" marT="57150" marB="57150" anchor="ctr"/>
                </a:tc>
                <a:tc>
                  <a:txBody>
                    <a:bodyPr/>
                    <a:lstStyle/>
                    <a:p>
                      <a:pPr algn="ctr"/>
                      <a:r>
                        <a:rPr lang="en" b="1">
                          <a:effectLst/>
                        </a:rPr>
                        <a:t>Average</a:t>
                      </a:r>
                    </a:p>
                  </a:txBody>
                  <a:tcPr marL="123825" marR="123825" marT="57150" marB="57150" anchor="ctr"/>
                </a:tc>
                <a:extLst>
                  <a:ext uri="{0D108BD9-81ED-4DB2-BD59-A6C34878D82A}">
                    <a16:rowId xmlns:a16="http://schemas.microsoft.com/office/drawing/2014/main" val="1194067561"/>
                  </a:ext>
                </a:extLst>
              </a:tr>
              <a:tr h="662857">
                <a:tc rowSpan="2">
                  <a:txBody>
                    <a:bodyPr/>
                    <a:lstStyle/>
                    <a:p>
                      <a:r>
                        <a:rPr lang="en">
                          <a:effectLst/>
                        </a:rPr>
                        <a:t>M</a:t>
                      </a:r>
                      <a:r>
                        <a:rPr lang="en-US" altLang="zh-CN">
                          <a:effectLst/>
                        </a:rPr>
                        <a:t>639</a:t>
                      </a:r>
                      <a:endParaRPr lang="en">
                        <a:effectLst/>
                      </a:endParaRPr>
                    </a:p>
                  </a:txBody>
                  <a:tcPr marL="123825" marR="123825" marT="57150" marB="57150" anchor="ctr"/>
                </a:tc>
                <a:tc>
                  <a:txBody>
                    <a:bodyPr/>
                    <a:lstStyle/>
                    <a:p>
                      <a:r>
                        <a:rPr lang="en">
                          <a:effectLst/>
                        </a:rPr>
                        <a:t>mediaserver</a:t>
                      </a:r>
                    </a:p>
                  </a:txBody>
                  <a:tcPr marL="123825" marR="123825" marT="57150" marB="57150" anchor="ctr"/>
                </a:tc>
                <a:tc>
                  <a:txBody>
                    <a:bodyPr/>
                    <a:lstStyle/>
                    <a:p>
                      <a:pPr algn="ctr"/>
                      <a:r>
                        <a:rPr lang="en-US" altLang="zh-CN">
                          <a:effectLst/>
                        </a:rPr>
                        <a:t>25</a:t>
                      </a:r>
                    </a:p>
                  </a:txBody>
                  <a:tcPr marL="123825" marR="123825" marT="57150" marB="57150" anchor="ctr"/>
                </a:tc>
                <a:tc>
                  <a:txBody>
                    <a:bodyPr/>
                    <a:lstStyle/>
                    <a:p>
                      <a:pPr algn="ctr"/>
                      <a:r>
                        <a:rPr lang="en-US" altLang="zh-CN">
                          <a:effectLst/>
                        </a:rPr>
                        <a:t>25</a:t>
                      </a:r>
                    </a:p>
                  </a:txBody>
                  <a:tcPr marL="123825" marR="123825" marT="57150" marB="57150" anchor="ctr"/>
                </a:tc>
                <a:tc>
                  <a:txBody>
                    <a:bodyPr/>
                    <a:lstStyle/>
                    <a:p>
                      <a:pPr algn="ctr"/>
                      <a:r>
                        <a:rPr lang="en-US" altLang="zh-CN">
                          <a:effectLst/>
                        </a:rPr>
                        <a:t>26</a:t>
                      </a:r>
                    </a:p>
                  </a:txBody>
                  <a:tcPr marL="123825" marR="123825" marT="57150" marB="57150" anchor="ctr"/>
                </a:tc>
                <a:tc>
                  <a:txBody>
                    <a:bodyPr/>
                    <a:lstStyle/>
                    <a:p>
                      <a:pPr algn="ctr"/>
                      <a:r>
                        <a:rPr lang="en-US" altLang="zh-CN">
                          <a:effectLst/>
                        </a:rPr>
                        <a:t>28</a:t>
                      </a:r>
                    </a:p>
                  </a:txBody>
                  <a:tcPr marL="123825" marR="123825" marT="57150" marB="57150" anchor="ctr"/>
                </a:tc>
                <a:tc>
                  <a:txBody>
                    <a:bodyPr/>
                    <a:lstStyle/>
                    <a:p>
                      <a:pPr algn="ctr"/>
                      <a:r>
                        <a:rPr lang="en-US" altLang="zh-CN">
                          <a:effectLst/>
                        </a:rPr>
                        <a:t>26</a:t>
                      </a:r>
                    </a:p>
                  </a:txBody>
                  <a:tcPr marL="123825" marR="123825" marT="57150" marB="57150" anchor="ctr"/>
                </a:tc>
                <a:tc>
                  <a:txBody>
                    <a:bodyPr/>
                    <a:lstStyle/>
                    <a:p>
                      <a:pPr algn="ctr"/>
                      <a:r>
                        <a:rPr lang="en-US" altLang="zh-CN">
                          <a:effectLst/>
                        </a:rPr>
                        <a:t>26</a:t>
                      </a:r>
                    </a:p>
                  </a:txBody>
                  <a:tcPr marL="123825" marR="123825" marT="57150" marB="57150" anchor="ctr"/>
                </a:tc>
                <a:extLst>
                  <a:ext uri="{0D108BD9-81ED-4DB2-BD59-A6C34878D82A}">
                    <a16:rowId xmlns:a16="http://schemas.microsoft.com/office/drawing/2014/main" val="2064019704"/>
                  </a:ext>
                </a:extLst>
              </a:tr>
              <a:tr h="388571">
                <a:tc vMerge="1">
                  <a:txBody>
                    <a:bodyPr/>
                    <a:lstStyle/>
                    <a:p>
                      <a:endParaRPr lang="en">
                        <a:effectLst/>
                      </a:endParaRPr>
                    </a:p>
                  </a:txBody>
                  <a:tcPr marL="123825" marR="123825" marT="57150" marB="57150" anchor="ctr"/>
                </a:tc>
                <a:tc>
                  <a:txBody>
                    <a:bodyPr/>
                    <a:lstStyle/>
                    <a:p>
                      <a:r>
                        <a:rPr lang="en">
                          <a:effectLst/>
                        </a:rPr>
                        <a:t>media.extractor</a:t>
                      </a:r>
                    </a:p>
                  </a:txBody>
                  <a:tcPr marL="123825" marR="123825" marT="57150" marB="57150" anchor="ctr"/>
                </a:tc>
                <a:tc>
                  <a:txBody>
                    <a:bodyPr/>
                    <a:lstStyle/>
                    <a:p>
                      <a:pPr algn="ctr"/>
                      <a:r>
                        <a:rPr lang="en-US" altLang="zh-CN">
                          <a:effectLst/>
                        </a:rPr>
                        <a:t>101</a:t>
                      </a:r>
                    </a:p>
                  </a:txBody>
                  <a:tcPr marL="123825" marR="123825" marT="57150" marB="57150" anchor="ctr"/>
                </a:tc>
                <a:tc>
                  <a:txBody>
                    <a:bodyPr/>
                    <a:lstStyle/>
                    <a:p>
                      <a:pPr algn="ctr"/>
                      <a:r>
                        <a:rPr lang="en-US" altLang="zh-CN">
                          <a:effectLst/>
                        </a:rPr>
                        <a:t>120</a:t>
                      </a:r>
                    </a:p>
                  </a:txBody>
                  <a:tcPr marL="123825" marR="123825" marT="57150" marB="57150" anchor="ctr"/>
                </a:tc>
                <a:tc>
                  <a:txBody>
                    <a:bodyPr/>
                    <a:lstStyle/>
                    <a:p>
                      <a:pPr algn="ctr"/>
                      <a:r>
                        <a:rPr lang="en-US" altLang="zh-CN">
                          <a:effectLst/>
                        </a:rPr>
                        <a:t>97</a:t>
                      </a:r>
                    </a:p>
                  </a:txBody>
                  <a:tcPr marL="123825" marR="123825" marT="57150" marB="57150" anchor="ctr"/>
                </a:tc>
                <a:tc>
                  <a:txBody>
                    <a:bodyPr/>
                    <a:lstStyle/>
                    <a:p>
                      <a:pPr algn="ctr"/>
                      <a:r>
                        <a:rPr lang="en-US" altLang="zh-CN">
                          <a:effectLst/>
                        </a:rPr>
                        <a:t>130</a:t>
                      </a:r>
                    </a:p>
                  </a:txBody>
                  <a:tcPr marL="123825" marR="123825" marT="57150" marB="57150" anchor="ctr"/>
                </a:tc>
                <a:tc>
                  <a:txBody>
                    <a:bodyPr/>
                    <a:lstStyle/>
                    <a:p>
                      <a:pPr algn="ctr"/>
                      <a:r>
                        <a:rPr lang="en-US" altLang="zh-CN">
                          <a:effectLst/>
                        </a:rPr>
                        <a:t>82</a:t>
                      </a:r>
                    </a:p>
                  </a:txBody>
                  <a:tcPr marL="123825" marR="123825" marT="57150" marB="57150" anchor="ctr"/>
                </a:tc>
                <a:tc>
                  <a:txBody>
                    <a:bodyPr/>
                    <a:lstStyle/>
                    <a:p>
                      <a:pPr algn="ctr"/>
                      <a:r>
                        <a:rPr lang="en-US" altLang="zh-CN">
                          <a:effectLst/>
                        </a:rPr>
                        <a:t>190.4</a:t>
                      </a:r>
                    </a:p>
                  </a:txBody>
                  <a:tcPr marL="123825" marR="123825" marT="57150" marB="57150" anchor="ctr"/>
                </a:tc>
                <a:extLst>
                  <a:ext uri="{0D108BD9-81ED-4DB2-BD59-A6C34878D82A}">
                    <a16:rowId xmlns:a16="http://schemas.microsoft.com/office/drawing/2014/main" val="3670824432"/>
                  </a:ext>
                </a:extLst>
              </a:tr>
              <a:tr h="388571">
                <a:tc rowSpan="2">
                  <a:txBody>
                    <a:bodyPr/>
                    <a:lstStyle/>
                    <a:p>
                      <a:r>
                        <a:rPr lang="en">
                          <a:effectLst/>
                        </a:rPr>
                        <a:t>上一代</a:t>
                      </a:r>
                    </a:p>
                  </a:txBody>
                  <a:tcPr marL="123825" marR="123825" marT="57150" marB="57150" anchor="ctr"/>
                </a:tc>
                <a:tc>
                  <a:txBody>
                    <a:bodyPr/>
                    <a:lstStyle/>
                    <a:p>
                      <a:r>
                        <a:rPr lang="en">
                          <a:effectLst/>
                        </a:rPr>
                        <a:t>mediaserver</a:t>
                      </a:r>
                    </a:p>
                  </a:txBody>
                  <a:tcPr marL="123825" marR="123825" marT="57150" marB="57150" anchor="ctr"/>
                </a:tc>
                <a:tc>
                  <a:txBody>
                    <a:bodyPr/>
                    <a:lstStyle/>
                    <a:p>
                      <a:pPr algn="ctr"/>
                      <a:r>
                        <a:rPr lang="en-US" altLang="zh-CN">
                          <a:effectLst/>
                        </a:rPr>
                        <a:t>0</a:t>
                      </a:r>
                    </a:p>
                  </a:txBody>
                  <a:tcPr marL="123825" marR="123825" marT="57150" marB="57150" anchor="ctr"/>
                </a:tc>
                <a:tc>
                  <a:txBody>
                    <a:bodyPr/>
                    <a:lstStyle/>
                    <a:p>
                      <a:pPr algn="ctr"/>
                      <a:r>
                        <a:rPr lang="en-US" altLang="zh-CN">
                          <a:effectLst/>
                        </a:rPr>
                        <a:t>0</a:t>
                      </a:r>
                    </a:p>
                  </a:txBody>
                  <a:tcPr marL="123825" marR="123825" marT="57150" marB="57150" anchor="ctr"/>
                </a:tc>
                <a:tc>
                  <a:txBody>
                    <a:bodyPr/>
                    <a:lstStyle/>
                    <a:p>
                      <a:pPr algn="ctr"/>
                      <a:r>
                        <a:rPr lang="en-US" altLang="zh-CN">
                          <a:effectLst/>
                        </a:rPr>
                        <a:t>0</a:t>
                      </a:r>
                    </a:p>
                  </a:txBody>
                  <a:tcPr marL="123825" marR="123825" marT="57150" marB="57150" anchor="ctr"/>
                </a:tc>
                <a:tc>
                  <a:txBody>
                    <a:bodyPr/>
                    <a:lstStyle/>
                    <a:p>
                      <a:pPr algn="ctr"/>
                      <a:r>
                        <a:rPr lang="en-US" altLang="zh-CN">
                          <a:effectLst/>
                        </a:rPr>
                        <a:t>0</a:t>
                      </a:r>
                    </a:p>
                  </a:txBody>
                  <a:tcPr marL="123825" marR="123825" marT="57150" marB="57150" anchor="ctr"/>
                </a:tc>
                <a:tc>
                  <a:txBody>
                    <a:bodyPr/>
                    <a:lstStyle/>
                    <a:p>
                      <a:pPr algn="ctr"/>
                      <a:r>
                        <a:rPr lang="en-US" altLang="zh-CN">
                          <a:effectLst/>
                        </a:rPr>
                        <a:t>0</a:t>
                      </a:r>
                    </a:p>
                  </a:txBody>
                  <a:tcPr marL="123825" marR="123825" marT="57150" marB="57150" anchor="ctr"/>
                </a:tc>
                <a:tc>
                  <a:txBody>
                    <a:bodyPr/>
                    <a:lstStyle/>
                    <a:p>
                      <a:pPr algn="ctr"/>
                      <a:r>
                        <a:rPr lang="en-US" altLang="zh-CN">
                          <a:effectLst/>
                        </a:rPr>
                        <a:t>0</a:t>
                      </a:r>
                    </a:p>
                  </a:txBody>
                  <a:tcPr marL="123825" marR="123825" marT="57150" marB="57150" anchor="ctr"/>
                </a:tc>
                <a:extLst>
                  <a:ext uri="{0D108BD9-81ED-4DB2-BD59-A6C34878D82A}">
                    <a16:rowId xmlns:a16="http://schemas.microsoft.com/office/drawing/2014/main" val="1870824073"/>
                  </a:ext>
                </a:extLst>
              </a:tr>
              <a:tr h="388571">
                <a:tc vMerge="1">
                  <a:txBody>
                    <a:bodyPr/>
                    <a:lstStyle/>
                    <a:p>
                      <a:endParaRPr lang="en">
                        <a:effectLst/>
                      </a:endParaRPr>
                    </a:p>
                  </a:txBody>
                  <a:tcPr marL="123825" marR="123825" marT="57150" marB="57150" anchor="ctr"/>
                </a:tc>
                <a:tc>
                  <a:txBody>
                    <a:bodyPr/>
                    <a:lstStyle/>
                    <a:p>
                      <a:r>
                        <a:rPr lang="en">
                          <a:effectLst/>
                        </a:rPr>
                        <a:t>media.extractor</a:t>
                      </a:r>
                    </a:p>
                  </a:txBody>
                  <a:tcPr marL="123825" marR="123825" marT="57150" marB="57150" anchor="ctr"/>
                </a:tc>
                <a:tc>
                  <a:txBody>
                    <a:bodyPr/>
                    <a:lstStyle/>
                    <a:p>
                      <a:pPr algn="ctr"/>
                      <a:r>
                        <a:rPr lang="en-US" altLang="zh-CN">
                          <a:effectLst/>
                        </a:rPr>
                        <a:t>0</a:t>
                      </a:r>
                    </a:p>
                  </a:txBody>
                  <a:tcPr marL="123825" marR="123825" marT="57150" marB="57150" anchor="ctr"/>
                </a:tc>
                <a:tc>
                  <a:txBody>
                    <a:bodyPr/>
                    <a:lstStyle/>
                    <a:p>
                      <a:pPr algn="ctr"/>
                      <a:r>
                        <a:rPr lang="en-US" altLang="zh-CN">
                          <a:effectLst/>
                        </a:rPr>
                        <a:t>0</a:t>
                      </a:r>
                    </a:p>
                  </a:txBody>
                  <a:tcPr marL="123825" marR="123825" marT="57150" marB="57150" anchor="ctr"/>
                </a:tc>
                <a:tc>
                  <a:txBody>
                    <a:bodyPr/>
                    <a:lstStyle/>
                    <a:p>
                      <a:pPr algn="ctr"/>
                      <a:r>
                        <a:rPr lang="en-US" altLang="zh-CN">
                          <a:effectLst/>
                        </a:rPr>
                        <a:t>0</a:t>
                      </a:r>
                    </a:p>
                  </a:txBody>
                  <a:tcPr marL="123825" marR="123825" marT="57150" marB="57150" anchor="ctr"/>
                </a:tc>
                <a:tc>
                  <a:txBody>
                    <a:bodyPr/>
                    <a:lstStyle/>
                    <a:p>
                      <a:pPr algn="ctr"/>
                      <a:r>
                        <a:rPr lang="en-US" altLang="zh-CN">
                          <a:effectLst/>
                        </a:rPr>
                        <a:t>0</a:t>
                      </a:r>
                    </a:p>
                  </a:txBody>
                  <a:tcPr marL="123825" marR="123825" marT="57150" marB="57150" anchor="ctr"/>
                </a:tc>
                <a:tc>
                  <a:txBody>
                    <a:bodyPr/>
                    <a:lstStyle/>
                    <a:p>
                      <a:pPr algn="ctr"/>
                      <a:r>
                        <a:rPr lang="en-US" altLang="zh-CN">
                          <a:effectLst/>
                        </a:rPr>
                        <a:t>0</a:t>
                      </a:r>
                    </a:p>
                  </a:txBody>
                  <a:tcPr marL="123825" marR="123825" marT="57150" marB="57150" anchor="ctr"/>
                </a:tc>
                <a:tc>
                  <a:txBody>
                    <a:bodyPr/>
                    <a:lstStyle/>
                    <a:p>
                      <a:pPr algn="ctr"/>
                      <a:r>
                        <a:rPr lang="en-US" altLang="zh-CN">
                          <a:effectLst/>
                        </a:rPr>
                        <a:t>0</a:t>
                      </a:r>
                    </a:p>
                  </a:txBody>
                  <a:tcPr marL="123825" marR="123825" marT="57150" marB="57150" anchor="ctr"/>
                </a:tc>
                <a:extLst>
                  <a:ext uri="{0D108BD9-81ED-4DB2-BD59-A6C34878D82A}">
                    <a16:rowId xmlns:a16="http://schemas.microsoft.com/office/drawing/2014/main" val="1936049409"/>
                  </a:ext>
                </a:extLst>
              </a:tr>
            </a:tbl>
          </a:graphicData>
        </a:graphic>
      </p:graphicFrame>
      <p:sp>
        <p:nvSpPr>
          <p:cNvPr id="8" name="文本框 7">
            <a:extLst>
              <a:ext uri="{FF2B5EF4-FFF2-40B4-BE49-F238E27FC236}">
                <a16:creationId xmlns:a16="http://schemas.microsoft.com/office/drawing/2014/main" id="{E4141AF2-55E6-D6F0-A62A-438AE36555BE}"/>
              </a:ext>
            </a:extLst>
          </p:cNvPr>
          <p:cNvSpPr txBox="1"/>
          <p:nvPr/>
        </p:nvSpPr>
        <p:spPr>
          <a:xfrm>
            <a:off x="417443" y="969572"/>
            <a:ext cx="7968848" cy="369332"/>
          </a:xfrm>
          <a:prstGeom prst="rect">
            <a:avLst/>
          </a:prstGeom>
          <a:noFill/>
        </p:spPr>
        <p:txBody>
          <a:bodyPr wrap="none" rtlCol="0">
            <a:spAutoFit/>
          </a:bodyPr>
          <a:lstStyle/>
          <a:p>
            <a:r>
              <a:rPr kumimoji="1" lang="zh-CN" altLang="en-US"/>
              <a:t>负载工程的测试会进行五轮测试，首先要根据平均值的差异查看每轮的结果：</a:t>
            </a:r>
          </a:p>
        </p:txBody>
      </p:sp>
      <p:sp>
        <p:nvSpPr>
          <p:cNvPr id="9" name="文本框 8">
            <a:extLst>
              <a:ext uri="{FF2B5EF4-FFF2-40B4-BE49-F238E27FC236}">
                <a16:creationId xmlns:a16="http://schemas.microsoft.com/office/drawing/2014/main" id="{C5443647-0F58-F619-9975-8445794AFC6A}"/>
              </a:ext>
            </a:extLst>
          </p:cNvPr>
          <p:cNvSpPr txBox="1"/>
          <p:nvPr/>
        </p:nvSpPr>
        <p:spPr>
          <a:xfrm>
            <a:off x="417443" y="5103954"/>
            <a:ext cx="11541686" cy="369332"/>
          </a:xfrm>
          <a:prstGeom prst="rect">
            <a:avLst/>
          </a:prstGeom>
          <a:noFill/>
        </p:spPr>
        <p:txBody>
          <a:bodyPr wrap="none" rtlCol="0">
            <a:spAutoFit/>
          </a:bodyPr>
          <a:lstStyle/>
          <a:p>
            <a:r>
              <a:rPr kumimoji="1" lang="zh-CN" altLang="en-US"/>
              <a:t>可以看到只有</a:t>
            </a:r>
            <a:r>
              <a:rPr kumimoji="1" lang="en-US" altLang="zh-CN"/>
              <a:t>M639</a:t>
            </a:r>
            <a:r>
              <a:rPr kumimoji="1" lang="zh-CN" altLang="en-US"/>
              <a:t>中存在</a:t>
            </a:r>
            <a:r>
              <a:rPr kumimoji="1" lang="en-US" altLang="zh-CN"/>
              <a:t>mediaserver</a:t>
            </a:r>
            <a:r>
              <a:rPr kumimoji="1" lang="zh-CN" altLang="en-US"/>
              <a:t>和</a:t>
            </a:r>
            <a:r>
              <a:rPr kumimoji="1" lang="en-US" altLang="zh-CN"/>
              <a:t>media.extractor</a:t>
            </a:r>
            <a:r>
              <a:rPr kumimoji="1" lang="zh-CN" altLang="en-US"/>
              <a:t>的</a:t>
            </a:r>
            <a:r>
              <a:rPr kumimoji="1" lang="en-US" altLang="zh-CN"/>
              <a:t>binder</a:t>
            </a:r>
            <a:r>
              <a:rPr kumimoji="1" lang="zh-CN" altLang="en-US"/>
              <a:t>调用，接下来重点看这个</a:t>
            </a:r>
            <a:r>
              <a:rPr kumimoji="1" lang="en-US" altLang="zh-CN"/>
              <a:t>binder</a:t>
            </a:r>
            <a:r>
              <a:rPr kumimoji="1" lang="zh-CN" altLang="en-US"/>
              <a:t>的业务是什么？</a:t>
            </a:r>
            <a:endParaRPr kumimoji="1" lang="en-US" alt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1B4614F1-288C-E26A-A87A-C41DFD1E0A31}"/>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30A7BEBB-CB0D-816E-ED70-6B5848219AE5}"/>
              </a:ext>
            </a:extLst>
          </p:cNvPr>
          <p:cNvSpPr txBox="1"/>
          <p:nvPr/>
        </p:nvSpPr>
        <p:spPr>
          <a:xfrm>
            <a:off x="328914" y="764697"/>
            <a:ext cx="11558286" cy="460382"/>
          </a:xfrm>
          <a:prstGeom prst="rect">
            <a:avLst/>
          </a:prstGeom>
          <a:noFill/>
        </p:spPr>
        <p:txBody>
          <a:bodyPr wrap="square">
            <a:spAutoFit/>
          </a:bodyPr>
          <a:lstStyle/>
          <a:p>
            <a:pPr>
              <a:lnSpc>
                <a:spcPct val="150000"/>
              </a:lnSpc>
            </a:pPr>
            <a:r>
              <a:rPr lang="zh-CN" altLang="en-US">
                <a:solidFill>
                  <a:srgbClr val="333333"/>
                </a:solidFill>
                <a:latin typeface="Open Sans" panose="020B0606030504020204" pitchFamily="34" charset="0"/>
              </a:rPr>
              <a:t>先查看</a:t>
            </a:r>
            <a:r>
              <a:rPr kumimoji="1" lang="en-US" altLang="zh-CN"/>
              <a:t>media.extractor</a:t>
            </a:r>
            <a:r>
              <a:rPr kumimoji="1" lang="zh-CN" altLang="en-US"/>
              <a:t>进程的调用，发现出了自身调用以外全是</a:t>
            </a:r>
            <a:r>
              <a:rPr kumimoji="1" lang="en-US" altLang="zh-CN"/>
              <a:t>mediaserver</a:t>
            </a:r>
            <a:r>
              <a:rPr kumimoji="1" lang="zh-CN" altLang="en-US"/>
              <a:t>的主动调用。</a:t>
            </a:r>
          </a:p>
        </p:txBody>
      </p:sp>
      <p:sp>
        <p:nvSpPr>
          <p:cNvPr id="6" name="文本框 5">
            <a:extLst>
              <a:ext uri="{FF2B5EF4-FFF2-40B4-BE49-F238E27FC236}">
                <a16:creationId xmlns:a16="http://schemas.microsoft.com/office/drawing/2014/main" id="{F7613E46-2A1F-976F-A3AA-51CDB09D4D0A}"/>
              </a:ext>
            </a:extLst>
          </p:cNvPr>
          <p:cNvSpPr txBox="1"/>
          <p:nvPr/>
        </p:nvSpPr>
        <p:spPr>
          <a:xfrm>
            <a:off x="2003482" y="225070"/>
            <a:ext cx="2262158" cy="369332"/>
          </a:xfrm>
          <a:prstGeom prst="rect">
            <a:avLst/>
          </a:prstGeom>
          <a:noFill/>
        </p:spPr>
        <p:txBody>
          <a:bodyPr wrap="none" rtlCol="0">
            <a:spAutoFit/>
          </a:bodyPr>
          <a:lstStyle/>
          <a:p>
            <a:r>
              <a:rPr kumimoji="1" lang="zh-CN" altLang="en-US" b="1">
                <a:latin typeface="Microsoft YaHei" panose="020B0503020204020204" pitchFamily="34" charset="-122"/>
                <a:ea typeface="Microsoft YaHei" panose="020B0503020204020204" pitchFamily="34" charset="-122"/>
              </a:rPr>
              <a:t>场景一：图库冷启动</a:t>
            </a:r>
            <a:endParaRPr lang="zh-CN" altLang="en-US" b="1">
              <a:latin typeface="Microsoft YaHei" panose="020B0503020204020204" pitchFamily="34" charset="-122"/>
              <a:ea typeface="Microsoft YaHei" panose="020B0503020204020204" pitchFamily="34" charset="-122"/>
            </a:endParaRPr>
          </a:p>
        </p:txBody>
      </p:sp>
      <p:pic>
        <p:nvPicPr>
          <p:cNvPr id="3" name="Drawing 1">
            <a:extLst>
              <a:ext uri="{FF2B5EF4-FFF2-40B4-BE49-F238E27FC236}">
                <a16:creationId xmlns:a16="http://schemas.microsoft.com/office/drawing/2014/main" id="{EA3A9D5E-5278-6755-69C0-38B1F2A9F171}"/>
              </a:ext>
            </a:extLst>
          </p:cNvPr>
          <p:cNvPicPr/>
          <p:nvPr/>
        </p:nvPicPr>
        <p:blipFill>
          <a:blip r:embed="rId2"/>
          <a:srcRect l="12364" t="24483"/>
          <a:stretch>
            <a:fillRect/>
          </a:stretch>
        </p:blipFill>
        <p:spPr>
          <a:xfrm>
            <a:off x="647981" y="1328870"/>
            <a:ext cx="10920152" cy="5167345"/>
          </a:xfrm>
          <a:prstGeom prst="rect">
            <a:avLst/>
          </a:prstGeom>
        </p:spPr>
      </p:pic>
    </p:spTree>
    <p:extLst>
      <p:ext uri="{BB962C8B-B14F-4D97-AF65-F5344CB8AC3E}">
        <p14:creationId xmlns:p14="http://schemas.microsoft.com/office/powerpoint/2010/main" val="3433140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B85EA-DEDD-718C-5A60-E281FBEA06BB}"/>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723760E1-A7A0-AAF1-DC7A-F0F166B797A0}"/>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132CDCE6-2B54-B3A8-AEE9-343CE8ECF52F}"/>
              </a:ext>
            </a:extLst>
          </p:cNvPr>
          <p:cNvSpPr txBox="1"/>
          <p:nvPr/>
        </p:nvSpPr>
        <p:spPr>
          <a:xfrm>
            <a:off x="8696077" y="2391892"/>
            <a:ext cx="3324126" cy="2121415"/>
          </a:xfrm>
          <a:prstGeom prst="rect">
            <a:avLst/>
          </a:prstGeom>
          <a:noFill/>
        </p:spPr>
        <p:txBody>
          <a:bodyPr wrap="square">
            <a:spAutoFit/>
          </a:bodyPr>
          <a:lstStyle/>
          <a:p>
            <a:pPr>
              <a:lnSpc>
                <a:spcPct val="150000"/>
              </a:lnSpc>
            </a:pPr>
            <a:r>
              <a:rPr kumimoji="1" lang="zh-CN" altLang="en-US">
                <a:solidFill>
                  <a:srgbClr val="333333"/>
                </a:solidFill>
                <a:latin typeface="Open Sans" panose="020B0606030504020204" pitchFamily="34" charset="0"/>
              </a:rPr>
              <a:t>接着查看</a:t>
            </a:r>
            <a:r>
              <a:rPr kumimoji="1" lang="en-US" altLang="zh-CN">
                <a:solidFill>
                  <a:srgbClr val="333333"/>
                </a:solidFill>
                <a:latin typeface="Open Sans" panose="020B0606030504020204" pitchFamily="34" charset="0"/>
              </a:rPr>
              <a:t>mediaserver</a:t>
            </a:r>
            <a:r>
              <a:rPr kumimoji="1" lang="zh-CN" altLang="en-US">
                <a:solidFill>
                  <a:srgbClr val="333333"/>
                </a:solidFill>
                <a:latin typeface="Open Sans" panose="020B0606030504020204" pitchFamily="34" charset="0"/>
              </a:rPr>
              <a:t>的</a:t>
            </a:r>
            <a:r>
              <a:rPr kumimoji="1" lang="en-US" altLang="zh-CN">
                <a:solidFill>
                  <a:srgbClr val="333333"/>
                </a:solidFill>
                <a:latin typeface="Open Sans" panose="020B0606030504020204" pitchFamily="34" charset="0"/>
              </a:rPr>
              <a:t>binder</a:t>
            </a:r>
            <a:r>
              <a:rPr kumimoji="1" lang="zh-CN" altLang="en-US">
                <a:solidFill>
                  <a:srgbClr val="333333"/>
                </a:solidFill>
                <a:latin typeface="Open Sans" panose="020B0606030504020204" pitchFamily="34" charset="0"/>
              </a:rPr>
              <a:t>调用，发现都是图库的</a:t>
            </a:r>
            <a:r>
              <a:rPr kumimoji="1" lang="en-US" altLang="zh-CN">
                <a:solidFill>
                  <a:srgbClr val="333333"/>
                </a:solidFill>
                <a:latin typeface="Open Sans" panose="020B0606030504020204" pitchFamily="34" charset="0"/>
              </a:rPr>
              <a:t>ml</a:t>
            </a:r>
            <a:r>
              <a:rPr kumimoji="1" lang="zh-CN" altLang="en-US">
                <a:solidFill>
                  <a:srgbClr val="333333"/>
                </a:solidFill>
                <a:latin typeface="Open Sans" panose="020B0606030504020204" pitchFamily="34" charset="0"/>
              </a:rPr>
              <a:t>线程的主动业务调用相关。从该图库线程的执行函数上看是和缩略图业务有关。</a:t>
            </a:r>
            <a:endParaRPr lang="en-US" altLang="zh-CN">
              <a:solidFill>
                <a:srgbClr val="333333"/>
              </a:solidFill>
              <a:latin typeface="Open Sans" panose="020B0606030504020204" pitchFamily="34" charset="0"/>
            </a:endParaRPr>
          </a:p>
        </p:txBody>
      </p:sp>
      <p:sp>
        <p:nvSpPr>
          <p:cNvPr id="6" name="文本框 5">
            <a:extLst>
              <a:ext uri="{FF2B5EF4-FFF2-40B4-BE49-F238E27FC236}">
                <a16:creationId xmlns:a16="http://schemas.microsoft.com/office/drawing/2014/main" id="{2378CE4B-A1C9-2341-F622-D2EFEE6ACF1A}"/>
              </a:ext>
            </a:extLst>
          </p:cNvPr>
          <p:cNvSpPr txBox="1"/>
          <p:nvPr/>
        </p:nvSpPr>
        <p:spPr>
          <a:xfrm>
            <a:off x="2003482" y="225070"/>
            <a:ext cx="2262158" cy="369332"/>
          </a:xfrm>
          <a:prstGeom prst="rect">
            <a:avLst/>
          </a:prstGeom>
          <a:noFill/>
        </p:spPr>
        <p:txBody>
          <a:bodyPr wrap="none" rtlCol="0">
            <a:spAutoFit/>
          </a:bodyPr>
          <a:lstStyle/>
          <a:p>
            <a:r>
              <a:rPr kumimoji="1" lang="zh-CN" altLang="en-US" b="1">
                <a:latin typeface="Microsoft YaHei" panose="020B0503020204020204" pitchFamily="34" charset="-122"/>
                <a:ea typeface="Microsoft YaHei" panose="020B0503020204020204" pitchFamily="34" charset="-122"/>
              </a:rPr>
              <a:t>场景一：图库冷启动</a:t>
            </a:r>
            <a:endParaRPr lang="zh-CN" altLang="en-US" b="1">
              <a:latin typeface="Microsoft YaHei" panose="020B0503020204020204" pitchFamily="34" charset="-122"/>
              <a:ea typeface="Microsoft YaHei" panose="020B0503020204020204" pitchFamily="34" charset="-122"/>
            </a:endParaRPr>
          </a:p>
        </p:txBody>
      </p:sp>
      <p:pic>
        <p:nvPicPr>
          <p:cNvPr id="7" name="Drawing 0">
            <a:extLst>
              <a:ext uri="{FF2B5EF4-FFF2-40B4-BE49-F238E27FC236}">
                <a16:creationId xmlns:a16="http://schemas.microsoft.com/office/drawing/2014/main" id="{194720AC-F259-7BC9-888E-FBDD706C581F}"/>
              </a:ext>
            </a:extLst>
          </p:cNvPr>
          <p:cNvPicPr/>
          <p:nvPr/>
        </p:nvPicPr>
        <p:blipFill>
          <a:blip r:embed="rId2"/>
          <a:srcRect l="12439"/>
          <a:stretch>
            <a:fillRect/>
          </a:stretch>
        </p:blipFill>
        <p:spPr>
          <a:xfrm>
            <a:off x="304800" y="2391892"/>
            <a:ext cx="8084255" cy="4287204"/>
          </a:xfrm>
          <a:prstGeom prst="rect">
            <a:avLst/>
          </a:prstGeom>
        </p:spPr>
      </p:pic>
      <p:sp>
        <p:nvSpPr>
          <p:cNvPr id="8" name="文本框 7">
            <a:extLst>
              <a:ext uri="{FF2B5EF4-FFF2-40B4-BE49-F238E27FC236}">
                <a16:creationId xmlns:a16="http://schemas.microsoft.com/office/drawing/2014/main" id="{3AC4A990-5223-70E5-273C-34FEC315FCBF}"/>
              </a:ext>
            </a:extLst>
          </p:cNvPr>
          <p:cNvSpPr txBox="1"/>
          <p:nvPr/>
        </p:nvSpPr>
        <p:spPr>
          <a:xfrm>
            <a:off x="304800" y="707073"/>
            <a:ext cx="8084255" cy="1785104"/>
          </a:xfrm>
          <a:prstGeom prst="rect">
            <a:avLst/>
          </a:prstGeom>
          <a:noFill/>
        </p:spPr>
        <p:txBody>
          <a:bodyPr wrap="square">
            <a:spAutoFit/>
          </a:bodyPr>
          <a:lstStyle/>
          <a:p>
            <a:r>
              <a:rPr lang="en-US" altLang="zh-CN" sz="1000">
                <a:effectLst/>
                <a:latin typeface="Consolas" panose="020B0609020204030204" pitchFamily="49" charset="0"/>
                <a:ea typeface="Consolas" panose="020B0609020204030204" pitchFamily="49" charset="0"/>
              </a:rPr>
              <a:t>private static Bitmap </a:t>
            </a:r>
            <a:r>
              <a:rPr lang="en-US" altLang="zh-CN" sz="1000" b="1">
                <a:effectLst/>
                <a:latin typeface="Consolas" panose="020B0609020204030204" pitchFamily="49" charset="0"/>
                <a:ea typeface="Consolas" panose="020B0609020204030204" pitchFamily="49" charset="0"/>
              </a:rPr>
              <a:t>getSmallBitmap</a:t>
            </a:r>
            <a:r>
              <a:rPr lang="en-US" altLang="zh-CN" sz="1000">
                <a:effectLst/>
                <a:latin typeface="Consolas" panose="020B0609020204030204" pitchFamily="49" charset="0"/>
                <a:ea typeface="Consolas" panose="020B0609020204030204" pitchFamily="49" charset="0"/>
              </a:rPr>
              <a:t>(Context </a:t>
            </a:r>
            <a:r>
              <a:rPr lang="en-US" altLang="zh-CN" sz="1000" b="1">
                <a:effectLst/>
                <a:latin typeface="Consolas" panose="020B0609020204030204" pitchFamily="49" charset="0"/>
                <a:ea typeface="Consolas" panose="020B0609020204030204" pitchFamily="49" charset="0"/>
              </a:rPr>
              <a:t>context</a:t>
            </a:r>
            <a:r>
              <a:rPr lang="en-US" altLang="zh-CN" sz="1000">
                <a:effectLst/>
                <a:latin typeface="Consolas" panose="020B0609020204030204" pitchFamily="49" charset="0"/>
                <a:ea typeface="Consolas" panose="020B0609020204030204" pitchFamily="49" charset="0"/>
              </a:rPr>
              <a:t>, int </a:t>
            </a:r>
            <a:r>
              <a:rPr lang="en-US" altLang="zh-CN" sz="1000" b="1">
                <a:effectLst/>
                <a:latin typeface="Consolas" panose="020B0609020204030204" pitchFamily="49" charset="0"/>
                <a:ea typeface="Consolas" panose="020B0609020204030204" pitchFamily="49" charset="0"/>
              </a:rPr>
              <a:t>width</a:t>
            </a:r>
            <a:r>
              <a:rPr lang="en-US" altLang="zh-CN" sz="1000">
                <a:effectLst/>
                <a:latin typeface="Consolas" panose="020B0609020204030204" pitchFamily="49" charset="0"/>
                <a:ea typeface="Consolas" panose="020B0609020204030204" pitchFamily="49" charset="0"/>
              </a:rPr>
              <a:t>, int </a:t>
            </a:r>
            <a:r>
              <a:rPr lang="en-US" altLang="zh-CN" sz="1000" b="1">
                <a:effectLst/>
                <a:latin typeface="Consolas" panose="020B0609020204030204" pitchFamily="49" charset="0"/>
                <a:ea typeface="Consolas" panose="020B0609020204030204" pitchFamily="49" charset="0"/>
              </a:rPr>
              <a:t>height</a:t>
            </a:r>
            <a:r>
              <a:rPr lang="en-US" altLang="zh-CN" sz="1000">
                <a:effectLst/>
                <a:latin typeface="Consolas" panose="020B0609020204030204" pitchFamily="49" charset="0"/>
                <a:ea typeface="Consolas" panose="020B0609020204030204" pitchFamily="49" charset="0"/>
              </a:rPr>
              <a:t>, Uri </a:t>
            </a:r>
            <a:r>
              <a:rPr lang="en-US" altLang="zh-CN" sz="1000" b="1">
                <a:effectLst/>
                <a:latin typeface="Consolas" panose="020B0609020204030204" pitchFamily="49" charset="0"/>
                <a:ea typeface="Consolas" panose="020B0609020204030204" pitchFamily="49" charset="0"/>
              </a:rPr>
              <a:t>uri</a:t>
            </a:r>
            <a:r>
              <a:rPr lang="en-US" altLang="zh-CN" sz="1000">
                <a:effectLst/>
                <a:latin typeface="Consolas" panose="020B0609020204030204" pitchFamily="49" charset="0"/>
                <a:ea typeface="Consolas" panose="020B0609020204030204" pitchFamily="49" charset="0"/>
              </a:rPr>
              <a:t>, CancellationSignal </a:t>
            </a:r>
            <a:r>
              <a:rPr lang="en-US" altLang="zh-CN" sz="1000" b="1">
                <a:effectLst/>
                <a:latin typeface="Consolas" panose="020B0609020204030204" pitchFamily="49" charset="0"/>
                <a:ea typeface="Consolas" panose="020B0609020204030204" pitchFamily="49" charset="0"/>
              </a:rPr>
              <a:t>signal</a:t>
            </a:r>
            <a:r>
              <a:rPr lang="en-US" altLang="zh-CN" sz="1000">
                <a:effectLst/>
                <a:latin typeface="Consolas" panose="020B0609020204030204" pitchFamily="49" charset="0"/>
                <a:ea typeface="Consolas" panose="020B0609020204030204" pitchFamily="49" charset="0"/>
              </a:rPr>
              <a:t>)</a:t>
            </a:r>
            <a:br>
              <a:rPr lang="en-US" altLang="zh-CN" sz="1000">
                <a:effectLst/>
                <a:latin typeface="Consolas" panose="020B0609020204030204" pitchFamily="49" charset="0"/>
                <a:ea typeface="Consolas" panose="020B0609020204030204" pitchFamily="49" charset="0"/>
              </a:rPr>
            </a:br>
            <a:r>
              <a:rPr lang="en-US" altLang="zh-CN" sz="1000">
                <a:effectLst/>
                <a:latin typeface="Consolas" panose="020B0609020204030204" pitchFamily="49" charset="0"/>
                <a:ea typeface="Consolas" panose="020B0609020204030204" pitchFamily="49" charset="0"/>
              </a:rPr>
              <a:t>throws IOException {</a:t>
            </a:r>
            <a:br>
              <a:rPr lang="en-US" altLang="zh-CN" sz="1000">
                <a:effectLst/>
                <a:latin typeface="Consolas" panose="020B0609020204030204" pitchFamily="49" charset="0"/>
                <a:ea typeface="Consolas" panose="020B0609020204030204" pitchFamily="49" charset="0"/>
              </a:rPr>
            </a:br>
            <a:r>
              <a:rPr lang="en-US" altLang="zh-CN" sz="1000">
                <a:effectLst/>
                <a:latin typeface="Consolas" panose="020B0609020204030204" pitchFamily="49" charset="0"/>
                <a:ea typeface="Consolas" panose="020B0609020204030204" pitchFamily="49" charset="0"/>
              </a:rPr>
              <a:t>ContentResolver resolver = context.getContentResolver();</a:t>
            </a:r>
            <a:br>
              <a:rPr lang="en-US" altLang="zh-CN" sz="1000">
                <a:effectLst/>
                <a:latin typeface="Consolas" panose="020B0609020204030204" pitchFamily="49" charset="0"/>
                <a:ea typeface="Consolas" panose="020B0609020204030204" pitchFamily="49" charset="0"/>
              </a:rPr>
            </a:br>
            <a:r>
              <a:rPr lang="en-US" altLang="zh-CN" sz="1000">
                <a:effectLst/>
                <a:latin typeface="Consolas" panose="020B0609020204030204" pitchFamily="49" charset="0"/>
                <a:ea typeface="Consolas" panose="020B0609020204030204" pitchFamily="49" charset="0"/>
              </a:rPr>
              <a:t>final Bundle opts = new Bundle();</a:t>
            </a:r>
            <a:br>
              <a:rPr lang="en-US" altLang="zh-CN" sz="1000">
                <a:effectLst/>
                <a:latin typeface="Consolas" panose="020B0609020204030204" pitchFamily="49" charset="0"/>
                <a:ea typeface="Consolas" panose="020B0609020204030204" pitchFamily="49" charset="0"/>
              </a:rPr>
            </a:br>
            <a:r>
              <a:rPr lang="en-US" altLang="zh-CN" sz="1000" b="1" u="none" strike="noStrike">
                <a:solidFill>
                  <a:srgbClr val="3370FF"/>
                </a:solidFill>
                <a:effectLst/>
                <a:latin typeface="Consolas" panose="020B0609020204030204" pitchFamily="49" charset="0"/>
                <a:ea typeface="Consolas" panose="020B0609020204030204" pitchFamily="49" charset="0"/>
                <a:cs typeface="Times New Roman" panose="02020603050405020304" pitchFamily="18" charset="0"/>
                <a:hlinkClick r:id="rId3"/>
              </a:rPr>
              <a:t>opts</a:t>
            </a:r>
            <a:r>
              <a:rPr lang="en-US" altLang="zh-CN" sz="1000">
                <a:effectLst/>
                <a:latin typeface="Consolas" panose="020B0609020204030204" pitchFamily="49" charset="0"/>
                <a:ea typeface="Consolas" panose="020B0609020204030204" pitchFamily="49" charset="0"/>
              </a:rPr>
              <a:t>.putParcelable(ContentResolver.EXTRA_SIZE, new Point(0, 0));</a:t>
            </a:r>
            <a:br>
              <a:rPr lang="en-US" altLang="zh-CN" sz="1000">
                <a:effectLst/>
                <a:latin typeface="Consolas" panose="020B0609020204030204" pitchFamily="49" charset="0"/>
                <a:ea typeface="Consolas" panose="020B0609020204030204" pitchFamily="49" charset="0"/>
              </a:rPr>
            </a:br>
            <a:r>
              <a:rPr lang="en-US" altLang="zh-CN" sz="1000">
                <a:effectLst/>
                <a:latin typeface="Consolas" panose="020B0609020204030204" pitchFamily="49" charset="0"/>
                <a:ea typeface="Consolas" panose="020B0609020204030204" pitchFamily="49" charset="0"/>
              </a:rPr>
              <a:t>Bitmap bitmap = ImageDecoder.decodeBitmap(ImageDecoder.createSource(() -&gt; {</a:t>
            </a:r>
            <a:br>
              <a:rPr lang="en-US" altLang="zh-CN" sz="1000">
                <a:effectLst/>
                <a:latin typeface="Consolas" panose="020B0609020204030204" pitchFamily="49" charset="0"/>
                <a:ea typeface="Consolas" panose="020B0609020204030204" pitchFamily="49" charset="0"/>
              </a:rPr>
            </a:br>
            <a:r>
              <a:rPr lang="en-US" altLang="zh-CN" sz="1000">
                <a:effectLst/>
                <a:latin typeface="Consolas" panose="020B0609020204030204" pitchFamily="49" charset="0"/>
                <a:ea typeface="Consolas" panose="020B0609020204030204" pitchFamily="49" charset="0"/>
              </a:rPr>
              <a:t>final AssetFileDescriptor afd = </a:t>
            </a:r>
            <a:r>
              <a:rPr lang="en-US" altLang="zh-CN" sz="1000" b="1" u="none" strike="noStrike">
                <a:solidFill>
                  <a:srgbClr val="3370FF"/>
                </a:solidFill>
                <a:effectLst/>
                <a:latin typeface="Consolas" panose="020B0609020204030204" pitchFamily="49" charset="0"/>
                <a:ea typeface="Consolas" panose="020B0609020204030204" pitchFamily="49" charset="0"/>
                <a:cs typeface="Times New Roman" panose="02020603050405020304" pitchFamily="18" charset="0"/>
                <a:hlinkClick r:id="rId4"/>
              </a:rPr>
              <a:t>resolver</a:t>
            </a:r>
            <a:r>
              <a:rPr lang="en-US" altLang="zh-CN" sz="1000">
                <a:effectLst/>
                <a:latin typeface="Consolas" panose="020B0609020204030204" pitchFamily="49" charset="0"/>
                <a:ea typeface="Consolas" panose="020B0609020204030204" pitchFamily="49" charset="0"/>
              </a:rPr>
              <a:t>.openTypedAssetFile(uri, “image/*”, </a:t>
            </a:r>
            <a:r>
              <a:rPr lang="en-US" altLang="zh-CN" sz="1000" b="1" u="none" strike="noStrike">
                <a:solidFill>
                  <a:srgbClr val="3370FF"/>
                </a:solidFill>
                <a:effectLst/>
                <a:latin typeface="Consolas" panose="020B0609020204030204" pitchFamily="49" charset="0"/>
                <a:ea typeface="Consolas" panose="020B0609020204030204" pitchFamily="49" charset="0"/>
                <a:cs typeface="Times New Roman" panose="02020603050405020304" pitchFamily="18" charset="0"/>
                <a:hlinkClick r:id="rId3"/>
              </a:rPr>
              <a:t>opts</a:t>
            </a:r>
            <a:r>
              <a:rPr lang="en-US" altLang="zh-CN" sz="1000">
                <a:effectLst/>
                <a:latin typeface="Consolas" panose="020B0609020204030204" pitchFamily="49" charset="0"/>
                <a:ea typeface="Consolas" panose="020B0609020204030204" pitchFamily="49" charset="0"/>
              </a:rPr>
              <a:t>, signal);</a:t>
            </a:r>
            <a:br>
              <a:rPr lang="en-US" altLang="zh-CN" sz="1000">
                <a:effectLst/>
                <a:latin typeface="Consolas" panose="020B0609020204030204" pitchFamily="49" charset="0"/>
                <a:ea typeface="Consolas" panose="020B0609020204030204" pitchFamily="49" charset="0"/>
              </a:rPr>
            </a:br>
            <a:r>
              <a:rPr lang="en-US" altLang="zh-CN" sz="1000">
                <a:effectLst/>
                <a:latin typeface="Consolas" panose="020B0609020204030204" pitchFamily="49" charset="0"/>
                <a:ea typeface="Consolas" panose="020B0609020204030204" pitchFamily="49" charset="0"/>
              </a:rPr>
              <a:t>return afd;}), </a:t>
            </a:r>
            <a:endParaRPr lang="en-US" altLang="zh-CN" sz="1000">
              <a:latin typeface="Consolas" panose="020B0609020204030204" pitchFamily="49" charset="0"/>
              <a:ea typeface="Consolas" panose="020B0609020204030204" pitchFamily="49" charset="0"/>
            </a:endParaRPr>
          </a:p>
          <a:p>
            <a:r>
              <a:rPr lang="en-US" altLang="zh-CN" sz="1000">
                <a:effectLst/>
                <a:latin typeface="Consolas" panose="020B0609020204030204" pitchFamily="49" charset="0"/>
                <a:ea typeface="Consolas" panose="020B0609020204030204" pitchFamily="49" charset="0"/>
              </a:rPr>
              <a:t>……………         </a:t>
            </a:r>
          </a:p>
          <a:p>
            <a:r>
              <a:rPr lang="en-US" altLang="zh-CN" sz="1000">
                <a:effectLst/>
                <a:latin typeface="Consolas" panose="020B0609020204030204" pitchFamily="49" charset="0"/>
                <a:ea typeface="Consolas" panose="020B0609020204030204" pitchFamily="49" charset="0"/>
              </a:rPr>
              <a:t>return bitmap;</a:t>
            </a:r>
            <a:br>
              <a:rPr lang="en-US" altLang="zh-CN" sz="1000">
                <a:effectLst/>
                <a:latin typeface="Consolas" panose="020B0609020204030204" pitchFamily="49" charset="0"/>
                <a:ea typeface="Consolas" panose="020B0609020204030204" pitchFamily="49" charset="0"/>
              </a:rPr>
            </a:br>
            <a:r>
              <a:rPr lang="en-US" altLang="zh-CN" sz="1000">
                <a:effectLst/>
                <a:latin typeface="Consolas" panose="020B0609020204030204" pitchFamily="49" charset="0"/>
                <a:ea typeface="Consolas" panose="020B0609020204030204" pitchFamily="49" charset="0"/>
              </a:rPr>
              <a:t>}</a:t>
            </a:r>
            <a:r>
              <a:rPr lang="zh-CN" altLang="zh-CN" sz="1000">
                <a:effectLst/>
              </a:rPr>
              <a:t> </a:t>
            </a:r>
            <a:endParaRPr lang="zh-CN" altLang="en-US" sz="1000"/>
          </a:p>
        </p:txBody>
      </p:sp>
    </p:spTree>
    <p:extLst>
      <p:ext uri="{BB962C8B-B14F-4D97-AF65-F5344CB8AC3E}">
        <p14:creationId xmlns:p14="http://schemas.microsoft.com/office/powerpoint/2010/main" val="2637179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43122-710F-8E32-1592-5FF8BED7CA79}"/>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3C00A8F6-A238-CC22-46D1-7A7E0F66D575}"/>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 name="文本框 5">
            <a:extLst>
              <a:ext uri="{FF2B5EF4-FFF2-40B4-BE49-F238E27FC236}">
                <a16:creationId xmlns:a16="http://schemas.microsoft.com/office/drawing/2014/main" id="{87872AB2-B9AD-2E71-F4CA-D8A8BB6684D0}"/>
              </a:ext>
            </a:extLst>
          </p:cNvPr>
          <p:cNvSpPr txBox="1"/>
          <p:nvPr/>
        </p:nvSpPr>
        <p:spPr>
          <a:xfrm>
            <a:off x="2003482" y="225070"/>
            <a:ext cx="2262158" cy="369332"/>
          </a:xfrm>
          <a:prstGeom prst="rect">
            <a:avLst/>
          </a:prstGeom>
          <a:noFill/>
        </p:spPr>
        <p:txBody>
          <a:bodyPr wrap="none" rtlCol="0">
            <a:spAutoFit/>
          </a:bodyPr>
          <a:lstStyle/>
          <a:p>
            <a:r>
              <a:rPr kumimoji="1" lang="zh-CN" altLang="en-US" b="1">
                <a:latin typeface="Microsoft YaHei" panose="020B0503020204020204" pitchFamily="34" charset="-122"/>
                <a:ea typeface="Microsoft YaHei" panose="020B0503020204020204" pitchFamily="34" charset="-122"/>
              </a:rPr>
              <a:t>场景一：图库冷启动</a:t>
            </a:r>
            <a:endParaRPr lang="zh-CN" altLang="en-US" b="1">
              <a:latin typeface="Microsoft YaHei" panose="020B0503020204020204" pitchFamily="34" charset="-122"/>
              <a:ea typeface="Microsoft YaHei" panose="020B0503020204020204" pitchFamily="34" charset="-122"/>
            </a:endParaRPr>
          </a:p>
        </p:txBody>
      </p:sp>
      <p:sp>
        <p:nvSpPr>
          <p:cNvPr id="9" name="文本框 8">
            <a:extLst>
              <a:ext uri="{FF2B5EF4-FFF2-40B4-BE49-F238E27FC236}">
                <a16:creationId xmlns:a16="http://schemas.microsoft.com/office/drawing/2014/main" id="{40C12951-0DB9-0CD4-EF16-74642B454624}"/>
              </a:ext>
            </a:extLst>
          </p:cNvPr>
          <p:cNvSpPr txBox="1"/>
          <p:nvPr/>
        </p:nvSpPr>
        <p:spPr>
          <a:xfrm>
            <a:off x="377899" y="892832"/>
            <a:ext cx="11436201" cy="2122376"/>
          </a:xfrm>
          <a:prstGeom prst="rect">
            <a:avLst/>
          </a:prstGeom>
          <a:noFill/>
        </p:spPr>
        <p:txBody>
          <a:bodyPr wrap="square" rtlCol="0">
            <a:spAutoFit/>
          </a:bodyPr>
          <a:lstStyle/>
          <a:p>
            <a:pPr>
              <a:lnSpc>
                <a:spcPct val="150000"/>
              </a:lnSpc>
            </a:pPr>
            <a:r>
              <a:rPr kumimoji="1" lang="zh-CN" altLang="en-US"/>
              <a:t>后续和图库开发沟通后发现，</a:t>
            </a:r>
            <a:r>
              <a:rPr kumimoji="1" lang="en-US" altLang="zh-CN"/>
              <a:t>M639</a:t>
            </a:r>
            <a:r>
              <a:rPr kumimoji="1" lang="zh-CN" altLang="en-US"/>
              <a:t>的</a:t>
            </a:r>
            <a:r>
              <a:rPr kumimoji="1" lang="en-US" altLang="zh-CN"/>
              <a:t>trace</a:t>
            </a:r>
            <a:r>
              <a:rPr kumimoji="1" lang="zh-CN" altLang="en-US"/>
              <a:t>中每次都是</a:t>
            </a:r>
            <a:r>
              <a:rPr kumimoji="1" lang="en-US" altLang="zh-CN"/>
              <a:t>ml</a:t>
            </a:r>
            <a:r>
              <a:rPr kumimoji="1" lang="zh-CN" altLang="en-US"/>
              <a:t>进程的冷启动。在后续与接口沟通后发现原因所在：</a:t>
            </a:r>
            <a:endParaRPr kumimoji="1" lang="en-US" altLang="zh-CN"/>
          </a:p>
          <a:p>
            <a:pPr>
              <a:lnSpc>
                <a:spcPct val="150000"/>
              </a:lnSpc>
            </a:pPr>
            <a:r>
              <a:rPr kumimoji="1" lang="zh-CN" altLang="en-US"/>
              <a:t>        </a:t>
            </a:r>
            <a:r>
              <a:rPr kumimoji="1" lang="en-US" altLang="zh-CN"/>
              <a:t>1.M639</a:t>
            </a:r>
            <a:r>
              <a:rPr kumimoji="1" lang="zh-CN" altLang="en-US"/>
              <a:t>项目为了解藕，图库的</a:t>
            </a:r>
            <a:r>
              <a:rPr kumimoji="1" lang="en-US" altLang="zh-CN"/>
              <a:t>ml</a:t>
            </a:r>
            <a:r>
              <a:rPr kumimoji="1" lang="zh-CN" altLang="en-US"/>
              <a:t>线程是从</a:t>
            </a:r>
            <a:r>
              <a:rPr kumimoji="1" lang="en-US" altLang="zh-CN"/>
              <a:t>mediaserver</a:t>
            </a:r>
            <a:r>
              <a:rPr kumimoji="1" lang="zh-CN" altLang="en-US"/>
              <a:t>中的代码剥离出来的，会随图库的冷启动一起启动，然后和</a:t>
            </a:r>
            <a:r>
              <a:rPr kumimoji="1" lang="en-US" altLang="zh-CN"/>
              <a:t>mediaserver</a:t>
            </a:r>
            <a:r>
              <a:rPr kumimoji="1" lang="zh-CN" altLang="en-US"/>
              <a:t>交互执行数据同步。</a:t>
            </a:r>
            <a:endParaRPr kumimoji="1" lang="en-US" altLang="zh-CN"/>
          </a:p>
          <a:p>
            <a:pPr>
              <a:lnSpc>
                <a:spcPct val="150000"/>
              </a:lnSpc>
            </a:pPr>
            <a:r>
              <a:rPr kumimoji="1" lang="zh-CN" altLang="en-US"/>
              <a:t>        </a:t>
            </a:r>
            <a:r>
              <a:rPr kumimoji="1" lang="en-US" altLang="zh-CN"/>
              <a:t>2.</a:t>
            </a:r>
            <a:r>
              <a:rPr kumimoji="1" lang="zh-CN" altLang="en-US"/>
              <a:t>将图库进程</a:t>
            </a:r>
            <a:r>
              <a:rPr kumimoji="1" lang="en-US" altLang="zh-CN"/>
              <a:t>kill</a:t>
            </a:r>
            <a:r>
              <a:rPr kumimoji="1" lang="zh-CN" altLang="en-US"/>
              <a:t>并保留</a:t>
            </a:r>
            <a:r>
              <a:rPr kumimoji="1" lang="en-US" altLang="zh-CN"/>
              <a:t>ml</a:t>
            </a:r>
            <a:r>
              <a:rPr kumimoji="1" lang="zh-CN" altLang="en-US"/>
              <a:t>进程。再将图库冷启动发现和上一代现象一致了，没有</a:t>
            </a:r>
            <a:r>
              <a:rPr kumimoji="1" lang="en-US" altLang="zh-CN"/>
              <a:t>mediaserver</a:t>
            </a:r>
            <a:r>
              <a:rPr kumimoji="1" lang="zh-CN" altLang="en-US"/>
              <a:t>和</a:t>
            </a:r>
            <a:r>
              <a:rPr kumimoji="1" lang="en-US" altLang="zh-CN"/>
              <a:t>media.extractor</a:t>
            </a:r>
            <a:r>
              <a:rPr kumimoji="1" lang="zh-CN" altLang="en-US"/>
              <a:t>的</a:t>
            </a:r>
            <a:r>
              <a:rPr kumimoji="1" lang="en-US" altLang="zh-CN"/>
              <a:t>binder</a:t>
            </a:r>
            <a:r>
              <a:rPr kumimoji="1" lang="zh-CN" altLang="en-US"/>
              <a:t>调用了。</a:t>
            </a:r>
            <a:endParaRPr kumimoji="1" lang="en-US" altLang="zh-CN"/>
          </a:p>
        </p:txBody>
      </p:sp>
      <p:pic>
        <p:nvPicPr>
          <p:cNvPr id="2" name="Drawing 2">
            <a:extLst>
              <a:ext uri="{FF2B5EF4-FFF2-40B4-BE49-F238E27FC236}">
                <a16:creationId xmlns:a16="http://schemas.microsoft.com/office/drawing/2014/main" id="{EB484373-3B97-D091-324C-BECED6503A85}"/>
              </a:ext>
            </a:extLst>
          </p:cNvPr>
          <p:cNvPicPr/>
          <p:nvPr/>
        </p:nvPicPr>
        <p:blipFill>
          <a:blip r:embed="rId2"/>
          <a:srcRect l="12319" t="33990" b="12574"/>
          <a:stretch>
            <a:fillRect/>
          </a:stretch>
        </p:blipFill>
        <p:spPr>
          <a:xfrm>
            <a:off x="1064029" y="3100647"/>
            <a:ext cx="10335490" cy="3578449"/>
          </a:xfrm>
          <a:prstGeom prst="rect">
            <a:avLst/>
          </a:prstGeom>
        </p:spPr>
      </p:pic>
    </p:spTree>
    <p:extLst>
      <p:ext uri="{BB962C8B-B14F-4D97-AF65-F5344CB8AC3E}">
        <p14:creationId xmlns:p14="http://schemas.microsoft.com/office/powerpoint/2010/main" val="3869428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1B4614F1-288C-E26A-A87A-C41DFD1E0A31}"/>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6" name="文本框 5">
            <a:extLst>
              <a:ext uri="{FF2B5EF4-FFF2-40B4-BE49-F238E27FC236}">
                <a16:creationId xmlns:a16="http://schemas.microsoft.com/office/drawing/2014/main" id="{F7613E46-2A1F-976F-A3AA-51CDB09D4D0A}"/>
              </a:ext>
            </a:extLst>
          </p:cNvPr>
          <p:cNvSpPr txBox="1"/>
          <p:nvPr/>
        </p:nvSpPr>
        <p:spPr>
          <a:xfrm>
            <a:off x="2003482" y="225070"/>
            <a:ext cx="2492990" cy="369332"/>
          </a:xfrm>
          <a:prstGeom prst="rect">
            <a:avLst/>
          </a:prstGeom>
          <a:noFill/>
        </p:spPr>
        <p:txBody>
          <a:bodyPr wrap="none" rtlCol="0">
            <a:spAutoFit/>
          </a:bodyPr>
          <a:lstStyle/>
          <a:p>
            <a:r>
              <a:rPr kumimoji="1" lang="zh-CN" altLang="en-US" b="1">
                <a:latin typeface="Microsoft YaHei" panose="020B0503020204020204" pitchFamily="34" charset="-122"/>
                <a:ea typeface="Microsoft YaHei" panose="020B0503020204020204" pitchFamily="34" charset="-122"/>
              </a:rPr>
              <a:t>场景二：无干扰冷启动</a:t>
            </a:r>
            <a:endParaRPr lang="zh-CN" altLang="en-US" b="1">
              <a:latin typeface="Microsoft YaHei" panose="020B0503020204020204" pitchFamily="34" charset="-122"/>
              <a:ea typeface="Microsoft YaHei" panose="020B0503020204020204" pitchFamily="34" charset="-122"/>
            </a:endParaRPr>
          </a:p>
        </p:txBody>
      </p:sp>
      <p:graphicFrame>
        <p:nvGraphicFramePr>
          <p:cNvPr id="4" name="表格 3">
            <a:extLst>
              <a:ext uri="{FF2B5EF4-FFF2-40B4-BE49-F238E27FC236}">
                <a16:creationId xmlns:a16="http://schemas.microsoft.com/office/drawing/2014/main" id="{4910599B-56CC-0082-5692-37D3EEE56341}"/>
              </a:ext>
            </a:extLst>
          </p:cNvPr>
          <p:cNvGraphicFramePr>
            <a:graphicFrameLocks noGrp="1"/>
          </p:cNvGraphicFramePr>
          <p:nvPr>
            <p:extLst>
              <p:ext uri="{D42A27DB-BD31-4B8C-83A1-F6EECF244321}">
                <p14:modId xmlns:p14="http://schemas.microsoft.com/office/powerpoint/2010/main" val="1228404222"/>
              </p:ext>
            </p:extLst>
          </p:nvPr>
        </p:nvGraphicFramePr>
        <p:xfrm>
          <a:off x="477429" y="1578448"/>
          <a:ext cx="11425955" cy="1165860"/>
        </p:xfrm>
        <a:graphic>
          <a:graphicData uri="http://schemas.openxmlformats.org/drawingml/2006/table">
            <a:tbl>
              <a:tblPr firstRow="1" bandRow="1">
                <a:tableStyleId>{5C22544A-7EE6-4342-B048-85BDC9FD1C3A}</a:tableStyleId>
              </a:tblPr>
              <a:tblGrid>
                <a:gridCol w="2342069">
                  <a:extLst>
                    <a:ext uri="{9D8B030D-6E8A-4147-A177-3AD203B41FA5}">
                      <a16:colId xmlns:a16="http://schemas.microsoft.com/office/drawing/2014/main" val="2457340411"/>
                    </a:ext>
                  </a:extLst>
                </a:gridCol>
                <a:gridCol w="922491">
                  <a:extLst>
                    <a:ext uri="{9D8B030D-6E8A-4147-A177-3AD203B41FA5}">
                      <a16:colId xmlns:a16="http://schemas.microsoft.com/office/drawing/2014/main" val="1542678257"/>
                    </a:ext>
                  </a:extLst>
                </a:gridCol>
                <a:gridCol w="1632279">
                  <a:extLst>
                    <a:ext uri="{9D8B030D-6E8A-4147-A177-3AD203B41FA5}">
                      <a16:colId xmlns:a16="http://schemas.microsoft.com/office/drawing/2014/main" val="1187117831"/>
                    </a:ext>
                  </a:extLst>
                </a:gridCol>
                <a:gridCol w="1632279">
                  <a:extLst>
                    <a:ext uri="{9D8B030D-6E8A-4147-A177-3AD203B41FA5}">
                      <a16:colId xmlns:a16="http://schemas.microsoft.com/office/drawing/2014/main" val="1433303159"/>
                    </a:ext>
                  </a:extLst>
                </a:gridCol>
                <a:gridCol w="1632279">
                  <a:extLst>
                    <a:ext uri="{9D8B030D-6E8A-4147-A177-3AD203B41FA5}">
                      <a16:colId xmlns:a16="http://schemas.microsoft.com/office/drawing/2014/main" val="3705573041"/>
                    </a:ext>
                  </a:extLst>
                </a:gridCol>
                <a:gridCol w="1632279">
                  <a:extLst>
                    <a:ext uri="{9D8B030D-6E8A-4147-A177-3AD203B41FA5}">
                      <a16:colId xmlns:a16="http://schemas.microsoft.com/office/drawing/2014/main" val="2689810787"/>
                    </a:ext>
                  </a:extLst>
                </a:gridCol>
                <a:gridCol w="1632279">
                  <a:extLst>
                    <a:ext uri="{9D8B030D-6E8A-4147-A177-3AD203B41FA5}">
                      <a16:colId xmlns:a16="http://schemas.microsoft.com/office/drawing/2014/main" val="1683469602"/>
                    </a:ext>
                  </a:extLst>
                </a:gridCol>
              </a:tblGrid>
              <a:tr h="370840">
                <a:tc>
                  <a:txBody>
                    <a:bodyPr/>
                    <a:lstStyle/>
                    <a:p>
                      <a:r>
                        <a:rPr lang="en" b="1">
                          <a:effectLst/>
                        </a:rPr>
                        <a:t>Model/Round</a:t>
                      </a:r>
                    </a:p>
                  </a:txBody>
                  <a:tcPr marL="123825" marR="123825" marT="57150" marB="57150" anchor="ctr"/>
                </a:tc>
                <a:tc>
                  <a:txBody>
                    <a:bodyPr/>
                    <a:lstStyle/>
                    <a:p>
                      <a:r>
                        <a:rPr lang="en-US" altLang="zh-CN" b="1">
                          <a:effectLst/>
                        </a:rPr>
                        <a:t>0</a:t>
                      </a:r>
                    </a:p>
                  </a:txBody>
                  <a:tcPr marL="123825" marR="123825" marT="57150" marB="57150" anchor="ctr"/>
                </a:tc>
                <a:tc>
                  <a:txBody>
                    <a:bodyPr/>
                    <a:lstStyle/>
                    <a:p>
                      <a:r>
                        <a:rPr lang="en-US" altLang="zh-CN" b="1">
                          <a:effectLst/>
                        </a:rPr>
                        <a:t>1</a:t>
                      </a:r>
                    </a:p>
                  </a:txBody>
                  <a:tcPr marL="123825" marR="123825" marT="57150" marB="57150" anchor="ctr"/>
                </a:tc>
                <a:tc>
                  <a:txBody>
                    <a:bodyPr/>
                    <a:lstStyle/>
                    <a:p>
                      <a:r>
                        <a:rPr lang="en-US" altLang="zh-CN" b="1">
                          <a:effectLst/>
                        </a:rPr>
                        <a:t>2</a:t>
                      </a:r>
                    </a:p>
                  </a:txBody>
                  <a:tcPr marL="123825" marR="123825" marT="57150" marB="57150" anchor="ctr"/>
                </a:tc>
                <a:tc>
                  <a:txBody>
                    <a:bodyPr/>
                    <a:lstStyle/>
                    <a:p>
                      <a:r>
                        <a:rPr lang="en-US" altLang="zh-CN" b="1">
                          <a:effectLst/>
                        </a:rPr>
                        <a:t>3</a:t>
                      </a:r>
                    </a:p>
                  </a:txBody>
                  <a:tcPr marL="123825" marR="123825" marT="57150" marB="57150" anchor="ctr"/>
                </a:tc>
                <a:tc>
                  <a:txBody>
                    <a:bodyPr/>
                    <a:lstStyle/>
                    <a:p>
                      <a:r>
                        <a:rPr lang="en-US" altLang="zh-CN" b="1">
                          <a:effectLst/>
                        </a:rPr>
                        <a:t>4</a:t>
                      </a:r>
                    </a:p>
                  </a:txBody>
                  <a:tcPr marL="123825" marR="123825" marT="57150" marB="57150" anchor="ctr"/>
                </a:tc>
                <a:tc>
                  <a:txBody>
                    <a:bodyPr/>
                    <a:lstStyle/>
                    <a:p>
                      <a:r>
                        <a:rPr lang="en" b="1">
                          <a:effectLst/>
                        </a:rPr>
                        <a:t>Average</a:t>
                      </a:r>
                    </a:p>
                  </a:txBody>
                  <a:tcPr marL="123825" marR="123825" marT="57150" marB="57150" anchor="ctr"/>
                </a:tc>
                <a:extLst>
                  <a:ext uri="{0D108BD9-81ED-4DB2-BD59-A6C34878D82A}">
                    <a16:rowId xmlns:a16="http://schemas.microsoft.com/office/drawing/2014/main" val="265144657"/>
                  </a:ext>
                </a:extLst>
              </a:tr>
              <a:tr h="370840">
                <a:tc>
                  <a:txBody>
                    <a:bodyPr/>
                    <a:lstStyle/>
                    <a:p>
                      <a:r>
                        <a:rPr lang="en">
                          <a:effectLst/>
                        </a:rPr>
                        <a:t>M639</a:t>
                      </a:r>
                    </a:p>
                  </a:txBody>
                  <a:tcPr marL="123825" marR="123825" marT="57150" marB="57150" anchor="ctr"/>
                </a:tc>
                <a:tc>
                  <a:txBody>
                    <a:bodyPr/>
                    <a:lstStyle/>
                    <a:p>
                      <a:r>
                        <a:rPr lang="en-US" altLang="zh-CN">
                          <a:effectLst/>
                        </a:rPr>
                        <a:t>0</a:t>
                      </a:r>
                    </a:p>
                  </a:txBody>
                  <a:tcPr marL="123825" marR="123825" marT="57150" marB="57150" anchor="ctr"/>
                </a:tc>
                <a:tc>
                  <a:txBody>
                    <a:bodyPr/>
                    <a:lstStyle/>
                    <a:p>
                      <a:r>
                        <a:rPr lang="en-US" altLang="zh-CN">
                          <a:effectLst/>
                        </a:rPr>
                        <a:t>124</a:t>
                      </a:r>
                    </a:p>
                  </a:txBody>
                  <a:tcPr marL="123825" marR="123825" marT="57150" marB="57150" anchor="ctr"/>
                </a:tc>
                <a:tc>
                  <a:txBody>
                    <a:bodyPr/>
                    <a:lstStyle/>
                    <a:p>
                      <a:r>
                        <a:rPr lang="en-US" altLang="zh-CN">
                          <a:effectLst/>
                        </a:rPr>
                        <a:t>0</a:t>
                      </a:r>
                    </a:p>
                  </a:txBody>
                  <a:tcPr marL="123825" marR="123825" marT="57150" marB="57150" anchor="ctr"/>
                </a:tc>
                <a:tc>
                  <a:txBody>
                    <a:bodyPr/>
                    <a:lstStyle/>
                    <a:p>
                      <a:r>
                        <a:rPr lang="en-US" altLang="zh-CN">
                          <a:effectLst/>
                        </a:rPr>
                        <a:t>0</a:t>
                      </a:r>
                    </a:p>
                  </a:txBody>
                  <a:tcPr marL="123825" marR="123825" marT="57150" marB="57150" anchor="ctr"/>
                </a:tc>
                <a:tc>
                  <a:txBody>
                    <a:bodyPr/>
                    <a:lstStyle/>
                    <a:p>
                      <a:r>
                        <a:rPr lang="en-US" altLang="zh-CN">
                          <a:effectLst/>
                        </a:rPr>
                        <a:t>8</a:t>
                      </a:r>
                    </a:p>
                  </a:txBody>
                  <a:tcPr marL="123825" marR="123825" marT="57150" marB="57150" anchor="ctr"/>
                </a:tc>
                <a:tc>
                  <a:txBody>
                    <a:bodyPr/>
                    <a:lstStyle/>
                    <a:p>
                      <a:r>
                        <a:rPr lang="en-US" altLang="zh-CN">
                          <a:effectLst/>
                        </a:rPr>
                        <a:t>26.4</a:t>
                      </a:r>
                    </a:p>
                  </a:txBody>
                  <a:tcPr marL="123825" marR="123825" marT="57150" marB="57150" anchor="ctr"/>
                </a:tc>
                <a:extLst>
                  <a:ext uri="{0D108BD9-81ED-4DB2-BD59-A6C34878D82A}">
                    <a16:rowId xmlns:a16="http://schemas.microsoft.com/office/drawing/2014/main" val="2225511211"/>
                  </a:ext>
                </a:extLst>
              </a:tr>
              <a:tr h="370840">
                <a:tc>
                  <a:txBody>
                    <a:bodyPr/>
                    <a:lstStyle/>
                    <a:p>
                      <a:r>
                        <a:rPr lang="en">
                          <a:effectLst/>
                        </a:rPr>
                        <a:t>上一代</a:t>
                      </a:r>
                    </a:p>
                  </a:txBody>
                  <a:tcPr marL="123825" marR="123825" marT="57150" marB="57150" anchor="ctr"/>
                </a:tc>
                <a:tc>
                  <a:txBody>
                    <a:bodyPr/>
                    <a:lstStyle/>
                    <a:p>
                      <a:r>
                        <a:rPr lang="en-US" altLang="zh-CN">
                          <a:effectLst/>
                        </a:rPr>
                        <a:t>0</a:t>
                      </a:r>
                    </a:p>
                  </a:txBody>
                  <a:tcPr marL="123825" marR="123825" marT="57150" marB="57150" anchor="ctr"/>
                </a:tc>
                <a:tc>
                  <a:txBody>
                    <a:bodyPr/>
                    <a:lstStyle/>
                    <a:p>
                      <a:r>
                        <a:rPr lang="en-US" altLang="zh-CN">
                          <a:effectLst/>
                        </a:rPr>
                        <a:t>0</a:t>
                      </a:r>
                    </a:p>
                  </a:txBody>
                  <a:tcPr marL="123825" marR="123825" marT="57150" marB="57150" anchor="ctr"/>
                </a:tc>
                <a:tc>
                  <a:txBody>
                    <a:bodyPr/>
                    <a:lstStyle/>
                    <a:p>
                      <a:r>
                        <a:rPr lang="en-US" altLang="zh-CN">
                          <a:effectLst/>
                        </a:rPr>
                        <a:t>0</a:t>
                      </a:r>
                    </a:p>
                  </a:txBody>
                  <a:tcPr marL="123825" marR="123825" marT="57150" marB="57150" anchor="ctr"/>
                </a:tc>
                <a:tc>
                  <a:txBody>
                    <a:bodyPr/>
                    <a:lstStyle/>
                    <a:p>
                      <a:r>
                        <a:rPr lang="en-US" altLang="zh-CN">
                          <a:effectLst/>
                        </a:rPr>
                        <a:t>0</a:t>
                      </a:r>
                    </a:p>
                  </a:txBody>
                  <a:tcPr marL="123825" marR="123825" marT="57150" marB="57150" anchor="ctr"/>
                </a:tc>
                <a:tc>
                  <a:txBody>
                    <a:bodyPr/>
                    <a:lstStyle/>
                    <a:p>
                      <a:r>
                        <a:rPr lang="en-US" altLang="zh-CN">
                          <a:effectLst/>
                        </a:rPr>
                        <a:t>0</a:t>
                      </a:r>
                    </a:p>
                  </a:txBody>
                  <a:tcPr marL="123825" marR="123825" marT="57150" marB="57150" anchor="ctr"/>
                </a:tc>
                <a:tc>
                  <a:txBody>
                    <a:bodyPr/>
                    <a:lstStyle/>
                    <a:p>
                      <a:r>
                        <a:rPr lang="en-US" altLang="zh-CN">
                          <a:effectLst/>
                        </a:rPr>
                        <a:t>0</a:t>
                      </a:r>
                    </a:p>
                  </a:txBody>
                  <a:tcPr marL="123825" marR="123825" marT="57150" marB="57150" anchor="ctr"/>
                </a:tc>
                <a:extLst>
                  <a:ext uri="{0D108BD9-81ED-4DB2-BD59-A6C34878D82A}">
                    <a16:rowId xmlns:a16="http://schemas.microsoft.com/office/drawing/2014/main" val="1393113955"/>
                  </a:ext>
                </a:extLst>
              </a:tr>
            </a:tbl>
          </a:graphicData>
        </a:graphic>
      </p:graphicFrame>
      <p:sp>
        <p:nvSpPr>
          <p:cNvPr id="7" name="文本框 6">
            <a:extLst>
              <a:ext uri="{FF2B5EF4-FFF2-40B4-BE49-F238E27FC236}">
                <a16:creationId xmlns:a16="http://schemas.microsoft.com/office/drawing/2014/main" id="{4456CD46-32CA-6B5B-C2D5-CAEF9B7BBF41}"/>
              </a:ext>
            </a:extLst>
          </p:cNvPr>
          <p:cNvSpPr txBox="1"/>
          <p:nvPr/>
        </p:nvSpPr>
        <p:spPr>
          <a:xfrm>
            <a:off x="356050" y="663548"/>
            <a:ext cx="11547334" cy="875881"/>
          </a:xfrm>
          <a:prstGeom prst="rect">
            <a:avLst/>
          </a:prstGeom>
          <a:noFill/>
        </p:spPr>
        <p:txBody>
          <a:bodyPr wrap="square" rtlCol="0">
            <a:spAutoFit/>
          </a:bodyPr>
          <a:lstStyle/>
          <a:p>
            <a:pPr>
              <a:lnSpc>
                <a:spcPct val="150000"/>
              </a:lnSpc>
            </a:pPr>
            <a:r>
              <a:rPr kumimoji="1" lang="zh-CN" altLang="en-US"/>
              <a:t>无干扰冷启动场景中</a:t>
            </a:r>
            <a:r>
              <a:rPr lang="en" altLang="zh-CN" b="0">
                <a:effectLst/>
                <a:latin typeface="+mn-ea"/>
                <a:ea typeface="+mn-ea"/>
              </a:rPr>
              <a:t>mediaserver</a:t>
            </a:r>
            <a:r>
              <a:rPr lang="zh-CN" altLang="en" b="0">
                <a:effectLst/>
                <a:latin typeface="+mn-ea"/>
                <a:ea typeface="+mn-ea"/>
              </a:rPr>
              <a:t>进程</a:t>
            </a:r>
            <a:r>
              <a:rPr lang="zh-CN" altLang="en-US" b="0">
                <a:effectLst/>
                <a:latin typeface="+mn-ea"/>
                <a:ea typeface="+mn-ea"/>
              </a:rPr>
              <a:t>在第二轮有异常的调用。通过</a:t>
            </a:r>
            <a:r>
              <a:rPr lang="en-US" altLang="zh-CN" b="0">
                <a:effectLst/>
                <a:latin typeface="+mn-ea"/>
                <a:ea typeface="+mn-ea"/>
              </a:rPr>
              <a:t>trace</a:t>
            </a:r>
            <a:r>
              <a:rPr lang="zh-CN" altLang="en-US" b="0">
                <a:effectLst/>
                <a:latin typeface="+mn-ea"/>
                <a:ea typeface="+mn-ea"/>
              </a:rPr>
              <a:t>查看第二轮</a:t>
            </a:r>
            <a:r>
              <a:rPr lang="en-US" altLang="zh-CN" b="0">
                <a:effectLst/>
                <a:latin typeface="+mn-ea"/>
                <a:ea typeface="+mn-ea"/>
              </a:rPr>
              <a:t>binder</a:t>
            </a:r>
            <a:r>
              <a:rPr lang="zh-CN" altLang="en-US" b="0">
                <a:effectLst/>
                <a:latin typeface="+mn-ea"/>
                <a:ea typeface="+mn-ea"/>
              </a:rPr>
              <a:t>的调用情况发现</a:t>
            </a:r>
            <a:r>
              <a:rPr lang="zh-CN" altLang="en-US" b="0" i="0" u="none" strike="noStrike">
                <a:solidFill>
                  <a:srgbClr val="333333"/>
                </a:solidFill>
                <a:effectLst/>
                <a:latin typeface="Open Sans" panose="020B0606030504020204" pitchFamily="34" charset="0"/>
              </a:rPr>
              <a:t>所有 </a:t>
            </a:r>
            <a:r>
              <a:rPr lang="en" altLang="zh-CN">
                <a:latin typeface="+mn-ea"/>
              </a:rPr>
              <a:t>Binder</a:t>
            </a:r>
            <a:r>
              <a:rPr lang="en" altLang="zh-CN" b="0" i="0" u="none" strike="noStrike">
                <a:solidFill>
                  <a:srgbClr val="333333"/>
                </a:solidFill>
                <a:effectLst/>
                <a:latin typeface="Open Sans" panose="020B0606030504020204" pitchFamily="34" charset="0"/>
              </a:rPr>
              <a:t> </a:t>
            </a:r>
            <a:r>
              <a:rPr lang="zh-CN" altLang="en-US" b="0" i="0" u="none" strike="noStrike">
                <a:solidFill>
                  <a:srgbClr val="333333"/>
                </a:solidFill>
                <a:effectLst/>
                <a:latin typeface="Open Sans" panose="020B0606030504020204" pitchFamily="34" charset="0"/>
              </a:rPr>
              <a:t>都与图库服务调用有关。</a:t>
            </a:r>
            <a:endParaRPr kumimoji="1" lang="zh-CN" altLang="en-US"/>
          </a:p>
        </p:txBody>
      </p:sp>
      <p:pic>
        <p:nvPicPr>
          <p:cNvPr id="9" name="图片 8" descr="图表&#10;&#10;中度可信度描述已自动生成">
            <a:extLst>
              <a:ext uri="{FF2B5EF4-FFF2-40B4-BE49-F238E27FC236}">
                <a16:creationId xmlns:a16="http://schemas.microsoft.com/office/drawing/2014/main" id="{22462DC2-6D65-87AA-BA04-189E78B226AB}"/>
              </a:ext>
            </a:extLst>
          </p:cNvPr>
          <p:cNvPicPr>
            <a:picLocks noChangeAspect="1"/>
          </p:cNvPicPr>
          <p:nvPr/>
        </p:nvPicPr>
        <p:blipFill rotWithShape="1">
          <a:blip r:embed="rId2">
            <a:extLst>
              <a:ext uri="{28A0092B-C50C-407E-A947-70E740481C1C}">
                <a14:useLocalDpi xmlns:a14="http://schemas.microsoft.com/office/drawing/2010/main" val="0"/>
              </a:ext>
            </a:extLst>
          </a:blip>
          <a:srcRect t="27100"/>
          <a:stretch/>
        </p:blipFill>
        <p:spPr>
          <a:xfrm>
            <a:off x="477429" y="2869852"/>
            <a:ext cx="11425955" cy="3493655"/>
          </a:xfrm>
          <a:prstGeom prst="rect">
            <a:avLst/>
          </a:prstGeom>
        </p:spPr>
      </p:pic>
    </p:spTree>
    <p:extLst>
      <p:ext uri="{BB962C8B-B14F-4D97-AF65-F5344CB8AC3E}">
        <p14:creationId xmlns:p14="http://schemas.microsoft.com/office/powerpoint/2010/main" val="40969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1B4614F1-288C-E26A-A87A-C41DFD1E0A31}"/>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EF4BDCFE-884E-9976-6B98-9059BF2B9E66}"/>
              </a:ext>
            </a:extLst>
          </p:cNvPr>
          <p:cNvSpPr txBox="1"/>
          <p:nvPr/>
        </p:nvSpPr>
        <p:spPr>
          <a:xfrm>
            <a:off x="271786" y="735022"/>
            <a:ext cx="11658546" cy="2122376"/>
          </a:xfrm>
          <a:prstGeom prst="rect">
            <a:avLst/>
          </a:prstGeom>
          <a:noFill/>
        </p:spPr>
        <p:txBody>
          <a:bodyPr wrap="square">
            <a:spAutoFit/>
          </a:bodyPr>
          <a:lstStyle/>
          <a:p>
            <a:pPr algn="l">
              <a:lnSpc>
                <a:spcPct val="150000"/>
              </a:lnSpc>
            </a:pPr>
            <a:r>
              <a:rPr lang="zh-CN" altLang="en-US" b="0" i="0" u="none" strike="noStrike">
                <a:solidFill>
                  <a:srgbClr val="333333"/>
                </a:solidFill>
                <a:effectLst/>
                <a:latin typeface="Open Sans" panose="020B0606030504020204" pitchFamily="34" charset="0"/>
              </a:rPr>
              <a:t>检查图库中的 </a:t>
            </a:r>
            <a:r>
              <a:rPr lang="en" altLang="zh-CN" b="0" i="0" u="none" strike="noStrike">
                <a:solidFill>
                  <a:srgbClr val="333333"/>
                </a:solidFill>
                <a:effectLst/>
                <a:latin typeface="Open Sans" panose="020B0606030504020204" pitchFamily="34" charset="0"/>
              </a:rPr>
              <a:t>Binder </a:t>
            </a:r>
            <a:r>
              <a:rPr lang="zh-CN" altLang="en-US" b="0" i="0" u="none" strike="noStrike">
                <a:solidFill>
                  <a:srgbClr val="333333"/>
                </a:solidFill>
                <a:effectLst/>
                <a:latin typeface="Open Sans" panose="020B0606030504020204" pitchFamily="34" charset="0"/>
              </a:rPr>
              <a:t>调用并查看图库源代码后，确认它们与缩略图服务相关。 但是，仅凭 </a:t>
            </a:r>
            <a:r>
              <a:rPr lang="en" altLang="zh-CN" b="0" i="0" u="none" strike="noStrike">
                <a:solidFill>
                  <a:srgbClr val="333333"/>
                </a:solidFill>
                <a:effectLst/>
                <a:latin typeface="Open Sans" panose="020B0606030504020204" pitchFamily="34" charset="0"/>
              </a:rPr>
              <a:t>trace </a:t>
            </a:r>
            <a:r>
              <a:rPr lang="zh-CN" altLang="en-US" b="0" i="0" u="none" strike="noStrike">
                <a:solidFill>
                  <a:srgbClr val="333333"/>
                </a:solidFill>
                <a:effectLst/>
                <a:latin typeface="Open Sans" panose="020B0606030504020204" pitchFamily="34" charset="0"/>
              </a:rPr>
              <a:t>无法确定服务的来源。启用本地日志并复现测试后，通过图库分析发现，图库文件更新操作是由位置服务触发的。</a:t>
            </a:r>
            <a:endParaRPr lang="en-US" altLang="zh-CN" b="0" i="0" u="none" strike="noStrike">
              <a:solidFill>
                <a:srgbClr val="333333"/>
              </a:solidFill>
              <a:effectLst/>
              <a:latin typeface="Open Sans" panose="020B0606030504020204" pitchFamily="34" charset="0"/>
            </a:endParaRPr>
          </a:p>
          <a:p>
            <a:pPr algn="l">
              <a:lnSpc>
                <a:spcPct val="150000"/>
              </a:lnSpc>
            </a:pPr>
            <a:r>
              <a:rPr lang="zh-CN" altLang="en-US" b="0" i="0" u="none" strike="noStrike">
                <a:solidFill>
                  <a:srgbClr val="333333"/>
                </a:solidFill>
                <a:effectLst/>
                <a:latin typeface="Open Sans" panose="020B0606030504020204" pitchFamily="34" charset="0"/>
              </a:rPr>
              <a:t>验证图库结论：</a:t>
            </a:r>
            <a:endParaRPr lang="en-US" altLang="zh-CN" b="0" i="0" u="none" strike="noStrike">
              <a:solidFill>
                <a:srgbClr val="333333"/>
              </a:solidFill>
              <a:effectLst/>
              <a:latin typeface="Open Sans" panose="020B0606030504020204" pitchFamily="34" charset="0"/>
            </a:endParaRPr>
          </a:p>
          <a:p>
            <a:pPr lvl="1">
              <a:lnSpc>
                <a:spcPct val="150000"/>
              </a:lnSpc>
            </a:pPr>
            <a:r>
              <a:rPr lang="en-US" altLang="zh-CN">
                <a:solidFill>
                  <a:srgbClr val="333333"/>
                </a:solidFill>
                <a:latin typeface="Open Sans" panose="020B0606030504020204" pitchFamily="34" charset="0"/>
              </a:rPr>
              <a:t>1.</a:t>
            </a:r>
            <a:r>
              <a:rPr lang="zh-CN" altLang="en-US" b="0" i="0" u="none" strike="noStrike">
                <a:solidFill>
                  <a:srgbClr val="333333"/>
                </a:solidFill>
                <a:effectLst/>
                <a:latin typeface="Open Sans" panose="020B0606030504020204" pitchFamily="34" charset="0"/>
              </a:rPr>
              <a:t>在 </a:t>
            </a:r>
            <a:r>
              <a:rPr lang="en" altLang="zh-CN" b="0" i="0" u="none" strike="noStrike">
                <a:solidFill>
                  <a:srgbClr val="333333"/>
                </a:solidFill>
                <a:effectLst/>
                <a:latin typeface="Open Sans" panose="020B0606030504020204" pitchFamily="34" charset="0"/>
              </a:rPr>
              <a:t>M639 </a:t>
            </a:r>
            <a:r>
              <a:rPr lang="zh-CN" altLang="en-US" b="0" i="0" u="none" strike="noStrike">
                <a:solidFill>
                  <a:srgbClr val="333333"/>
                </a:solidFill>
                <a:effectLst/>
                <a:latin typeface="Open Sans" panose="020B0606030504020204" pitchFamily="34" charset="0"/>
              </a:rPr>
              <a:t>上禁用位置服务后不能复现问题。</a:t>
            </a:r>
            <a:endParaRPr lang="en-US" altLang="zh-CN" b="0" i="0" u="none" strike="noStrike">
              <a:solidFill>
                <a:srgbClr val="333333"/>
              </a:solidFill>
              <a:effectLst/>
              <a:latin typeface="Open Sans" panose="020B0606030504020204" pitchFamily="34" charset="0"/>
            </a:endParaRPr>
          </a:p>
          <a:p>
            <a:pPr lvl="1">
              <a:lnSpc>
                <a:spcPct val="150000"/>
              </a:lnSpc>
            </a:pPr>
            <a:r>
              <a:rPr lang="en-US" altLang="zh-CN" b="0" i="0" u="none" strike="noStrike">
                <a:solidFill>
                  <a:srgbClr val="333333"/>
                </a:solidFill>
                <a:effectLst/>
                <a:latin typeface="Open Sans" panose="020B0606030504020204" pitchFamily="34" charset="0"/>
              </a:rPr>
              <a:t>2.</a:t>
            </a:r>
            <a:r>
              <a:rPr lang="zh-CN" altLang="en-US" b="0" i="0" u="none" strike="noStrike">
                <a:solidFill>
                  <a:srgbClr val="333333"/>
                </a:solidFill>
                <a:effectLst/>
                <a:latin typeface="Open Sans" panose="020B0606030504020204" pitchFamily="34" charset="0"/>
              </a:rPr>
              <a:t>确认在启用位置服务的情况下重新测试上一代发现同样可以复现。</a:t>
            </a:r>
            <a:endParaRPr lang="zh-CN" altLang="en-US"/>
          </a:p>
        </p:txBody>
      </p:sp>
      <p:pic>
        <p:nvPicPr>
          <p:cNvPr id="8" name="图片 7" descr="图片包含 图表&#10;&#10;描述已自动生成">
            <a:extLst>
              <a:ext uri="{FF2B5EF4-FFF2-40B4-BE49-F238E27FC236}">
                <a16:creationId xmlns:a16="http://schemas.microsoft.com/office/drawing/2014/main" id="{D2F2E3BF-262B-7D9C-1781-6C1B186CB255}"/>
              </a:ext>
            </a:extLst>
          </p:cNvPr>
          <p:cNvPicPr>
            <a:picLocks noChangeAspect="1"/>
          </p:cNvPicPr>
          <p:nvPr/>
        </p:nvPicPr>
        <p:blipFill rotWithShape="1">
          <a:blip r:embed="rId2">
            <a:extLst>
              <a:ext uri="{28A0092B-C50C-407E-A947-70E740481C1C}">
                <a14:useLocalDpi xmlns:a14="http://schemas.microsoft.com/office/drawing/2010/main" val="0"/>
              </a:ext>
            </a:extLst>
          </a:blip>
          <a:srcRect t="27806"/>
          <a:stretch/>
        </p:blipFill>
        <p:spPr>
          <a:xfrm>
            <a:off x="361121" y="3008669"/>
            <a:ext cx="11469757" cy="3365162"/>
          </a:xfrm>
          <a:prstGeom prst="rect">
            <a:avLst/>
          </a:prstGeom>
        </p:spPr>
      </p:pic>
      <p:sp>
        <p:nvSpPr>
          <p:cNvPr id="9" name="文本框 8">
            <a:extLst>
              <a:ext uri="{FF2B5EF4-FFF2-40B4-BE49-F238E27FC236}">
                <a16:creationId xmlns:a16="http://schemas.microsoft.com/office/drawing/2014/main" id="{ED875949-C9C4-AA28-5AAA-81C4481C86F6}"/>
              </a:ext>
            </a:extLst>
          </p:cNvPr>
          <p:cNvSpPr txBox="1"/>
          <p:nvPr/>
        </p:nvSpPr>
        <p:spPr>
          <a:xfrm>
            <a:off x="2003482" y="225070"/>
            <a:ext cx="2492990" cy="369332"/>
          </a:xfrm>
          <a:prstGeom prst="rect">
            <a:avLst/>
          </a:prstGeom>
          <a:noFill/>
        </p:spPr>
        <p:txBody>
          <a:bodyPr wrap="none" rtlCol="0">
            <a:spAutoFit/>
          </a:bodyPr>
          <a:lstStyle/>
          <a:p>
            <a:r>
              <a:rPr kumimoji="1" lang="zh-CN" altLang="en-US" b="1">
                <a:latin typeface="Microsoft YaHei" panose="020B0503020204020204" pitchFamily="34" charset="-122"/>
                <a:ea typeface="Microsoft YaHei" panose="020B0503020204020204" pitchFamily="34" charset="-122"/>
              </a:rPr>
              <a:t>场景二：无干扰冷启动</a:t>
            </a:r>
            <a:endParaRPr lang="zh-CN" altLang="en-US" b="1">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8407496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1B4614F1-288C-E26A-A87A-C41DFD1E0A31}"/>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3BD02FAD-F315-69A4-C6A0-30C7080D4DCA}"/>
              </a:ext>
            </a:extLst>
          </p:cNvPr>
          <p:cNvSpPr txBox="1"/>
          <p:nvPr/>
        </p:nvSpPr>
        <p:spPr>
          <a:xfrm>
            <a:off x="2003482" y="225070"/>
            <a:ext cx="3312125" cy="369332"/>
          </a:xfrm>
          <a:prstGeom prst="rect">
            <a:avLst/>
          </a:prstGeom>
          <a:noFill/>
        </p:spPr>
        <p:txBody>
          <a:bodyPr wrap="none" rtlCol="0">
            <a:spAutoFit/>
          </a:bodyPr>
          <a:lstStyle/>
          <a:p>
            <a:r>
              <a:rPr kumimoji="1" lang="zh-CN" altLang="en-US" b="1">
                <a:latin typeface="Microsoft YaHei" panose="020B0503020204020204" pitchFamily="34" charset="-122"/>
                <a:ea typeface="Microsoft YaHei" panose="020B0503020204020204" pitchFamily="34" charset="-122"/>
              </a:rPr>
              <a:t>场景三：抖音直播间上滑十次</a:t>
            </a:r>
            <a:endParaRPr lang="zh-CN" altLang="en-US" b="1">
              <a:latin typeface="Microsoft YaHei" panose="020B0503020204020204" pitchFamily="34" charset="-122"/>
              <a:ea typeface="Microsoft YaHei" panose="020B0503020204020204" pitchFamily="34" charset="-122"/>
            </a:endParaRPr>
          </a:p>
        </p:txBody>
      </p:sp>
      <p:sp>
        <p:nvSpPr>
          <p:cNvPr id="4" name="文本框 3">
            <a:extLst>
              <a:ext uri="{FF2B5EF4-FFF2-40B4-BE49-F238E27FC236}">
                <a16:creationId xmlns:a16="http://schemas.microsoft.com/office/drawing/2014/main" id="{91D9D47A-6660-4C93-120B-CD7D8818C80B}"/>
              </a:ext>
            </a:extLst>
          </p:cNvPr>
          <p:cNvSpPr txBox="1"/>
          <p:nvPr/>
        </p:nvSpPr>
        <p:spPr>
          <a:xfrm>
            <a:off x="277827" y="755328"/>
            <a:ext cx="11636346" cy="875881"/>
          </a:xfrm>
          <a:prstGeom prst="rect">
            <a:avLst/>
          </a:prstGeom>
          <a:noFill/>
        </p:spPr>
        <p:txBody>
          <a:bodyPr wrap="square" rtlCol="0">
            <a:spAutoFit/>
          </a:bodyPr>
          <a:lstStyle/>
          <a:p>
            <a:pPr>
              <a:lnSpc>
                <a:spcPct val="150000"/>
              </a:lnSpc>
            </a:pPr>
            <a:r>
              <a:rPr kumimoji="1" lang="zh-CN" altLang="en-US"/>
              <a:t>问题为五轮测试媒体框架的进程总耗时平均上相比上一代劣化，先查看具体是哪些进程以及它们各自对比上一代的差异。从统计表中可以看出主要的差异就在</a:t>
            </a:r>
            <a:r>
              <a:rPr kumimoji="1" lang="en-US" altLang="zh-CN"/>
              <a:t>media.c2</a:t>
            </a:r>
            <a:r>
              <a:rPr kumimoji="1" lang="zh-CN" altLang="en-US"/>
              <a:t>进程。</a:t>
            </a:r>
          </a:p>
        </p:txBody>
      </p:sp>
      <p:graphicFrame>
        <p:nvGraphicFramePr>
          <p:cNvPr id="6" name="表格 5">
            <a:extLst>
              <a:ext uri="{FF2B5EF4-FFF2-40B4-BE49-F238E27FC236}">
                <a16:creationId xmlns:a16="http://schemas.microsoft.com/office/drawing/2014/main" id="{962FA0B3-E4F3-06D3-BD61-CEE36E543A11}"/>
              </a:ext>
            </a:extLst>
          </p:cNvPr>
          <p:cNvGraphicFramePr>
            <a:graphicFrameLocks noGrp="1"/>
          </p:cNvGraphicFramePr>
          <p:nvPr>
            <p:extLst>
              <p:ext uri="{D42A27DB-BD31-4B8C-83A1-F6EECF244321}">
                <p14:modId xmlns:p14="http://schemas.microsoft.com/office/powerpoint/2010/main" val="417946065"/>
              </p:ext>
            </p:extLst>
          </p:nvPr>
        </p:nvGraphicFramePr>
        <p:xfrm>
          <a:off x="373492" y="1792136"/>
          <a:ext cx="11636346" cy="4886960"/>
        </p:xfrm>
        <a:graphic>
          <a:graphicData uri="http://schemas.openxmlformats.org/drawingml/2006/table">
            <a:tbl>
              <a:tblPr firstRow="1" bandRow="1">
                <a:tableStyleId>{5C22544A-7EE6-4342-B048-85BDC9FD1C3A}</a:tableStyleId>
              </a:tblPr>
              <a:tblGrid>
                <a:gridCol w="3878782">
                  <a:extLst>
                    <a:ext uri="{9D8B030D-6E8A-4147-A177-3AD203B41FA5}">
                      <a16:colId xmlns:a16="http://schemas.microsoft.com/office/drawing/2014/main" val="1077829797"/>
                    </a:ext>
                  </a:extLst>
                </a:gridCol>
                <a:gridCol w="3878782">
                  <a:extLst>
                    <a:ext uri="{9D8B030D-6E8A-4147-A177-3AD203B41FA5}">
                      <a16:colId xmlns:a16="http://schemas.microsoft.com/office/drawing/2014/main" val="1718547577"/>
                    </a:ext>
                  </a:extLst>
                </a:gridCol>
                <a:gridCol w="3878782">
                  <a:extLst>
                    <a:ext uri="{9D8B030D-6E8A-4147-A177-3AD203B41FA5}">
                      <a16:colId xmlns:a16="http://schemas.microsoft.com/office/drawing/2014/main" val="2333959262"/>
                    </a:ext>
                  </a:extLst>
                </a:gridCol>
              </a:tblGrid>
              <a:tr h="370840">
                <a:tc>
                  <a:txBody>
                    <a:bodyPr/>
                    <a:lstStyle/>
                    <a:p>
                      <a:r>
                        <a:rPr lang="zh-CN" altLang="en-US"/>
                        <a:t>进程名</a:t>
                      </a:r>
                    </a:p>
                  </a:txBody>
                  <a:tcPr/>
                </a:tc>
                <a:tc>
                  <a:txBody>
                    <a:bodyPr/>
                    <a:lstStyle/>
                    <a:p>
                      <a:r>
                        <a:rPr lang="en-US" altLang="zh-CN"/>
                        <a:t>M639</a:t>
                      </a:r>
                      <a:endParaRPr lang="zh-CN" altLang="en-US"/>
                    </a:p>
                  </a:txBody>
                  <a:tcPr/>
                </a:tc>
                <a:tc>
                  <a:txBody>
                    <a:bodyPr/>
                    <a:lstStyle/>
                    <a:p>
                      <a:r>
                        <a:rPr lang="zh-CN" altLang="en-US"/>
                        <a:t>上一代</a:t>
                      </a:r>
                    </a:p>
                  </a:txBody>
                  <a:tcPr/>
                </a:tc>
                <a:extLst>
                  <a:ext uri="{0D108BD9-81ED-4DB2-BD59-A6C34878D82A}">
                    <a16:rowId xmlns:a16="http://schemas.microsoft.com/office/drawing/2014/main" val="2947420304"/>
                  </a:ext>
                </a:extLst>
              </a:tr>
              <a:tr h="370840">
                <a:tc>
                  <a:txBody>
                    <a:bodyPr/>
                    <a:lstStyle/>
                    <a:p>
                      <a:r>
                        <a:rPr lang="en-US" altLang="zh-CN"/>
                        <a:t>media.metrics</a:t>
                      </a:r>
                      <a:endParaRPr lang="zh-CN" altLang="en-US"/>
                    </a:p>
                  </a:txBody>
                  <a:tcPr/>
                </a:tc>
                <a:tc>
                  <a:txBody>
                    <a:bodyPr/>
                    <a:lstStyle/>
                    <a:p>
                      <a:r>
                        <a:rPr lang="en-US" altLang="zh-CN"/>
                        <a:t>77</a:t>
                      </a:r>
                      <a:endParaRPr lang="zh-CN" altLang="en-US"/>
                    </a:p>
                  </a:txBody>
                  <a:tcPr/>
                </a:tc>
                <a:tc>
                  <a:txBody>
                    <a:bodyPr/>
                    <a:lstStyle/>
                    <a:p>
                      <a:r>
                        <a:rPr lang="en-US" altLang="zh-CN"/>
                        <a:t>75</a:t>
                      </a:r>
                      <a:endParaRPr lang="zh-CN" altLang="en-US"/>
                    </a:p>
                  </a:txBody>
                  <a:tcPr/>
                </a:tc>
                <a:extLst>
                  <a:ext uri="{0D108BD9-81ED-4DB2-BD59-A6C34878D82A}">
                    <a16:rowId xmlns:a16="http://schemas.microsoft.com/office/drawing/2014/main" val="1082696205"/>
                  </a:ext>
                </a:extLst>
              </a:tr>
              <a:tr h="370840">
                <a:tc>
                  <a:txBody>
                    <a:bodyPr/>
                    <a:lstStyle/>
                    <a:p>
                      <a:r>
                        <a:rPr lang="en-US" altLang="zh-CN"/>
                        <a:t>android.hardware.drm-service-lazy.widevine</a:t>
                      </a:r>
                      <a:endParaRPr lang="zh-CN" altLang="en-US"/>
                    </a:p>
                  </a:txBody>
                  <a:tcPr/>
                </a:tc>
                <a:tc>
                  <a:txBody>
                    <a:bodyPr/>
                    <a:lstStyle/>
                    <a:p>
                      <a:r>
                        <a:rPr lang="en-US" altLang="zh-CN"/>
                        <a:t>122</a:t>
                      </a:r>
                      <a:endParaRPr lang="zh-CN" altLang="en-US"/>
                    </a:p>
                  </a:txBody>
                  <a:tcPr/>
                </a:tc>
                <a:tc>
                  <a:txBody>
                    <a:bodyPr/>
                    <a:lstStyle/>
                    <a:p>
                      <a:r>
                        <a:rPr lang="en-US" altLang="zh-CN"/>
                        <a:t>0</a:t>
                      </a:r>
                      <a:endParaRPr lang="zh-CN" altLang="en-US"/>
                    </a:p>
                  </a:txBody>
                  <a:tcPr/>
                </a:tc>
                <a:extLst>
                  <a:ext uri="{0D108BD9-81ED-4DB2-BD59-A6C34878D82A}">
                    <a16:rowId xmlns:a16="http://schemas.microsoft.com/office/drawing/2014/main" val="96125058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android.hardware.drm-service-lazy.clearkey</a:t>
                      </a:r>
                      <a:endParaRPr lang="zh-CN" altLang="en-US"/>
                    </a:p>
                  </a:txBody>
                  <a:tcPr/>
                </a:tc>
                <a:tc>
                  <a:txBody>
                    <a:bodyPr/>
                    <a:lstStyle/>
                    <a:p>
                      <a:r>
                        <a:rPr lang="en-US" altLang="zh-CN"/>
                        <a:t>48</a:t>
                      </a:r>
                      <a:endParaRPr lang="zh-CN" altLang="en-US"/>
                    </a:p>
                  </a:txBody>
                  <a:tcPr/>
                </a:tc>
                <a:tc>
                  <a:txBody>
                    <a:bodyPr/>
                    <a:lstStyle/>
                    <a:p>
                      <a:r>
                        <a:rPr lang="en-US" altLang="zh-CN"/>
                        <a:t>0</a:t>
                      </a:r>
                      <a:endParaRPr lang="zh-CN" altLang="en-US"/>
                    </a:p>
                  </a:txBody>
                  <a:tcPr/>
                </a:tc>
                <a:extLst>
                  <a:ext uri="{0D108BD9-81ED-4DB2-BD59-A6C34878D82A}">
                    <a16:rowId xmlns:a16="http://schemas.microsoft.com/office/drawing/2014/main" val="483748192"/>
                  </a:ext>
                </a:extLst>
              </a:tr>
              <a:tr h="370840">
                <a:tc>
                  <a:txBody>
                    <a:bodyPr/>
                    <a:lstStyle/>
                    <a:p>
                      <a:r>
                        <a:rPr lang="en-US" altLang="zh-CN"/>
                        <a:t>mtk_drm_disp</a:t>
                      </a:r>
                      <a:endParaRPr lang="zh-CN" altLang="en-US"/>
                    </a:p>
                  </a:txBody>
                  <a:tcPr/>
                </a:tc>
                <a:tc>
                  <a:txBody>
                    <a:bodyPr/>
                    <a:lstStyle/>
                    <a:p>
                      <a:r>
                        <a:rPr lang="en-US" altLang="zh-CN"/>
                        <a:t>0</a:t>
                      </a:r>
                      <a:endParaRPr lang="zh-CN" altLang="en-US"/>
                    </a:p>
                  </a:txBody>
                  <a:tcPr/>
                </a:tc>
                <a:tc>
                  <a:txBody>
                    <a:bodyPr/>
                    <a:lstStyle/>
                    <a:p>
                      <a:r>
                        <a:rPr lang="en-US" altLang="zh-CN"/>
                        <a:t>18</a:t>
                      </a:r>
                      <a:endParaRPr lang="zh-CN" altLang="en-US"/>
                    </a:p>
                  </a:txBody>
                  <a:tcPr/>
                </a:tc>
                <a:extLst>
                  <a:ext uri="{0D108BD9-81ED-4DB2-BD59-A6C34878D82A}">
                    <a16:rowId xmlns:a16="http://schemas.microsoft.com/office/drawing/2014/main" val="2286661966"/>
                  </a:ext>
                </a:extLst>
              </a:tr>
              <a:tr h="370840">
                <a:tc>
                  <a:txBody>
                    <a:bodyPr/>
                    <a:lstStyle/>
                    <a:p>
                      <a:r>
                        <a:rPr lang="en-US" altLang="zh-CN"/>
                        <a:t>FrescoDecodeFx</a:t>
                      </a:r>
                      <a:endParaRPr lang="zh-CN" altLang="en-US"/>
                    </a:p>
                  </a:txBody>
                  <a:tcPr/>
                </a:tc>
                <a:tc>
                  <a:txBody>
                    <a:bodyPr/>
                    <a:lstStyle/>
                    <a:p>
                      <a:r>
                        <a:rPr lang="en-US" altLang="zh-CN"/>
                        <a:t>0</a:t>
                      </a:r>
                      <a:endParaRPr lang="zh-CN" altLang="en-US"/>
                    </a:p>
                  </a:txBody>
                  <a:tcPr/>
                </a:tc>
                <a:tc>
                  <a:txBody>
                    <a:bodyPr/>
                    <a:lstStyle/>
                    <a:p>
                      <a:r>
                        <a:rPr lang="en-US" altLang="zh-CN"/>
                        <a:t>0</a:t>
                      </a:r>
                      <a:endParaRPr lang="zh-CN" altLang="en-US"/>
                    </a:p>
                  </a:txBody>
                  <a:tcPr/>
                </a:tc>
                <a:extLst>
                  <a:ext uri="{0D108BD9-81ED-4DB2-BD59-A6C34878D82A}">
                    <a16:rowId xmlns:a16="http://schemas.microsoft.com/office/drawing/2014/main" val="3934070988"/>
                  </a:ext>
                </a:extLst>
              </a:tr>
              <a:tr h="370840">
                <a:tc>
                  <a:txBody>
                    <a:bodyPr/>
                    <a:lstStyle/>
                    <a:p>
                      <a:r>
                        <a:rPr lang="en-US" altLang="zh-CN"/>
                        <a:t>mediaserver</a:t>
                      </a:r>
                      <a:endParaRPr lang="zh-CN" altLang="en-US"/>
                    </a:p>
                  </a:txBody>
                  <a:tcPr/>
                </a:tc>
                <a:tc>
                  <a:txBody>
                    <a:bodyPr/>
                    <a:lstStyle/>
                    <a:p>
                      <a:r>
                        <a:rPr lang="en-US" altLang="zh-CN"/>
                        <a:t>92</a:t>
                      </a:r>
                      <a:endParaRPr lang="zh-CN" altLang="en-US"/>
                    </a:p>
                  </a:txBody>
                  <a:tcPr/>
                </a:tc>
                <a:tc>
                  <a:txBody>
                    <a:bodyPr/>
                    <a:lstStyle/>
                    <a:p>
                      <a:r>
                        <a:rPr lang="en-US" altLang="zh-CN"/>
                        <a:t>53</a:t>
                      </a:r>
                      <a:endParaRPr lang="zh-CN" altLang="en-US"/>
                    </a:p>
                  </a:txBody>
                  <a:tcPr/>
                </a:tc>
                <a:extLst>
                  <a:ext uri="{0D108BD9-81ED-4DB2-BD59-A6C34878D82A}">
                    <a16:rowId xmlns:a16="http://schemas.microsoft.com/office/drawing/2014/main" val="3032322899"/>
                  </a:ext>
                </a:extLst>
              </a:tr>
              <a:tr h="370840">
                <a:tc>
                  <a:txBody>
                    <a:bodyPr/>
                    <a:lstStyle/>
                    <a:p>
                      <a:r>
                        <a:rPr lang="en-US" altLang="zh-CN"/>
                        <a:t>android.process.media</a:t>
                      </a:r>
                      <a:endParaRPr lang="zh-CN" altLang="en-US"/>
                    </a:p>
                  </a:txBody>
                  <a:tcPr/>
                </a:tc>
                <a:tc>
                  <a:txBody>
                    <a:bodyPr/>
                    <a:lstStyle/>
                    <a:p>
                      <a:r>
                        <a:rPr lang="en-US" altLang="zh-CN"/>
                        <a:t>2</a:t>
                      </a:r>
                      <a:endParaRPr lang="zh-CN" altLang="en-US"/>
                    </a:p>
                  </a:txBody>
                  <a:tcPr/>
                </a:tc>
                <a:tc>
                  <a:txBody>
                    <a:bodyPr/>
                    <a:lstStyle/>
                    <a:p>
                      <a:r>
                        <a:rPr lang="en-US" altLang="zh-CN"/>
                        <a:t>2</a:t>
                      </a:r>
                      <a:endParaRPr lang="zh-CN" altLang="en-US"/>
                    </a:p>
                  </a:txBody>
                  <a:tcPr/>
                </a:tc>
                <a:extLst>
                  <a:ext uri="{0D108BD9-81ED-4DB2-BD59-A6C34878D82A}">
                    <a16:rowId xmlns:a16="http://schemas.microsoft.com/office/drawing/2014/main" val="1882472899"/>
                  </a:ext>
                </a:extLst>
              </a:tr>
              <a:tr h="370840">
                <a:tc>
                  <a:txBody>
                    <a:bodyPr/>
                    <a:lstStyle/>
                    <a:p>
                      <a:r>
                        <a:rPr lang="en-US" altLang="zh-CN"/>
                        <a:t>vdec_ipi_recv</a:t>
                      </a:r>
                      <a:endParaRPr lang="zh-CN" altLang="en-US"/>
                    </a:p>
                  </a:txBody>
                  <a:tcPr/>
                </a:tc>
                <a:tc>
                  <a:txBody>
                    <a:bodyPr/>
                    <a:lstStyle/>
                    <a:p>
                      <a:r>
                        <a:rPr lang="en-US" altLang="zh-CN"/>
                        <a:t>447</a:t>
                      </a:r>
                      <a:endParaRPr lang="zh-CN" altLang="en-US"/>
                    </a:p>
                  </a:txBody>
                  <a:tcPr/>
                </a:tc>
                <a:tc>
                  <a:txBody>
                    <a:bodyPr/>
                    <a:lstStyle/>
                    <a:p>
                      <a:r>
                        <a:rPr lang="en-US" altLang="zh-CN"/>
                        <a:t>455</a:t>
                      </a:r>
                      <a:endParaRPr lang="zh-CN" altLang="en-US"/>
                    </a:p>
                  </a:txBody>
                  <a:tcPr/>
                </a:tc>
                <a:extLst>
                  <a:ext uri="{0D108BD9-81ED-4DB2-BD59-A6C34878D82A}">
                    <a16:rowId xmlns:a16="http://schemas.microsoft.com/office/drawing/2014/main" val="136876352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800" b="0" i="0" u="none" strike="noStrike" kern="1200">
                          <a:solidFill>
                            <a:schemeClr val="dk1"/>
                          </a:solidFill>
                          <a:effectLst/>
                          <a:latin typeface="+mn-lt"/>
                          <a:ea typeface="+mn-ea"/>
                          <a:cs typeface="+mn-cs"/>
                        </a:rPr>
                        <a:t>android.hardware.media.c2@1.2-mediatek-64b</a:t>
                      </a:r>
                      <a:endParaRPr lang="en" altLang="zh-CN" b="0">
                        <a:effectLst/>
                        <a:latin typeface="+mn-lt"/>
                        <a:ea typeface="+mn-ea"/>
                      </a:endParaRPr>
                    </a:p>
                  </a:txBody>
                  <a:tcPr>
                    <a:solidFill>
                      <a:schemeClr val="accent4">
                        <a:lumMod val="60000"/>
                        <a:lumOff val="40000"/>
                      </a:schemeClr>
                    </a:solidFill>
                  </a:tcPr>
                </a:tc>
                <a:tc>
                  <a:txBody>
                    <a:bodyPr/>
                    <a:lstStyle/>
                    <a:p>
                      <a:r>
                        <a:rPr lang="en-US" altLang="zh-CN"/>
                        <a:t>5900</a:t>
                      </a:r>
                      <a:endParaRPr lang="zh-CN" altLang="en-US"/>
                    </a:p>
                  </a:txBody>
                  <a:tcPr>
                    <a:solidFill>
                      <a:schemeClr val="accent4">
                        <a:lumMod val="60000"/>
                        <a:lumOff val="40000"/>
                      </a:schemeClr>
                    </a:solidFill>
                  </a:tcPr>
                </a:tc>
                <a:tc>
                  <a:txBody>
                    <a:bodyPr/>
                    <a:lstStyle/>
                    <a:p>
                      <a:r>
                        <a:rPr lang="en-US" altLang="zh-CN"/>
                        <a:t>4210</a:t>
                      </a:r>
                      <a:endParaRPr lang="zh-CN" altLang="en-US"/>
                    </a:p>
                  </a:txBody>
                  <a:tcPr>
                    <a:solidFill>
                      <a:schemeClr val="accent4">
                        <a:lumMod val="60000"/>
                        <a:lumOff val="40000"/>
                      </a:schemeClr>
                    </a:solidFill>
                  </a:tcPr>
                </a:tc>
                <a:extLst>
                  <a:ext uri="{0D108BD9-81ED-4DB2-BD59-A6C34878D82A}">
                    <a16:rowId xmlns:a16="http://schemas.microsoft.com/office/drawing/2014/main" val="3382840269"/>
                  </a:ext>
                </a:extLst>
              </a:tr>
              <a:tr h="370840">
                <a:tc>
                  <a:txBody>
                    <a:bodyPr/>
                    <a:lstStyle/>
                    <a:p>
                      <a:r>
                        <a:rPr lang="en-US" altLang="zh-CN"/>
                        <a:t>Vdec_set_frame</a:t>
                      </a:r>
                      <a:endParaRPr lang="zh-CN" altLang="en-US"/>
                    </a:p>
                  </a:txBody>
                  <a:tcPr/>
                </a:tc>
                <a:tc>
                  <a:txBody>
                    <a:bodyPr/>
                    <a:lstStyle/>
                    <a:p>
                      <a:r>
                        <a:rPr lang="en-US" altLang="zh-CN"/>
                        <a:t>0</a:t>
                      </a:r>
                      <a:endParaRPr lang="zh-CN" altLang="en-US"/>
                    </a:p>
                  </a:txBody>
                  <a:tcPr/>
                </a:tc>
                <a:tc>
                  <a:txBody>
                    <a:bodyPr/>
                    <a:lstStyle/>
                    <a:p>
                      <a:r>
                        <a:rPr lang="en-US" altLang="zh-CN"/>
                        <a:t>0</a:t>
                      </a:r>
                      <a:endParaRPr lang="zh-CN" altLang="en-US"/>
                    </a:p>
                  </a:txBody>
                  <a:tcPr/>
                </a:tc>
                <a:extLst>
                  <a:ext uri="{0D108BD9-81ED-4DB2-BD59-A6C34878D82A}">
                    <a16:rowId xmlns:a16="http://schemas.microsoft.com/office/drawing/2014/main" val="938211408"/>
                  </a:ext>
                </a:extLst>
              </a:tr>
            </a:tbl>
          </a:graphicData>
        </a:graphic>
      </p:graphicFrame>
    </p:spTree>
    <p:extLst>
      <p:ext uri="{BB962C8B-B14F-4D97-AF65-F5344CB8AC3E}">
        <p14:creationId xmlns:p14="http://schemas.microsoft.com/office/powerpoint/2010/main" val="32423569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1B4614F1-288C-E26A-A87A-C41DFD1E0A31}"/>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D31FAAF7-EE25-74A8-B30B-26DF4854C518}"/>
              </a:ext>
            </a:extLst>
          </p:cNvPr>
          <p:cNvSpPr txBox="1"/>
          <p:nvPr/>
        </p:nvSpPr>
        <p:spPr>
          <a:xfrm>
            <a:off x="2003482" y="225070"/>
            <a:ext cx="3312125" cy="369332"/>
          </a:xfrm>
          <a:prstGeom prst="rect">
            <a:avLst/>
          </a:prstGeom>
          <a:noFill/>
        </p:spPr>
        <p:txBody>
          <a:bodyPr wrap="none" rtlCol="0">
            <a:spAutoFit/>
          </a:bodyPr>
          <a:lstStyle/>
          <a:p>
            <a:r>
              <a:rPr kumimoji="1" lang="zh-CN" altLang="en-US" b="1">
                <a:latin typeface="Microsoft YaHei" panose="020B0503020204020204" pitchFamily="34" charset="-122"/>
                <a:ea typeface="Microsoft YaHei" panose="020B0503020204020204" pitchFamily="34" charset="-122"/>
              </a:rPr>
              <a:t>场景三：抖音直播间上滑十次</a:t>
            </a:r>
            <a:endParaRPr lang="zh-CN" altLang="en-US" b="1">
              <a:latin typeface="Microsoft YaHei" panose="020B0503020204020204" pitchFamily="34" charset="-122"/>
              <a:ea typeface="Microsoft YaHei" panose="020B0503020204020204" pitchFamily="34" charset="-122"/>
            </a:endParaRPr>
          </a:p>
        </p:txBody>
      </p:sp>
      <p:graphicFrame>
        <p:nvGraphicFramePr>
          <p:cNvPr id="4" name="表格 3">
            <a:extLst>
              <a:ext uri="{FF2B5EF4-FFF2-40B4-BE49-F238E27FC236}">
                <a16:creationId xmlns:a16="http://schemas.microsoft.com/office/drawing/2014/main" id="{62161A3F-858D-5333-1937-9102F9CF4D88}"/>
              </a:ext>
            </a:extLst>
          </p:cNvPr>
          <p:cNvGraphicFramePr>
            <a:graphicFrameLocks noGrp="1"/>
          </p:cNvGraphicFramePr>
          <p:nvPr>
            <p:extLst>
              <p:ext uri="{D42A27DB-BD31-4B8C-83A1-F6EECF244321}">
                <p14:modId xmlns:p14="http://schemas.microsoft.com/office/powerpoint/2010/main" val="1945669168"/>
              </p:ext>
            </p:extLst>
          </p:nvPr>
        </p:nvGraphicFramePr>
        <p:xfrm>
          <a:off x="435621" y="1988820"/>
          <a:ext cx="11320758" cy="1165860"/>
        </p:xfrm>
        <a:graphic>
          <a:graphicData uri="http://schemas.openxmlformats.org/drawingml/2006/table">
            <a:tbl>
              <a:tblPr firstRow="1" bandRow="1">
                <a:tableStyleId>{5C22544A-7EE6-4342-B048-85BDC9FD1C3A}</a:tableStyleId>
              </a:tblPr>
              <a:tblGrid>
                <a:gridCol w="1886793">
                  <a:extLst>
                    <a:ext uri="{9D8B030D-6E8A-4147-A177-3AD203B41FA5}">
                      <a16:colId xmlns:a16="http://schemas.microsoft.com/office/drawing/2014/main" val="1023196341"/>
                    </a:ext>
                  </a:extLst>
                </a:gridCol>
                <a:gridCol w="1886793">
                  <a:extLst>
                    <a:ext uri="{9D8B030D-6E8A-4147-A177-3AD203B41FA5}">
                      <a16:colId xmlns:a16="http://schemas.microsoft.com/office/drawing/2014/main" val="354341414"/>
                    </a:ext>
                  </a:extLst>
                </a:gridCol>
                <a:gridCol w="1886793">
                  <a:extLst>
                    <a:ext uri="{9D8B030D-6E8A-4147-A177-3AD203B41FA5}">
                      <a16:colId xmlns:a16="http://schemas.microsoft.com/office/drawing/2014/main" val="2019299567"/>
                    </a:ext>
                  </a:extLst>
                </a:gridCol>
                <a:gridCol w="1886793">
                  <a:extLst>
                    <a:ext uri="{9D8B030D-6E8A-4147-A177-3AD203B41FA5}">
                      <a16:colId xmlns:a16="http://schemas.microsoft.com/office/drawing/2014/main" val="2822350526"/>
                    </a:ext>
                  </a:extLst>
                </a:gridCol>
                <a:gridCol w="1886793">
                  <a:extLst>
                    <a:ext uri="{9D8B030D-6E8A-4147-A177-3AD203B41FA5}">
                      <a16:colId xmlns:a16="http://schemas.microsoft.com/office/drawing/2014/main" val="3320796739"/>
                    </a:ext>
                  </a:extLst>
                </a:gridCol>
                <a:gridCol w="1886793">
                  <a:extLst>
                    <a:ext uri="{9D8B030D-6E8A-4147-A177-3AD203B41FA5}">
                      <a16:colId xmlns:a16="http://schemas.microsoft.com/office/drawing/2014/main" val="2972003553"/>
                    </a:ext>
                  </a:extLst>
                </a:gridCol>
              </a:tblGrid>
              <a:tr h="370840">
                <a:tc>
                  <a:txBody>
                    <a:bodyPr/>
                    <a:lstStyle/>
                    <a:p>
                      <a:r>
                        <a:rPr lang="en" b="1">
                          <a:effectLst/>
                        </a:rPr>
                        <a:t>Round</a:t>
                      </a:r>
                    </a:p>
                  </a:txBody>
                  <a:tcPr marL="123825" marR="123825" marT="57150" marB="57150" anchor="ctr"/>
                </a:tc>
                <a:tc>
                  <a:txBody>
                    <a:bodyPr/>
                    <a:lstStyle/>
                    <a:p>
                      <a:r>
                        <a:rPr lang="en-US" altLang="zh-CN" b="1">
                          <a:effectLst/>
                        </a:rPr>
                        <a:t>0</a:t>
                      </a:r>
                    </a:p>
                  </a:txBody>
                  <a:tcPr marL="123825" marR="123825" marT="57150" marB="57150" anchor="ctr"/>
                </a:tc>
                <a:tc>
                  <a:txBody>
                    <a:bodyPr/>
                    <a:lstStyle/>
                    <a:p>
                      <a:r>
                        <a:rPr lang="en-US" altLang="zh-CN" b="1">
                          <a:effectLst/>
                        </a:rPr>
                        <a:t>1</a:t>
                      </a:r>
                    </a:p>
                  </a:txBody>
                  <a:tcPr marL="123825" marR="123825" marT="57150" marB="57150" anchor="ctr"/>
                </a:tc>
                <a:tc>
                  <a:txBody>
                    <a:bodyPr/>
                    <a:lstStyle/>
                    <a:p>
                      <a:r>
                        <a:rPr lang="en-US" altLang="zh-CN" b="1">
                          <a:effectLst/>
                        </a:rPr>
                        <a:t>2</a:t>
                      </a:r>
                    </a:p>
                  </a:txBody>
                  <a:tcPr marL="123825" marR="123825" marT="57150" marB="57150" anchor="ctr"/>
                </a:tc>
                <a:tc>
                  <a:txBody>
                    <a:bodyPr/>
                    <a:lstStyle/>
                    <a:p>
                      <a:r>
                        <a:rPr lang="en-US" altLang="zh-CN" b="1">
                          <a:effectLst/>
                        </a:rPr>
                        <a:t>3</a:t>
                      </a:r>
                    </a:p>
                  </a:txBody>
                  <a:tcPr marL="123825" marR="123825" marT="57150" marB="57150" anchor="ctr"/>
                </a:tc>
                <a:tc>
                  <a:txBody>
                    <a:bodyPr/>
                    <a:lstStyle/>
                    <a:p>
                      <a:r>
                        <a:rPr lang="en-US" altLang="zh-CN" b="1">
                          <a:effectLst/>
                        </a:rPr>
                        <a:t>4</a:t>
                      </a:r>
                    </a:p>
                  </a:txBody>
                  <a:tcPr marL="123825" marR="123825" marT="57150" marB="57150" anchor="ctr"/>
                </a:tc>
                <a:extLst>
                  <a:ext uri="{0D108BD9-81ED-4DB2-BD59-A6C34878D82A}">
                    <a16:rowId xmlns:a16="http://schemas.microsoft.com/office/drawing/2014/main" val="400489563"/>
                  </a:ext>
                </a:extLst>
              </a:tr>
              <a:tr h="370840">
                <a:tc>
                  <a:txBody>
                    <a:bodyPr/>
                    <a:lstStyle/>
                    <a:p>
                      <a:r>
                        <a:rPr lang="en">
                          <a:effectLst/>
                        </a:rPr>
                        <a:t>M639</a:t>
                      </a:r>
                    </a:p>
                  </a:txBody>
                  <a:tcPr marL="123825" marR="123825" marT="57150" marB="57150" anchor="ctr"/>
                </a:tc>
                <a:tc>
                  <a:txBody>
                    <a:bodyPr/>
                    <a:lstStyle/>
                    <a:p>
                      <a:r>
                        <a:rPr lang="en-US" altLang="zh-CN">
                          <a:effectLst/>
                        </a:rPr>
                        <a:t>6,457</a:t>
                      </a:r>
                    </a:p>
                  </a:txBody>
                  <a:tcPr marL="123825" marR="123825" marT="57150" marB="57150" anchor="ctr"/>
                </a:tc>
                <a:tc>
                  <a:txBody>
                    <a:bodyPr/>
                    <a:lstStyle/>
                    <a:p>
                      <a:r>
                        <a:rPr lang="en-US" altLang="zh-CN">
                          <a:effectLst/>
                        </a:rPr>
                        <a:t>6,206</a:t>
                      </a:r>
                    </a:p>
                  </a:txBody>
                  <a:tcPr marL="123825" marR="123825" marT="57150" marB="57150" anchor="ctr"/>
                </a:tc>
                <a:tc>
                  <a:txBody>
                    <a:bodyPr/>
                    <a:lstStyle/>
                    <a:p>
                      <a:r>
                        <a:rPr lang="en-US" altLang="zh-CN">
                          <a:effectLst/>
                        </a:rPr>
                        <a:t>6,216</a:t>
                      </a:r>
                    </a:p>
                  </a:txBody>
                  <a:tcPr marL="123825" marR="123825" marT="57150" marB="57150" anchor="ctr"/>
                </a:tc>
                <a:tc>
                  <a:txBody>
                    <a:bodyPr/>
                    <a:lstStyle/>
                    <a:p>
                      <a:r>
                        <a:rPr lang="en-US" altLang="zh-CN">
                          <a:effectLst/>
                        </a:rPr>
                        <a:t>5,171</a:t>
                      </a:r>
                    </a:p>
                  </a:txBody>
                  <a:tcPr marL="123825" marR="123825" marT="57150" marB="57150" anchor="ctr"/>
                </a:tc>
                <a:tc>
                  <a:txBody>
                    <a:bodyPr/>
                    <a:lstStyle/>
                    <a:p>
                      <a:r>
                        <a:rPr lang="en-US" altLang="zh-CN">
                          <a:effectLst/>
                        </a:rPr>
                        <a:t>5,451</a:t>
                      </a:r>
                    </a:p>
                  </a:txBody>
                  <a:tcPr marL="123825" marR="123825" marT="57150" marB="57150" anchor="ctr"/>
                </a:tc>
                <a:extLst>
                  <a:ext uri="{0D108BD9-81ED-4DB2-BD59-A6C34878D82A}">
                    <a16:rowId xmlns:a16="http://schemas.microsoft.com/office/drawing/2014/main" val="2068140052"/>
                  </a:ext>
                </a:extLst>
              </a:tr>
              <a:tr h="370840">
                <a:tc>
                  <a:txBody>
                    <a:bodyPr/>
                    <a:lstStyle/>
                    <a:p>
                      <a:r>
                        <a:rPr lang="en">
                          <a:effectLst/>
                        </a:rPr>
                        <a:t>上一代</a:t>
                      </a:r>
                    </a:p>
                  </a:txBody>
                  <a:tcPr marL="123825" marR="123825" marT="57150" marB="57150" anchor="ctr"/>
                </a:tc>
                <a:tc>
                  <a:txBody>
                    <a:bodyPr/>
                    <a:lstStyle/>
                    <a:p>
                      <a:r>
                        <a:rPr lang="en-US" altLang="zh-CN">
                          <a:effectLst/>
                        </a:rPr>
                        <a:t>4,744</a:t>
                      </a:r>
                    </a:p>
                  </a:txBody>
                  <a:tcPr marL="123825" marR="123825" marT="57150" marB="57150" anchor="ctr"/>
                </a:tc>
                <a:tc>
                  <a:txBody>
                    <a:bodyPr/>
                    <a:lstStyle/>
                    <a:p>
                      <a:r>
                        <a:rPr lang="en-US" altLang="zh-CN">
                          <a:effectLst/>
                        </a:rPr>
                        <a:t>4,476</a:t>
                      </a:r>
                    </a:p>
                  </a:txBody>
                  <a:tcPr marL="123825" marR="123825" marT="57150" marB="57150" anchor="ctr"/>
                </a:tc>
                <a:tc>
                  <a:txBody>
                    <a:bodyPr/>
                    <a:lstStyle/>
                    <a:p>
                      <a:r>
                        <a:rPr lang="en-US" altLang="zh-CN">
                          <a:effectLst/>
                        </a:rPr>
                        <a:t>3,254</a:t>
                      </a:r>
                    </a:p>
                  </a:txBody>
                  <a:tcPr marL="123825" marR="123825" marT="57150" marB="57150" anchor="ctr"/>
                </a:tc>
                <a:tc>
                  <a:txBody>
                    <a:bodyPr/>
                    <a:lstStyle/>
                    <a:p>
                      <a:r>
                        <a:rPr lang="en-US" altLang="zh-CN">
                          <a:effectLst/>
                        </a:rPr>
                        <a:t>3,823</a:t>
                      </a:r>
                    </a:p>
                  </a:txBody>
                  <a:tcPr marL="123825" marR="123825" marT="57150" marB="57150" anchor="ctr"/>
                </a:tc>
                <a:tc>
                  <a:txBody>
                    <a:bodyPr/>
                    <a:lstStyle/>
                    <a:p>
                      <a:r>
                        <a:rPr lang="en-US" altLang="zh-CN">
                          <a:effectLst/>
                        </a:rPr>
                        <a:t>4,366</a:t>
                      </a:r>
                    </a:p>
                  </a:txBody>
                  <a:tcPr marL="123825" marR="123825" marT="57150" marB="57150" anchor="ctr"/>
                </a:tc>
                <a:extLst>
                  <a:ext uri="{0D108BD9-81ED-4DB2-BD59-A6C34878D82A}">
                    <a16:rowId xmlns:a16="http://schemas.microsoft.com/office/drawing/2014/main" val="1479171174"/>
                  </a:ext>
                </a:extLst>
              </a:tr>
            </a:tbl>
          </a:graphicData>
        </a:graphic>
      </p:graphicFrame>
      <p:sp>
        <p:nvSpPr>
          <p:cNvPr id="6" name="文本框 5">
            <a:extLst>
              <a:ext uri="{FF2B5EF4-FFF2-40B4-BE49-F238E27FC236}">
                <a16:creationId xmlns:a16="http://schemas.microsoft.com/office/drawing/2014/main" id="{414CA60D-EC9A-9884-F4F6-128D6CF04A3E}"/>
              </a:ext>
            </a:extLst>
          </p:cNvPr>
          <p:cNvSpPr txBox="1"/>
          <p:nvPr/>
        </p:nvSpPr>
        <p:spPr>
          <a:xfrm>
            <a:off x="380326" y="865848"/>
            <a:ext cx="11498782" cy="923330"/>
          </a:xfrm>
          <a:prstGeom prst="rect">
            <a:avLst/>
          </a:prstGeom>
          <a:noFill/>
        </p:spPr>
        <p:txBody>
          <a:bodyPr wrap="square" rtlCol="0">
            <a:spAutoFit/>
          </a:bodyPr>
          <a:lstStyle/>
          <a:p>
            <a:r>
              <a:rPr kumimoji="1" lang="zh-CN" altLang="en-US"/>
              <a:t>从统计出的五轮的具体数据上看，相比上一代硬解码的时间每轮都有大幅的劣化。由于</a:t>
            </a:r>
            <a:r>
              <a:rPr kumimoji="1" lang="en-US" altLang="zh-CN"/>
              <a:t>media.c2</a:t>
            </a:r>
            <a:r>
              <a:rPr kumimoji="1" lang="zh-CN" altLang="en-US"/>
              <a:t>是视频硬解码进程，该进程的耗时主要是依赖于硬解码播放视频的次数和时间，其次是播放的视频的帧率、码率等。因为抖音播放的视频存在硬解和软解两种方式，而且每次随机的不同视频或者不同画质播放也会有一定影响。</a:t>
            </a:r>
          </a:p>
        </p:txBody>
      </p:sp>
      <p:graphicFrame>
        <p:nvGraphicFramePr>
          <p:cNvPr id="7" name="表格 6">
            <a:extLst>
              <a:ext uri="{FF2B5EF4-FFF2-40B4-BE49-F238E27FC236}">
                <a16:creationId xmlns:a16="http://schemas.microsoft.com/office/drawing/2014/main" id="{22FB8CE5-FBF2-AE7C-536E-19FB7E0705A9}"/>
              </a:ext>
            </a:extLst>
          </p:cNvPr>
          <p:cNvGraphicFramePr>
            <a:graphicFrameLocks noGrp="1"/>
          </p:cNvGraphicFramePr>
          <p:nvPr>
            <p:extLst>
              <p:ext uri="{D42A27DB-BD31-4B8C-83A1-F6EECF244321}">
                <p14:modId xmlns:p14="http://schemas.microsoft.com/office/powerpoint/2010/main" val="2993545119"/>
              </p:ext>
            </p:extLst>
          </p:nvPr>
        </p:nvGraphicFramePr>
        <p:xfrm>
          <a:off x="435621" y="4277064"/>
          <a:ext cx="11320758" cy="1165860"/>
        </p:xfrm>
        <a:graphic>
          <a:graphicData uri="http://schemas.openxmlformats.org/drawingml/2006/table">
            <a:tbl>
              <a:tblPr firstRow="1" bandRow="1">
                <a:tableStyleId>{5C22544A-7EE6-4342-B048-85BDC9FD1C3A}</a:tableStyleId>
              </a:tblPr>
              <a:tblGrid>
                <a:gridCol w="1886793">
                  <a:extLst>
                    <a:ext uri="{9D8B030D-6E8A-4147-A177-3AD203B41FA5}">
                      <a16:colId xmlns:a16="http://schemas.microsoft.com/office/drawing/2014/main" val="1023196341"/>
                    </a:ext>
                  </a:extLst>
                </a:gridCol>
                <a:gridCol w="1886793">
                  <a:extLst>
                    <a:ext uri="{9D8B030D-6E8A-4147-A177-3AD203B41FA5}">
                      <a16:colId xmlns:a16="http://schemas.microsoft.com/office/drawing/2014/main" val="354341414"/>
                    </a:ext>
                  </a:extLst>
                </a:gridCol>
                <a:gridCol w="1886793">
                  <a:extLst>
                    <a:ext uri="{9D8B030D-6E8A-4147-A177-3AD203B41FA5}">
                      <a16:colId xmlns:a16="http://schemas.microsoft.com/office/drawing/2014/main" val="2019299567"/>
                    </a:ext>
                  </a:extLst>
                </a:gridCol>
                <a:gridCol w="1886793">
                  <a:extLst>
                    <a:ext uri="{9D8B030D-6E8A-4147-A177-3AD203B41FA5}">
                      <a16:colId xmlns:a16="http://schemas.microsoft.com/office/drawing/2014/main" val="2822350526"/>
                    </a:ext>
                  </a:extLst>
                </a:gridCol>
                <a:gridCol w="1886793">
                  <a:extLst>
                    <a:ext uri="{9D8B030D-6E8A-4147-A177-3AD203B41FA5}">
                      <a16:colId xmlns:a16="http://schemas.microsoft.com/office/drawing/2014/main" val="3320796739"/>
                    </a:ext>
                  </a:extLst>
                </a:gridCol>
                <a:gridCol w="1886793">
                  <a:extLst>
                    <a:ext uri="{9D8B030D-6E8A-4147-A177-3AD203B41FA5}">
                      <a16:colId xmlns:a16="http://schemas.microsoft.com/office/drawing/2014/main" val="2972003553"/>
                    </a:ext>
                  </a:extLst>
                </a:gridCol>
              </a:tblGrid>
              <a:tr h="370840">
                <a:tc>
                  <a:txBody>
                    <a:bodyPr/>
                    <a:lstStyle/>
                    <a:p>
                      <a:r>
                        <a:rPr lang="en" b="1">
                          <a:effectLst/>
                        </a:rPr>
                        <a:t>Round</a:t>
                      </a:r>
                    </a:p>
                  </a:txBody>
                  <a:tcPr marL="123825" marR="123825" marT="57150" marB="57150" anchor="ctr"/>
                </a:tc>
                <a:tc>
                  <a:txBody>
                    <a:bodyPr/>
                    <a:lstStyle/>
                    <a:p>
                      <a:r>
                        <a:rPr lang="en-US" altLang="zh-CN" b="1">
                          <a:effectLst/>
                        </a:rPr>
                        <a:t>0</a:t>
                      </a:r>
                    </a:p>
                  </a:txBody>
                  <a:tcPr marL="123825" marR="123825" marT="57150" marB="57150" anchor="ctr"/>
                </a:tc>
                <a:tc>
                  <a:txBody>
                    <a:bodyPr/>
                    <a:lstStyle/>
                    <a:p>
                      <a:r>
                        <a:rPr lang="en-US" altLang="zh-CN" b="1">
                          <a:effectLst/>
                        </a:rPr>
                        <a:t>1</a:t>
                      </a:r>
                    </a:p>
                  </a:txBody>
                  <a:tcPr marL="123825" marR="123825" marT="57150" marB="57150" anchor="ctr"/>
                </a:tc>
                <a:tc>
                  <a:txBody>
                    <a:bodyPr/>
                    <a:lstStyle/>
                    <a:p>
                      <a:r>
                        <a:rPr lang="en-US" altLang="zh-CN" b="1">
                          <a:effectLst/>
                        </a:rPr>
                        <a:t>2</a:t>
                      </a:r>
                    </a:p>
                  </a:txBody>
                  <a:tcPr marL="123825" marR="123825" marT="57150" marB="57150" anchor="ctr"/>
                </a:tc>
                <a:tc>
                  <a:txBody>
                    <a:bodyPr/>
                    <a:lstStyle/>
                    <a:p>
                      <a:r>
                        <a:rPr lang="en-US" altLang="zh-CN" b="1">
                          <a:effectLst/>
                        </a:rPr>
                        <a:t>3</a:t>
                      </a:r>
                    </a:p>
                  </a:txBody>
                  <a:tcPr marL="123825" marR="123825" marT="57150" marB="57150" anchor="ctr"/>
                </a:tc>
                <a:tc>
                  <a:txBody>
                    <a:bodyPr/>
                    <a:lstStyle/>
                    <a:p>
                      <a:r>
                        <a:rPr lang="en-US" altLang="zh-CN" b="1">
                          <a:effectLst/>
                        </a:rPr>
                        <a:t>4</a:t>
                      </a:r>
                    </a:p>
                  </a:txBody>
                  <a:tcPr marL="123825" marR="123825" marT="57150" marB="57150" anchor="ctr"/>
                </a:tc>
                <a:extLst>
                  <a:ext uri="{0D108BD9-81ED-4DB2-BD59-A6C34878D82A}">
                    <a16:rowId xmlns:a16="http://schemas.microsoft.com/office/drawing/2014/main" val="400489563"/>
                  </a:ext>
                </a:extLst>
              </a:tr>
              <a:tr h="370840">
                <a:tc>
                  <a:txBody>
                    <a:bodyPr/>
                    <a:lstStyle/>
                    <a:p>
                      <a:r>
                        <a:rPr lang="en">
                          <a:effectLst/>
                        </a:rPr>
                        <a:t>M639</a:t>
                      </a:r>
                    </a:p>
                  </a:txBody>
                  <a:tcPr marL="123825" marR="123825" marT="57150" marB="57150" anchor="ctr"/>
                </a:tc>
                <a:tc>
                  <a:txBody>
                    <a:bodyPr/>
                    <a:lstStyle/>
                    <a:p>
                      <a:r>
                        <a:rPr lang="en-US" altLang="zh-CN">
                          <a:effectLst/>
                        </a:rPr>
                        <a:t>10</a:t>
                      </a:r>
                    </a:p>
                  </a:txBody>
                  <a:tcPr marL="123825" marR="123825" marT="57150" marB="57150" anchor="ctr"/>
                </a:tc>
                <a:tc>
                  <a:txBody>
                    <a:bodyPr/>
                    <a:lstStyle/>
                    <a:p>
                      <a:r>
                        <a:rPr lang="en-US" altLang="zh-CN">
                          <a:effectLst/>
                        </a:rPr>
                        <a:t>10</a:t>
                      </a:r>
                    </a:p>
                  </a:txBody>
                  <a:tcPr marL="123825" marR="123825" marT="57150" marB="57150" anchor="ctr"/>
                </a:tc>
                <a:tc>
                  <a:txBody>
                    <a:bodyPr/>
                    <a:lstStyle/>
                    <a:p>
                      <a:r>
                        <a:rPr lang="en-US" altLang="zh-CN">
                          <a:effectLst/>
                        </a:rPr>
                        <a:t>10</a:t>
                      </a:r>
                    </a:p>
                  </a:txBody>
                  <a:tcPr marL="123825" marR="123825" marT="57150" marB="57150" anchor="ctr"/>
                </a:tc>
                <a:tc>
                  <a:txBody>
                    <a:bodyPr/>
                    <a:lstStyle/>
                    <a:p>
                      <a:r>
                        <a:rPr lang="en-US" altLang="zh-CN">
                          <a:effectLst/>
                        </a:rPr>
                        <a:t>9</a:t>
                      </a:r>
                    </a:p>
                  </a:txBody>
                  <a:tcPr marL="123825" marR="123825" marT="57150" marB="57150" anchor="ctr"/>
                </a:tc>
                <a:tc>
                  <a:txBody>
                    <a:bodyPr/>
                    <a:lstStyle/>
                    <a:p>
                      <a:r>
                        <a:rPr lang="en-US" altLang="zh-CN">
                          <a:effectLst/>
                        </a:rPr>
                        <a:t>10</a:t>
                      </a:r>
                    </a:p>
                  </a:txBody>
                  <a:tcPr marL="123825" marR="123825" marT="57150" marB="57150" anchor="ctr"/>
                </a:tc>
                <a:extLst>
                  <a:ext uri="{0D108BD9-81ED-4DB2-BD59-A6C34878D82A}">
                    <a16:rowId xmlns:a16="http://schemas.microsoft.com/office/drawing/2014/main" val="2068140052"/>
                  </a:ext>
                </a:extLst>
              </a:tr>
              <a:tr h="370840">
                <a:tc>
                  <a:txBody>
                    <a:bodyPr/>
                    <a:lstStyle/>
                    <a:p>
                      <a:r>
                        <a:rPr lang="en">
                          <a:effectLst/>
                        </a:rPr>
                        <a:t>上一代</a:t>
                      </a:r>
                    </a:p>
                  </a:txBody>
                  <a:tcPr marL="123825" marR="123825" marT="57150" marB="57150" anchor="ctr"/>
                </a:tc>
                <a:tc>
                  <a:txBody>
                    <a:bodyPr/>
                    <a:lstStyle/>
                    <a:p>
                      <a:r>
                        <a:rPr lang="en-US" altLang="zh-CN">
                          <a:effectLst/>
                        </a:rPr>
                        <a:t>8</a:t>
                      </a:r>
                    </a:p>
                  </a:txBody>
                  <a:tcPr marL="123825" marR="123825" marT="57150" marB="57150" anchor="ctr"/>
                </a:tc>
                <a:tc>
                  <a:txBody>
                    <a:bodyPr/>
                    <a:lstStyle/>
                    <a:p>
                      <a:r>
                        <a:rPr lang="en-US" altLang="zh-CN">
                          <a:effectLst/>
                        </a:rPr>
                        <a:t>9</a:t>
                      </a:r>
                    </a:p>
                  </a:txBody>
                  <a:tcPr marL="123825" marR="123825" marT="57150" marB="57150" anchor="ctr"/>
                </a:tc>
                <a:tc>
                  <a:txBody>
                    <a:bodyPr/>
                    <a:lstStyle/>
                    <a:p>
                      <a:r>
                        <a:rPr lang="en-US" altLang="zh-CN">
                          <a:effectLst/>
                        </a:rPr>
                        <a:t>9</a:t>
                      </a:r>
                    </a:p>
                  </a:txBody>
                  <a:tcPr marL="123825" marR="123825" marT="57150" marB="57150" anchor="ctr"/>
                </a:tc>
                <a:tc>
                  <a:txBody>
                    <a:bodyPr/>
                    <a:lstStyle/>
                    <a:p>
                      <a:r>
                        <a:rPr lang="en-US" altLang="zh-CN">
                          <a:effectLst/>
                        </a:rPr>
                        <a:t>9</a:t>
                      </a:r>
                    </a:p>
                  </a:txBody>
                  <a:tcPr marL="123825" marR="123825" marT="57150" marB="57150" anchor="ctr"/>
                </a:tc>
                <a:tc>
                  <a:txBody>
                    <a:bodyPr/>
                    <a:lstStyle/>
                    <a:p>
                      <a:r>
                        <a:rPr lang="en-US" altLang="zh-CN">
                          <a:effectLst/>
                        </a:rPr>
                        <a:t>10</a:t>
                      </a:r>
                    </a:p>
                  </a:txBody>
                  <a:tcPr marL="123825" marR="123825" marT="57150" marB="57150" anchor="ctr"/>
                </a:tc>
                <a:extLst>
                  <a:ext uri="{0D108BD9-81ED-4DB2-BD59-A6C34878D82A}">
                    <a16:rowId xmlns:a16="http://schemas.microsoft.com/office/drawing/2014/main" val="1479171174"/>
                  </a:ext>
                </a:extLst>
              </a:tr>
            </a:tbl>
          </a:graphicData>
        </a:graphic>
      </p:graphicFrame>
      <p:sp>
        <p:nvSpPr>
          <p:cNvPr id="8" name="文本框 7">
            <a:extLst>
              <a:ext uri="{FF2B5EF4-FFF2-40B4-BE49-F238E27FC236}">
                <a16:creationId xmlns:a16="http://schemas.microsoft.com/office/drawing/2014/main" id="{C80D6D23-8A36-A45F-4DDE-9447A4529456}"/>
              </a:ext>
            </a:extLst>
          </p:cNvPr>
          <p:cNvSpPr txBox="1"/>
          <p:nvPr/>
        </p:nvSpPr>
        <p:spPr>
          <a:xfrm>
            <a:off x="380326" y="3457419"/>
            <a:ext cx="11320758" cy="646331"/>
          </a:xfrm>
          <a:prstGeom prst="rect">
            <a:avLst/>
          </a:prstGeom>
          <a:noFill/>
        </p:spPr>
        <p:txBody>
          <a:bodyPr wrap="square" rtlCol="0">
            <a:spAutoFit/>
          </a:bodyPr>
          <a:lstStyle/>
          <a:p>
            <a:r>
              <a:rPr kumimoji="1" lang="zh-CN" altLang="en-US"/>
              <a:t>由于应用视频硬解码会创建重新创建</a:t>
            </a:r>
            <a:r>
              <a:rPr kumimoji="1" lang="en-US" altLang="zh-CN"/>
              <a:t>mediacodec_loop</a:t>
            </a:r>
            <a:r>
              <a:rPr kumimoji="1" lang="zh-CN" altLang="en-US"/>
              <a:t>线程异步</a:t>
            </a:r>
            <a:r>
              <a:rPr lang="zh-CN" altLang="en-US"/>
              <a:t>执行实际的编码或解码相关操作</a:t>
            </a:r>
            <a:r>
              <a:rPr kumimoji="1" lang="zh-CN" altLang="en-US"/>
              <a:t>。根据这个</a:t>
            </a:r>
            <a:r>
              <a:rPr kumimoji="1" lang="en-US" altLang="zh-CN"/>
              <a:t>mediacodec_loop</a:t>
            </a:r>
            <a:r>
              <a:rPr kumimoji="1" lang="zh-CN" altLang="en-US"/>
              <a:t>线程和</a:t>
            </a:r>
            <a:r>
              <a:rPr kumimoji="1" lang="en-US" altLang="zh-CN"/>
              <a:t>media.c2</a:t>
            </a:r>
            <a:r>
              <a:rPr kumimoji="1" lang="zh-CN" altLang="en-US"/>
              <a:t>进程的状态可以统计出视频硬解码的播放次数。</a:t>
            </a:r>
            <a:endParaRPr kumimoji="1" lang="en-US" altLang="zh-CN"/>
          </a:p>
        </p:txBody>
      </p:sp>
      <p:sp>
        <p:nvSpPr>
          <p:cNvPr id="10" name="文本框 9">
            <a:extLst>
              <a:ext uri="{FF2B5EF4-FFF2-40B4-BE49-F238E27FC236}">
                <a16:creationId xmlns:a16="http://schemas.microsoft.com/office/drawing/2014/main" id="{032C3C8B-9D7E-EDDF-187D-BF5C1FA1717D}"/>
              </a:ext>
            </a:extLst>
          </p:cNvPr>
          <p:cNvSpPr txBox="1"/>
          <p:nvPr/>
        </p:nvSpPr>
        <p:spPr>
          <a:xfrm>
            <a:off x="380327" y="5748080"/>
            <a:ext cx="11320757" cy="646331"/>
          </a:xfrm>
          <a:prstGeom prst="rect">
            <a:avLst/>
          </a:prstGeom>
          <a:noFill/>
        </p:spPr>
        <p:txBody>
          <a:bodyPr wrap="square">
            <a:spAutoFit/>
          </a:bodyPr>
          <a:lstStyle/>
          <a:p>
            <a:r>
              <a:rPr kumimoji="1" lang="zh-CN" altLang="en-US"/>
              <a:t>从统计的结果可以看出，上一代中确实存在没有播放视频或者没有使用硬解码播放视频的情况，而且概率上比</a:t>
            </a:r>
            <a:r>
              <a:rPr kumimoji="1" lang="en-US" altLang="zh-CN"/>
              <a:t>M639</a:t>
            </a:r>
            <a:r>
              <a:rPr kumimoji="1" lang="zh-CN" altLang="en-US"/>
              <a:t>要多。但是还不足以解释问题，因为两者之间没有比例关系而且最后两轮次数一致的情况下还是劣化很多。</a:t>
            </a:r>
          </a:p>
        </p:txBody>
      </p:sp>
    </p:spTree>
    <p:extLst>
      <p:ext uri="{BB962C8B-B14F-4D97-AF65-F5344CB8AC3E}">
        <p14:creationId xmlns:p14="http://schemas.microsoft.com/office/powerpoint/2010/main" val="38080039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1B4614F1-288C-E26A-A87A-C41DFD1E0A31}"/>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964163BF-AA1E-E33E-8D63-A7274D986238}"/>
              </a:ext>
            </a:extLst>
          </p:cNvPr>
          <p:cNvSpPr txBox="1"/>
          <p:nvPr/>
        </p:nvSpPr>
        <p:spPr>
          <a:xfrm>
            <a:off x="2003482" y="225070"/>
            <a:ext cx="3312125" cy="369332"/>
          </a:xfrm>
          <a:prstGeom prst="rect">
            <a:avLst/>
          </a:prstGeom>
          <a:noFill/>
        </p:spPr>
        <p:txBody>
          <a:bodyPr wrap="none" rtlCol="0">
            <a:spAutoFit/>
          </a:bodyPr>
          <a:lstStyle/>
          <a:p>
            <a:r>
              <a:rPr kumimoji="1" lang="zh-CN" altLang="en-US" b="1">
                <a:latin typeface="Microsoft YaHei" panose="020B0503020204020204" pitchFamily="34" charset="-122"/>
                <a:ea typeface="Microsoft YaHei" panose="020B0503020204020204" pitchFamily="34" charset="-122"/>
              </a:rPr>
              <a:t>场景三：抖音直播间上滑十次</a:t>
            </a:r>
            <a:endParaRPr lang="zh-CN" altLang="en-US" b="1">
              <a:latin typeface="Microsoft YaHei" panose="020B0503020204020204" pitchFamily="34" charset="-122"/>
              <a:ea typeface="Microsoft YaHei" panose="020B0503020204020204" pitchFamily="34" charset="-122"/>
            </a:endParaRPr>
          </a:p>
        </p:txBody>
      </p:sp>
      <p:graphicFrame>
        <p:nvGraphicFramePr>
          <p:cNvPr id="4" name="表格 3">
            <a:extLst>
              <a:ext uri="{FF2B5EF4-FFF2-40B4-BE49-F238E27FC236}">
                <a16:creationId xmlns:a16="http://schemas.microsoft.com/office/drawing/2014/main" id="{AF3E6A05-9EA2-65C5-312B-401858137380}"/>
              </a:ext>
            </a:extLst>
          </p:cNvPr>
          <p:cNvGraphicFramePr>
            <a:graphicFrameLocks noGrp="1"/>
          </p:cNvGraphicFramePr>
          <p:nvPr>
            <p:extLst>
              <p:ext uri="{D42A27DB-BD31-4B8C-83A1-F6EECF244321}">
                <p14:modId xmlns:p14="http://schemas.microsoft.com/office/powerpoint/2010/main" val="2826423022"/>
              </p:ext>
            </p:extLst>
          </p:nvPr>
        </p:nvGraphicFramePr>
        <p:xfrm>
          <a:off x="417443" y="1615323"/>
          <a:ext cx="11332192" cy="4464962"/>
        </p:xfrm>
        <a:graphic>
          <a:graphicData uri="http://schemas.openxmlformats.org/drawingml/2006/table">
            <a:tbl>
              <a:tblPr/>
              <a:tblGrid>
                <a:gridCol w="2833048">
                  <a:extLst>
                    <a:ext uri="{9D8B030D-6E8A-4147-A177-3AD203B41FA5}">
                      <a16:colId xmlns:a16="http://schemas.microsoft.com/office/drawing/2014/main" val="2844583973"/>
                    </a:ext>
                  </a:extLst>
                </a:gridCol>
                <a:gridCol w="2833048">
                  <a:extLst>
                    <a:ext uri="{9D8B030D-6E8A-4147-A177-3AD203B41FA5}">
                      <a16:colId xmlns:a16="http://schemas.microsoft.com/office/drawing/2014/main" val="1172007427"/>
                    </a:ext>
                  </a:extLst>
                </a:gridCol>
                <a:gridCol w="2833048">
                  <a:extLst>
                    <a:ext uri="{9D8B030D-6E8A-4147-A177-3AD203B41FA5}">
                      <a16:colId xmlns:a16="http://schemas.microsoft.com/office/drawing/2014/main" val="3536608571"/>
                    </a:ext>
                  </a:extLst>
                </a:gridCol>
                <a:gridCol w="2833048">
                  <a:extLst>
                    <a:ext uri="{9D8B030D-6E8A-4147-A177-3AD203B41FA5}">
                      <a16:colId xmlns:a16="http://schemas.microsoft.com/office/drawing/2014/main" val="2591748037"/>
                    </a:ext>
                  </a:extLst>
                </a:gridCol>
              </a:tblGrid>
              <a:tr h="229018">
                <a:tc>
                  <a:txBody>
                    <a:bodyPr/>
                    <a:lstStyle/>
                    <a:p>
                      <a:r>
                        <a:rPr lang="en" sz="1100" b="1">
                          <a:effectLst/>
                        </a:rPr>
                        <a:t>线程名</a:t>
                      </a:r>
                    </a:p>
                  </a:txBody>
                  <a:tcPr marL="72971" marR="72971" marT="33679" marB="33679" anchor="ctr">
                    <a:lnL w="9525" cap="flat" cmpd="sng" algn="ctr">
                      <a:solidFill>
                        <a:srgbClr val="406C71"/>
                      </a:solidFill>
                      <a:prstDash val="solid"/>
                      <a:round/>
                      <a:headEnd type="none" w="med" len="med"/>
                      <a:tailEnd type="none" w="med" len="med"/>
                    </a:lnL>
                    <a:lnR w="9525" cap="flat" cmpd="sng" algn="ctr">
                      <a:solidFill>
                        <a:srgbClr val="004771"/>
                      </a:solidFill>
                      <a:prstDash val="solid"/>
                      <a:round/>
                      <a:headEnd type="none" w="med" len="med"/>
                      <a:tailEnd type="none" w="med" len="med"/>
                    </a:lnR>
                    <a:lnT w="9525" cap="flat" cmpd="sng" algn="ctr">
                      <a:solidFill>
                        <a:srgbClr val="406C71"/>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 sz="1100" b="1">
                          <a:effectLst/>
                        </a:rPr>
                        <a:t>M639</a:t>
                      </a:r>
                    </a:p>
                  </a:txBody>
                  <a:tcPr marL="72971" marR="72971" marT="33679" marB="33679" anchor="ctr">
                    <a:lnL w="9525" cap="flat" cmpd="sng" algn="ctr">
                      <a:solidFill>
                        <a:srgbClr val="004771"/>
                      </a:solidFill>
                      <a:prstDash val="solid"/>
                      <a:round/>
                      <a:headEnd type="none" w="med" len="med"/>
                      <a:tailEnd type="none" w="med" len="med"/>
                    </a:lnL>
                    <a:lnR w="9525" cap="flat" cmpd="sng" algn="ctr">
                      <a:solidFill>
                        <a:srgbClr val="804F71"/>
                      </a:solidFill>
                      <a:prstDash val="solid"/>
                      <a:round/>
                      <a:headEnd type="none" w="med" len="med"/>
                      <a:tailEnd type="none" w="med" len="med"/>
                    </a:lnR>
                    <a:lnT w="9525" cap="flat" cmpd="sng" algn="ctr">
                      <a:solidFill>
                        <a:srgbClr val="004771"/>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 sz="1100" b="1">
                          <a:effectLst/>
                        </a:rPr>
                        <a:t>上一代</a:t>
                      </a:r>
                    </a:p>
                  </a:txBody>
                  <a:tcPr marL="72971" marR="72971" marT="33679" marB="33679" anchor="ctr">
                    <a:lnL w="9525" cap="flat" cmpd="sng" algn="ctr">
                      <a:solidFill>
                        <a:srgbClr val="804F71"/>
                      </a:solidFill>
                      <a:prstDash val="solid"/>
                      <a:round/>
                      <a:headEnd type="none" w="med" len="med"/>
                      <a:tailEnd type="none" w="med" len="med"/>
                    </a:lnL>
                    <a:lnR w="9525" cap="flat" cmpd="sng" algn="ctr">
                      <a:solidFill>
                        <a:srgbClr val="207871"/>
                      </a:solidFill>
                      <a:prstDash val="solid"/>
                      <a:round/>
                      <a:headEnd type="none" w="med" len="med"/>
                      <a:tailEnd type="none" w="med" len="med"/>
                    </a:lnR>
                    <a:lnT w="9525" cap="flat" cmpd="sng" algn="ctr">
                      <a:solidFill>
                        <a:srgbClr val="804F71"/>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 sz="1100" b="1">
                          <a:effectLst/>
                        </a:rPr>
                        <a:t>Total</a:t>
                      </a:r>
                    </a:p>
                  </a:txBody>
                  <a:tcPr marL="72971" marR="72971" marT="33679" marB="33679" anchor="ctr">
                    <a:lnL w="9525" cap="flat" cmpd="sng" algn="ctr">
                      <a:solidFill>
                        <a:srgbClr val="207871"/>
                      </a:solidFill>
                      <a:prstDash val="solid"/>
                      <a:round/>
                      <a:headEnd type="none" w="med" len="med"/>
                      <a:tailEnd type="none" w="med" len="med"/>
                    </a:lnL>
                    <a:lnR w="9525" cap="flat" cmpd="sng" algn="ctr">
                      <a:solidFill>
                        <a:srgbClr val="207871"/>
                      </a:solidFill>
                      <a:prstDash val="solid"/>
                      <a:round/>
                      <a:headEnd type="none" w="med" len="med"/>
                      <a:tailEnd type="none" w="med" len="med"/>
                    </a:lnR>
                    <a:lnT w="9525" cap="flat" cmpd="sng" algn="ctr">
                      <a:solidFill>
                        <a:srgbClr val="207871"/>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2208936346"/>
                  </a:ext>
                </a:extLst>
              </a:tr>
              <a:tr h="229018">
                <a:tc>
                  <a:txBody>
                    <a:bodyPr/>
                    <a:lstStyle/>
                    <a:p>
                      <a:r>
                        <a:rPr lang="en" sz="1100">
                          <a:effectLst/>
                        </a:rPr>
                        <a:t>VcodecProcess</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4">
                        <a:lumMod val="60000"/>
                        <a:lumOff val="40000"/>
                      </a:schemeClr>
                    </a:solidFill>
                  </a:tcPr>
                </a:tc>
                <a:tc>
                  <a:txBody>
                    <a:bodyPr/>
                    <a:lstStyle/>
                    <a:p>
                      <a:r>
                        <a:rPr lang="en-US" altLang="zh-CN" sz="1100">
                          <a:effectLst/>
                        </a:rPr>
                        <a:t>1,267,908,660</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4">
                        <a:lumMod val="60000"/>
                        <a:lumOff val="40000"/>
                      </a:schemeClr>
                    </a:solidFill>
                  </a:tcPr>
                </a:tc>
                <a:tc>
                  <a:txBody>
                    <a:bodyPr/>
                    <a:lstStyle/>
                    <a:p>
                      <a:r>
                        <a:rPr lang="en-US" altLang="zh-CN" sz="1100">
                          <a:effectLst/>
                        </a:rPr>
                        <a:t>860,251,776</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4">
                        <a:lumMod val="60000"/>
                        <a:lumOff val="40000"/>
                      </a:schemeClr>
                    </a:solidFill>
                  </a:tcPr>
                </a:tc>
                <a:tc>
                  <a:txBody>
                    <a:bodyPr/>
                    <a:lstStyle/>
                    <a:p>
                      <a:r>
                        <a:rPr lang="en-US" altLang="zh-CN" sz="1100">
                          <a:effectLst/>
                        </a:rPr>
                        <a:t>407,656,884</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3853436534"/>
                  </a:ext>
                </a:extLst>
              </a:tr>
              <a:tr h="229018">
                <a:tc>
                  <a:txBody>
                    <a:bodyPr/>
                    <a:lstStyle/>
                    <a:p>
                      <a:r>
                        <a:rPr lang="en" sz="1100">
                          <a:effectLst/>
                        </a:rPr>
                        <a:t>VcodecPoll</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100">
                          <a:effectLst/>
                        </a:rPr>
                        <a:t>162,136,320</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100">
                          <a:effectLst/>
                        </a:rPr>
                        <a:t>139,394,848</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100">
                          <a:effectLst/>
                        </a:rPr>
                        <a:t>22,741,472</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extLst>
                  <a:ext uri="{0D108BD9-81ED-4DB2-BD59-A6C34878D82A}">
                    <a16:rowId xmlns:a16="http://schemas.microsoft.com/office/drawing/2014/main" val="135241476"/>
                  </a:ext>
                </a:extLst>
              </a:tr>
              <a:tr h="229018">
                <a:tc>
                  <a:txBody>
                    <a:bodyPr/>
                    <a:lstStyle/>
                    <a:p>
                      <a:r>
                        <a:rPr lang="en" sz="1100">
                          <a:effectLst/>
                        </a:rPr>
                        <a:t>tk.hevc.decoder</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100">
                          <a:effectLst/>
                        </a:rPr>
                        <a:t>241,916,964</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100">
                          <a:effectLst/>
                        </a:rPr>
                        <a:t>223,857,670</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100">
                          <a:effectLst/>
                        </a:rPr>
                        <a:t>18,059,294</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2157975598"/>
                  </a:ext>
                </a:extLst>
              </a:tr>
              <a:tr h="229018">
                <a:tc>
                  <a:txBody>
                    <a:bodyPr/>
                    <a:lstStyle/>
                    <a:p>
                      <a:r>
                        <a:rPr lang="en" sz="1100">
                          <a:effectLst/>
                        </a:rPr>
                        <a:t>postprocasyncs2</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100">
                          <a:effectLst/>
                        </a:rPr>
                        <a:t>496,542,742</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100">
                          <a:effectLst/>
                        </a:rPr>
                        <a:t>285,718,136</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100">
                          <a:effectLst/>
                        </a:rPr>
                        <a:t>210,824,606</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extLst>
                  <a:ext uri="{0D108BD9-81ED-4DB2-BD59-A6C34878D82A}">
                    <a16:rowId xmlns:a16="http://schemas.microsoft.com/office/drawing/2014/main" val="648038660"/>
                  </a:ext>
                </a:extLst>
              </a:tr>
              <a:tr h="229018">
                <a:tc>
                  <a:txBody>
                    <a:bodyPr/>
                    <a:lstStyle/>
                    <a:p>
                      <a:r>
                        <a:rPr lang="en" sz="1100">
                          <a:effectLst/>
                        </a:rPr>
                        <a:t>postprocasyncs1</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4">
                        <a:lumMod val="60000"/>
                        <a:lumOff val="40000"/>
                      </a:schemeClr>
                    </a:solidFill>
                  </a:tcPr>
                </a:tc>
                <a:tc>
                  <a:txBody>
                    <a:bodyPr/>
                    <a:lstStyle/>
                    <a:p>
                      <a:r>
                        <a:rPr lang="en-US" altLang="zh-CN" sz="1100">
                          <a:effectLst/>
                        </a:rPr>
                        <a:t>2,303,254,414</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4">
                        <a:lumMod val="60000"/>
                        <a:lumOff val="40000"/>
                      </a:schemeClr>
                    </a:solidFill>
                  </a:tcPr>
                </a:tc>
                <a:tc>
                  <a:txBody>
                    <a:bodyPr/>
                    <a:lstStyle/>
                    <a:p>
                      <a:r>
                        <a:rPr lang="en-US" altLang="zh-CN" sz="1100">
                          <a:effectLst/>
                        </a:rPr>
                        <a:t>1,586,575,439</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4">
                        <a:lumMod val="60000"/>
                        <a:lumOff val="40000"/>
                      </a:schemeClr>
                    </a:solidFill>
                  </a:tcPr>
                </a:tc>
                <a:tc>
                  <a:txBody>
                    <a:bodyPr/>
                    <a:lstStyle/>
                    <a:p>
                      <a:r>
                        <a:rPr lang="en-US" altLang="zh-CN" sz="1100">
                          <a:effectLst/>
                        </a:rPr>
                        <a:t>716,678,975</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3375551495"/>
                  </a:ext>
                </a:extLst>
              </a:tr>
              <a:tr h="229018">
                <a:tc>
                  <a:txBody>
                    <a:bodyPr/>
                    <a:lstStyle/>
                    <a:p>
                      <a:r>
                        <a:rPr lang="en" sz="1100">
                          <a:effectLst/>
                        </a:rPr>
                        <a:t>ecoder.postproc</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100">
                          <a:effectLst/>
                        </a:rPr>
                        <a:t>2,536,618</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100">
                          <a:effectLst/>
                        </a:rPr>
                        <a:t>2,879,540</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100">
                          <a:effectLst/>
                        </a:rPr>
                        <a:t>-342,922</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extLst>
                  <a:ext uri="{0D108BD9-81ED-4DB2-BD59-A6C34878D82A}">
                    <a16:rowId xmlns:a16="http://schemas.microsoft.com/office/drawing/2014/main" val="3956209205"/>
                  </a:ext>
                </a:extLst>
              </a:tr>
              <a:tr h="229018">
                <a:tc>
                  <a:txBody>
                    <a:bodyPr/>
                    <a:lstStyle/>
                    <a:p>
                      <a:r>
                        <a:rPr lang="en" sz="1100">
                          <a:effectLst/>
                        </a:rPr>
                        <a:t>decoder.preproc</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100">
                          <a:effectLst/>
                        </a:rPr>
                        <a:t>2,154,692</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100">
                          <a:effectLst/>
                        </a:rPr>
                        <a:t>2,744,691</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100">
                          <a:effectLst/>
                        </a:rPr>
                        <a:t>-589,999</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1488992772"/>
                  </a:ext>
                </a:extLst>
              </a:tr>
              <a:tr h="229018">
                <a:tc>
                  <a:txBody>
                    <a:bodyPr/>
                    <a:lstStyle/>
                    <a:p>
                      <a:r>
                        <a:rPr lang="en" sz="1100">
                          <a:effectLst/>
                        </a:rPr>
                        <a:t>c2@1.2-mediatek</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100">
                          <a:effectLst/>
                        </a:rPr>
                        <a:t>17,763,606</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100">
                          <a:effectLst/>
                        </a:rPr>
                        <a:t>209,828,313</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100">
                          <a:effectLst/>
                        </a:rPr>
                        <a:t>-192,064,707</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extLst>
                  <a:ext uri="{0D108BD9-81ED-4DB2-BD59-A6C34878D82A}">
                    <a16:rowId xmlns:a16="http://schemas.microsoft.com/office/drawing/2014/main" val="3269537044"/>
                  </a:ext>
                </a:extLst>
              </a:tr>
              <a:tr h="229018">
                <a:tc>
                  <a:txBody>
                    <a:bodyPr/>
                    <a:lstStyle/>
                    <a:p>
                      <a:r>
                        <a:rPr lang="en" sz="1100">
                          <a:effectLst/>
                        </a:rPr>
                        <a:t>BMFetchThread</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100">
                          <a:effectLst/>
                        </a:rPr>
                        <a:t>53,714,078</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100">
                          <a:effectLst/>
                        </a:rPr>
                        <a:t>49,231,369</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100">
                          <a:effectLst/>
                        </a:rPr>
                        <a:t>4,482,709</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1218500105"/>
                  </a:ext>
                </a:extLst>
              </a:tr>
              <a:tr h="229018">
                <a:tc>
                  <a:txBody>
                    <a:bodyPr/>
                    <a:lstStyle/>
                    <a:p>
                      <a:r>
                        <a:rPr lang="en" sz="1100">
                          <a:effectLst/>
                        </a:rPr>
                        <a:t>BMCcFetchThread</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100">
                          <a:effectLst/>
                        </a:rPr>
                        <a:t>900,412,395</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100">
                          <a:effectLst/>
                        </a:rPr>
                        <a:t>724,106,209</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100">
                          <a:effectLst/>
                        </a:rPr>
                        <a:t>176,306,186</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extLst>
                  <a:ext uri="{0D108BD9-81ED-4DB2-BD59-A6C34878D82A}">
                    <a16:rowId xmlns:a16="http://schemas.microsoft.com/office/drawing/2014/main" val="3092678073"/>
                  </a:ext>
                </a:extLst>
              </a:tr>
              <a:tr h="229018">
                <a:tc>
                  <a:txBody>
                    <a:bodyPr/>
                    <a:lstStyle/>
                    <a:p>
                      <a:r>
                        <a:rPr lang="en" sz="1100">
                          <a:effectLst/>
                        </a:rPr>
                        <a:t>Binder:_7</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100">
                          <a:effectLst/>
                        </a:rPr>
                        <a:t>57,530,907</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100">
                          <a:effectLst/>
                        </a:rPr>
                        <a:t>168,750,234</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100">
                          <a:effectLst/>
                        </a:rPr>
                        <a:t>-111,219,327</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3875501114"/>
                  </a:ext>
                </a:extLst>
              </a:tr>
              <a:tr h="229018">
                <a:tc>
                  <a:txBody>
                    <a:bodyPr/>
                    <a:lstStyle/>
                    <a:p>
                      <a:r>
                        <a:rPr lang="en" sz="1100">
                          <a:effectLst/>
                        </a:rPr>
                        <a:t>Binder:_6</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100">
                          <a:effectLst/>
                        </a:rPr>
                        <a:t>228,344,549</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100">
                          <a:effectLst/>
                        </a:rPr>
                        <a:t>165,876,454</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100">
                          <a:effectLst/>
                        </a:rPr>
                        <a:t>62,468,095</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extLst>
                  <a:ext uri="{0D108BD9-81ED-4DB2-BD59-A6C34878D82A}">
                    <a16:rowId xmlns:a16="http://schemas.microsoft.com/office/drawing/2014/main" val="1781755408"/>
                  </a:ext>
                </a:extLst>
              </a:tr>
              <a:tr h="229018">
                <a:tc>
                  <a:txBody>
                    <a:bodyPr/>
                    <a:lstStyle/>
                    <a:p>
                      <a:r>
                        <a:rPr lang="en" sz="1100">
                          <a:effectLst/>
                        </a:rPr>
                        <a:t>Binder:_5</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100">
                          <a:effectLst/>
                        </a:rPr>
                        <a:t>405,462</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100">
                          <a:effectLst/>
                        </a:rPr>
                        <a:t>116,271,455</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100">
                          <a:effectLst/>
                        </a:rPr>
                        <a:t>-115,865,993</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2303909546"/>
                  </a:ext>
                </a:extLst>
              </a:tr>
              <a:tr h="229018">
                <a:tc>
                  <a:txBody>
                    <a:bodyPr/>
                    <a:lstStyle/>
                    <a:p>
                      <a:r>
                        <a:rPr lang="en" sz="1100">
                          <a:effectLst/>
                        </a:rPr>
                        <a:t>Binder:_4</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100">
                          <a:effectLst/>
                        </a:rPr>
                        <a:t>159,843,537</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100">
                          <a:effectLst/>
                        </a:rPr>
                        <a:t>0</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100">
                          <a:effectLst/>
                        </a:rPr>
                        <a:t>159,843,537</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extLst>
                  <a:ext uri="{0D108BD9-81ED-4DB2-BD59-A6C34878D82A}">
                    <a16:rowId xmlns:a16="http://schemas.microsoft.com/office/drawing/2014/main" val="2856466731"/>
                  </a:ext>
                </a:extLst>
              </a:tr>
              <a:tr h="229018">
                <a:tc>
                  <a:txBody>
                    <a:bodyPr/>
                    <a:lstStyle/>
                    <a:p>
                      <a:r>
                        <a:rPr lang="en" sz="1100">
                          <a:effectLst/>
                        </a:rPr>
                        <a:t>Binder:_3</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100">
                          <a:effectLst/>
                        </a:rPr>
                        <a:t>137,572,234</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100">
                          <a:effectLst/>
                        </a:rPr>
                        <a:t>191,159,153</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100">
                          <a:effectLst/>
                        </a:rPr>
                        <a:t>-53,586,919</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2924780860"/>
                  </a:ext>
                </a:extLst>
              </a:tr>
              <a:tr h="229018">
                <a:tc>
                  <a:txBody>
                    <a:bodyPr/>
                    <a:lstStyle/>
                    <a:p>
                      <a:r>
                        <a:rPr lang="en" sz="1100">
                          <a:effectLst/>
                        </a:rPr>
                        <a:t>Binder:_2</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100">
                          <a:effectLst/>
                        </a:rPr>
                        <a:t>192,606,602</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100">
                          <a:effectLst/>
                        </a:rPr>
                        <a:t>1,301,000</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100">
                          <a:effectLst/>
                        </a:rPr>
                        <a:t>191,305,602</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extLst>
                  <a:ext uri="{0D108BD9-81ED-4DB2-BD59-A6C34878D82A}">
                    <a16:rowId xmlns:a16="http://schemas.microsoft.com/office/drawing/2014/main" val="4130746311"/>
                  </a:ext>
                </a:extLst>
              </a:tr>
              <a:tr h="229018">
                <a:tc>
                  <a:txBody>
                    <a:bodyPr/>
                    <a:lstStyle/>
                    <a:p>
                      <a:r>
                        <a:rPr lang="en" sz="1100">
                          <a:effectLst/>
                        </a:rPr>
                        <a:t>Binder:_1</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100">
                          <a:effectLst/>
                        </a:rPr>
                        <a:t>232,497,853</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100">
                          <a:effectLst/>
                        </a:rPr>
                        <a:t>16,156,769</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100">
                          <a:effectLst/>
                        </a:rPr>
                        <a:t>216,341,084</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3733526548"/>
                  </a:ext>
                </a:extLst>
              </a:tr>
              <a:tr h="229018">
                <a:tc>
                  <a:txBody>
                    <a:bodyPr/>
                    <a:lstStyle/>
                    <a:p>
                      <a:r>
                        <a:rPr lang="en" sz="1100">
                          <a:effectLst/>
                        </a:rPr>
                        <a:t>Total</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100">
                          <a:effectLst/>
                        </a:rPr>
                        <a:t>6,457,141,633</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100">
                          <a:effectLst/>
                        </a:rPr>
                        <a:t>4,744,103,056</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100">
                          <a:effectLst/>
                        </a:rPr>
                        <a:t>1,713,038,577</a:t>
                      </a:r>
                    </a:p>
                  </a:txBody>
                  <a:tcPr marL="72971" marR="72971" marT="33679" marB="33679"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extLst>
                  <a:ext uri="{0D108BD9-81ED-4DB2-BD59-A6C34878D82A}">
                    <a16:rowId xmlns:a16="http://schemas.microsoft.com/office/drawing/2014/main" val="2557389705"/>
                  </a:ext>
                </a:extLst>
              </a:tr>
            </a:tbl>
          </a:graphicData>
        </a:graphic>
      </p:graphicFrame>
      <p:sp>
        <p:nvSpPr>
          <p:cNvPr id="2" name="文本框 1">
            <a:extLst>
              <a:ext uri="{FF2B5EF4-FFF2-40B4-BE49-F238E27FC236}">
                <a16:creationId xmlns:a16="http://schemas.microsoft.com/office/drawing/2014/main" id="{BC4A4DA7-43CF-963C-C314-D4FD0EA39328}"/>
              </a:ext>
            </a:extLst>
          </p:cNvPr>
          <p:cNvSpPr txBox="1"/>
          <p:nvPr/>
        </p:nvSpPr>
        <p:spPr>
          <a:xfrm>
            <a:off x="360799" y="970967"/>
            <a:ext cx="10351360" cy="369332"/>
          </a:xfrm>
          <a:prstGeom prst="rect">
            <a:avLst/>
          </a:prstGeom>
          <a:noFill/>
        </p:spPr>
        <p:txBody>
          <a:bodyPr wrap="none" rtlCol="0">
            <a:spAutoFit/>
          </a:bodyPr>
          <a:lstStyle/>
          <a:p>
            <a:r>
              <a:rPr kumimoji="1" lang="zh-CN" altLang="en-US"/>
              <a:t>详细展开</a:t>
            </a:r>
            <a:r>
              <a:rPr kumimoji="1" lang="en-US" altLang="zh-CN"/>
              <a:t>media.c2</a:t>
            </a:r>
            <a:r>
              <a:rPr kumimoji="1" lang="zh-CN" altLang="en-US"/>
              <a:t>进程的所有同名线程的具体耗时来对比，先看其中差异最大的</a:t>
            </a:r>
            <a:r>
              <a:rPr kumimoji="1" lang="en-US" altLang="zh-CN"/>
              <a:t>postprocasync1</a:t>
            </a:r>
            <a:r>
              <a:rPr kumimoji="1" lang="zh-CN" altLang="en-US"/>
              <a:t>线程。</a:t>
            </a:r>
          </a:p>
        </p:txBody>
      </p:sp>
    </p:spTree>
    <p:extLst>
      <p:ext uri="{BB962C8B-B14F-4D97-AF65-F5344CB8AC3E}">
        <p14:creationId xmlns:p14="http://schemas.microsoft.com/office/powerpoint/2010/main" val="25783536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1B4614F1-288C-E26A-A87A-C41DFD1E0A31}"/>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964163BF-AA1E-E33E-8D63-A7274D986238}"/>
              </a:ext>
            </a:extLst>
          </p:cNvPr>
          <p:cNvSpPr txBox="1"/>
          <p:nvPr/>
        </p:nvSpPr>
        <p:spPr>
          <a:xfrm>
            <a:off x="2003482" y="225070"/>
            <a:ext cx="3312125" cy="369332"/>
          </a:xfrm>
          <a:prstGeom prst="rect">
            <a:avLst/>
          </a:prstGeom>
          <a:noFill/>
        </p:spPr>
        <p:txBody>
          <a:bodyPr wrap="none" rtlCol="0">
            <a:spAutoFit/>
          </a:bodyPr>
          <a:lstStyle/>
          <a:p>
            <a:r>
              <a:rPr kumimoji="1" lang="zh-CN" altLang="en-US" b="1">
                <a:latin typeface="Microsoft YaHei" panose="020B0503020204020204" pitchFamily="34" charset="-122"/>
                <a:ea typeface="Microsoft YaHei" panose="020B0503020204020204" pitchFamily="34" charset="-122"/>
              </a:rPr>
              <a:t>场景三：抖音直播间上滑十次</a:t>
            </a:r>
            <a:endParaRPr lang="zh-CN" altLang="en-US" b="1">
              <a:latin typeface="Microsoft YaHei" panose="020B0503020204020204" pitchFamily="34" charset="-122"/>
              <a:ea typeface="Microsoft YaHei" panose="020B0503020204020204" pitchFamily="34" charset="-122"/>
            </a:endParaRPr>
          </a:p>
        </p:txBody>
      </p:sp>
      <p:graphicFrame>
        <p:nvGraphicFramePr>
          <p:cNvPr id="2" name="表格 1">
            <a:extLst>
              <a:ext uri="{FF2B5EF4-FFF2-40B4-BE49-F238E27FC236}">
                <a16:creationId xmlns:a16="http://schemas.microsoft.com/office/drawing/2014/main" id="{34EBA2FF-3728-080C-429E-686FFA15AD76}"/>
              </a:ext>
            </a:extLst>
          </p:cNvPr>
          <p:cNvGraphicFramePr>
            <a:graphicFrameLocks noGrp="1"/>
          </p:cNvGraphicFramePr>
          <p:nvPr>
            <p:extLst>
              <p:ext uri="{D42A27DB-BD31-4B8C-83A1-F6EECF244321}">
                <p14:modId xmlns:p14="http://schemas.microsoft.com/office/powerpoint/2010/main" val="4172622021"/>
              </p:ext>
            </p:extLst>
          </p:nvPr>
        </p:nvGraphicFramePr>
        <p:xfrm>
          <a:off x="417443" y="2043583"/>
          <a:ext cx="11502126" cy="4845760"/>
        </p:xfrm>
        <a:graphic>
          <a:graphicData uri="http://schemas.openxmlformats.org/drawingml/2006/table">
            <a:tbl>
              <a:tblPr/>
              <a:tblGrid>
                <a:gridCol w="1278014">
                  <a:extLst>
                    <a:ext uri="{9D8B030D-6E8A-4147-A177-3AD203B41FA5}">
                      <a16:colId xmlns:a16="http://schemas.microsoft.com/office/drawing/2014/main" val="133886350"/>
                    </a:ext>
                  </a:extLst>
                </a:gridCol>
                <a:gridCol w="1476622">
                  <a:extLst>
                    <a:ext uri="{9D8B030D-6E8A-4147-A177-3AD203B41FA5}">
                      <a16:colId xmlns:a16="http://schemas.microsoft.com/office/drawing/2014/main" val="2798151709"/>
                    </a:ext>
                  </a:extLst>
                </a:gridCol>
                <a:gridCol w="1079406">
                  <a:extLst>
                    <a:ext uri="{9D8B030D-6E8A-4147-A177-3AD203B41FA5}">
                      <a16:colId xmlns:a16="http://schemas.microsoft.com/office/drawing/2014/main" val="535926524"/>
                    </a:ext>
                  </a:extLst>
                </a:gridCol>
                <a:gridCol w="1278014">
                  <a:extLst>
                    <a:ext uri="{9D8B030D-6E8A-4147-A177-3AD203B41FA5}">
                      <a16:colId xmlns:a16="http://schemas.microsoft.com/office/drawing/2014/main" val="3172672100"/>
                    </a:ext>
                  </a:extLst>
                </a:gridCol>
                <a:gridCol w="1278014">
                  <a:extLst>
                    <a:ext uri="{9D8B030D-6E8A-4147-A177-3AD203B41FA5}">
                      <a16:colId xmlns:a16="http://schemas.microsoft.com/office/drawing/2014/main" val="734451825"/>
                    </a:ext>
                  </a:extLst>
                </a:gridCol>
                <a:gridCol w="1278014">
                  <a:extLst>
                    <a:ext uri="{9D8B030D-6E8A-4147-A177-3AD203B41FA5}">
                      <a16:colId xmlns:a16="http://schemas.microsoft.com/office/drawing/2014/main" val="3036738476"/>
                    </a:ext>
                  </a:extLst>
                </a:gridCol>
                <a:gridCol w="1406432">
                  <a:extLst>
                    <a:ext uri="{9D8B030D-6E8A-4147-A177-3AD203B41FA5}">
                      <a16:colId xmlns:a16="http://schemas.microsoft.com/office/drawing/2014/main" val="862443096"/>
                    </a:ext>
                  </a:extLst>
                </a:gridCol>
                <a:gridCol w="1149596">
                  <a:extLst>
                    <a:ext uri="{9D8B030D-6E8A-4147-A177-3AD203B41FA5}">
                      <a16:colId xmlns:a16="http://schemas.microsoft.com/office/drawing/2014/main" val="3486686528"/>
                    </a:ext>
                  </a:extLst>
                </a:gridCol>
                <a:gridCol w="1278014">
                  <a:extLst>
                    <a:ext uri="{9D8B030D-6E8A-4147-A177-3AD203B41FA5}">
                      <a16:colId xmlns:a16="http://schemas.microsoft.com/office/drawing/2014/main" val="2006747153"/>
                    </a:ext>
                  </a:extLst>
                </a:gridCol>
              </a:tblGrid>
              <a:tr h="241741">
                <a:tc gridSpan="4">
                  <a:txBody>
                    <a:bodyPr/>
                    <a:lstStyle/>
                    <a:p>
                      <a:pPr algn="ctr"/>
                      <a:r>
                        <a:rPr lang="zh-CN" altLang="en-US" sz="1400">
                          <a:effectLst/>
                        </a:rPr>
                        <a:t>上一代</a:t>
                      </a:r>
                      <a:endParaRPr lang="en-US" altLang="zh-CN"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hMerge="1">
                  <a:txBody>
                    <a:bodyPr/>
                    <a:lstStyle/>
                    <a:p>
                      <a:endParaRPr lang="en" sz="7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hMerge="1">
                  <a:txBody>
                    <a:bodyPr/>
                    <a:lstStyle/>
                    <a:p>
                      <a:endParaRPr lang="en-US" altLang="zh-CN" sz="7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hMerge="1">
                  <a:txBody>
                    <a:bodyPr/>
                    <a:lstStyle/>
                    <a:p>
                      <a:endParaRPr lang="en-US" altLang="zh-CN" sz="7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endParaRPr lang="zh-CN" altLang="en-US"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gridSpan="4">
                  <a:txBody>
                    <a:bodyPr/>
                    <a:lstStyle/>
                    <a:p>
                      <a:pPr algn="ctr"/>
                      <a:r>
                        <a:rPr lang="en-US" altLang="zh-CN" sz="1400">
                          <a:effectLst/>
                        </a:rPr>
                        <a:t>M639</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hMerge="1">
                  <a:txBody>
                    <a:bodyPr/>
                    <a:lstStyle/>
                    <a:p>
                      <a:endParaRPr lang="en" sz="7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hMerge="1">
                  <a:txBody>
                    <a:bodyPr/>
                    <a:lstStyle/>
                    <a:p>
                      <a:endParaRPr lang="en-US" altLang="zh-CN" sz="7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hMerge="1">
                  <a:txBody>
                    <a:bodyPr/>
                    <a:lstStyle/>
                    <a:p>
                      <a:endParaRPr lang="en-US" altLang="zh-CN" sz="7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extLst>
                  <a:ext uri="{0D108BD9-81ED-4DB2-BD59-A6C34878D82A}">
                    <a16:rowId xmlns:a16="http://schemas.microsoft.com/office/drawing/2014/main" val="2611641945"/>
                  </a:ext>
                </a:extLst>
              </a:tr>
              <a:tr h="241741">
                <a:tc>
                  <a:txBody>
                    <a:bodyPr/>
                    <a:lstStyle/>
                    <a:p>
                      <a:r>
                        <a:rPr lang="en-US" altLang="zh-CN" sz="1400">
                          <a:effectLst/>
                        </a:rPr>
                        <a:t>8516</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210203379</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210</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endParaRPr lang="zh-CN" altLang="en-US"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8729</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162830999</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163</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extLst>
                  <a:ext uri="{0D108BD9-81ED-4DB2-BD59-A6C34878D82A}">
                    <a16:rowId xmlns:a16="http://schemas.microsoft.com/office/drawing/2014/main" val="1056700447"/>
                  </a:ext>
                </a:extLst>
              </a:tr>
              <a:tr h="241741">
                <a:tc>
                  <a:txBody>
                    <a:bodyPr/>
                    <a:lstStyle/>
                    <a:p>
                      <a:r>
                        <a:rPr lang="en-US" altLang="zh-CN" sz="1400">
                          <a:effectLst/>
                        </a:rPr>
                        <a:t>8524</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97793457</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98</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endParaRPr lang="zh-CN" altLang="en-US"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8736</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66248994</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66</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1729307657"/>
                  </a:ext>
                </a:extLst>
              </a:tr>
              <a:tr h="241741">
                <a:tc>
                  <a:txBody>
                    <a:bodyPr/>
                    <a:lstStyle/>
                    <a:p>
                      <a:r>
                        <a:rPr lang="en-US" altLang="zh-CN" sz="1400">
                          <a:effectLst/>
                        </a:rPr>
                        <a:t>8525</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327616</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0</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endParaRPr lang="zh-CN" altLang="en-US"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8737</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430691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0</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extLst>
                  <a:ext uri="{0D108BD9-81ED-4DB2-BD59-A6C34878D82A}">
                    <a16:rowId xmlns:a16="http://schemas.microsoft.com/office/drawing/2014/main" val="4124478536"/>
                  </a:ext>
                </a:extLst>
              </a:tr>
              <a:tr h="241741">
                <a:tc>
                  <a:txBody>
                    <a:bodyPr/>
                    <a:lstStyle/>
                    <a:p>
                      <a:r>
                        <a:rPr lang="en-US" altLang="zh-CN" sz="1400">
                          <a:effectLst/>
                        </a:rPr>
                        <a:t>8562</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33915992</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34</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endParaRPr lang="zh-CN" altLang="en-US"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8834</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136346149</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136</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2574628475"/>
                  </a:ext>
                </a:extLst>
              </a:tr>
              <a:tr h="241741">
                <a:tc>
                  <a:txBody>
                    <a:bodyPr/>
                    <a:lstStyle/>
                    <a:p>
                      <a:r>
                        <a:rPr lang="en-US" altLang="zh-CN" sz="1400">
                          <a:effectLst/>
                        </a:rPr>
                        <a:t>8563</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221692</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0</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endParaRPr lang="zh-CN" altLang="en-US"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8860</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57115150</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57</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extLst>
                  <a:ext uri="{0D108BD9-81ED-4DB2-BD59-A6C34878D82A}">
                    <a16:rowId xmlns:a16="http://schemas.microsoft.com/office/drawing/2014/main" val="1461070822"/>
                  </a:ext>
                </a:extLst>
              </a:tr>
              <a:tr h="241741">
                <a:tc>
                  <a:txBody>
                    <a:bodyPr/>
                    <a:lstStyle/>
                    <a:p>
                      <a:r>
                        <a:rPr lang="en-US" altLang="zh-CN" sz="1400">
                          <a:effectLst/>
                        </a:rPr>
                        <a:t>8613</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175815314</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176</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endParaRPr lang="zh-CN" altLang="en-US"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8861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136384</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0</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3417010654"/>
                  </a:ext>
                </a:extLst>
              </a:tr>
              <a:tr h="241741">
                <a:tc>
                  <a:txBody>
                    <a:bodyPr/>
                    <a:lstStyle/>
                    <a:p>
                      <a:r>
                        <a:rPr lang="en-US" altLang="zh-CN" sz="1400">
                          <a:effectLst/>
                        </a:rPr>
                        <a:t>8627</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49109162</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49</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endParaRPr lang="zh-CN" altLang="en-US"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8892</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221890774</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222</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extLst>
                  <a:ext uri="{0D108BD9-81ED-4DB2-BD59-A6C34878D82A}">
                    <a16:rowId xmlns:a16="http://schemas.microsoft.com/office/drawing/2014/main" val="1116940639"/>
                  </a:ext>
                </a:extLst>
              </a:tr>
              <a:tr h="241741">
                <a:tc>
                  <a:txBody>
                    <a:bodyPr/>
                    <a:lstStyle/>
                    <a:p>
                      <a:r>
                        <a:rPr lang="en-US" altLang="zh-CN" sz="1400">
                          <a:effectLst/>
                        </a:rPr>
                        <a:t>8628</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870462</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endParaRPr lang="zh-CN" altLang="en-US"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8904</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121967687</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122</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4131243817"/>
                  </a:ext>
                </a:extLst>
              </a:tr>
              <a:tr h="241741">
                <a:tc>
                  <a:txBody>
                    <a:bodyPr/>
                    <a:lstStyle/>
                    <a:p>
                      <a:r>
                        <a:rPr lang="en-US" altLang="zh-CN" sz="1400">
                          <a:effectLst/>
                        </a:rPr>
                        <a:t>8668</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222577080</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223</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endParaRPr lang="zh-CN" altLang="en-US"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8905</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194077</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0</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extLst>
                  <a:ext uri="{0D108BD9-81ED-4DB2-BD59-A6C34878D82A}">
                    <a16:rowId xmlns:a16="http://schemas.microsoft.com/office/drawing/2014/main" val="768467569"/>
                  </a:ext>
                </a:extLst>
              </a:tr>
              <a:tr h="241741">
                <a:tc>
                  <a:txBody>
                    <a:bodyPr/>
                    <a:lstStyle/>
                    <a:p>
                      <a:r>
                        <a:rPr lang="en-US" altLang="zh-CN" sz="1400">
                          <a:effectLst/>
                        </a:rPr>
                        <a:t>8674</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46760696</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47</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endParaRPr lang="zh-CN" altLang="en-US"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8934</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116883226</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117</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3598809438"/>
                  </a:ext>
                </a:extLst>
              </a:tr>
              <a:tr h="241741">
                <a:tc>
                  <a:txBody>
                    <a:bodyPr/>
                    <a:lstStyle/>
                    <a:p>
                      <a:r>
                        <a:rPr lang="en-US" altLang="zh-CN" sz="1400">
                          <a:effectLst/>
                        </a:rPr>
                        <a:t>8675</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192078</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0</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endParaRPr lang="zh-CN" altLang="en-US"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8949</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50516461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51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extLst>
                  <a:ext uri="{0D108BD9-81ED-4DB2-BD59-A6C34878D82A}">
                    <a16:rowId xmlns:a16="http://schemas.microsoft.com/office/drawing/2014/main" val="1226424378"/>
                  </a:ext>
                </a:extLst>
              </a:tr>
              <a:tr h="241741">
                <a:tc>
                  <a:txBody>
                    <a:bodyPr/>
                    <a:lstStyle/>
                    <a:p>
                      <a:r>
                        <a:rPr lang="en-US" altLang="zh-CN" sz="1400">
                          <a:effectLst/>
                        </a:rPr>
                        <a:t>8697</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152069844</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152</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endParaRPr lang="zh-CN" altLang="en-US"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8950</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294923</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0</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571323275"/>
                  </a:ext>
                </a:extLst>
              </a:tr>
              <a:tr h="241741">
                <a:tc>
                  <a:txBody>
                    <a:bodyPr/>
                    <a:lstStyle/>
                    <a:p>
                      <a:r>
                        <a:rPr lang="en-US" altLang="zh-CN" sz="1400">
                          <a:effectLst/>
                        </a:rPr>
                        <a:t>8703</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50368233</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50</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endParaRPr lang="zh-CN" altLang="en-US"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8974</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295553992</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296</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extLst>
                  <a:ext uri="{0D108BD9-81ED-4DB2-BD59-A6C34878D82A}">
                    <a16:rowId xmlns:a16="http://schemas.microsoft.com/office/drawing/2014/main" val="2014603926"/>
                  </a:ext>
                </a:extLst>
              </a:tr>
              <a:tr h="241741">
                <a:tc>
                  <a:txBody>
                    <a:bodyPr/>
                    <a:lstStyle/>
                    <a:p>
                      <a:r>
                        <a:rPr lang="en-US" altLang="zh-CN" sz="1400">
                          <a:effectLst/>
                        </a:rPr>
                        <a:t>8704</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449384</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0</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endParaRPr lang="zh-CN" altLang="en-US"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8980</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161428229</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161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3904292580"/>
                  </a:ext>
                </a:extLst>
              </a:tr>
              <a:tr h="241741">
                <a:tc>
                  <a:txBody>
                    <a:bodyPr/>
                    <a:lstStyle/>
                    <a:p>
                      <a:r>
                        <a:rPr lang="en-US" altLang="zh-CN" sz="1400">
                          <a:effectLst/>
                        </a:rPr>
                        <a:t>8737</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58435994</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58</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endParaRPr lang="zh-CN" altLang="en-US"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8981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264384</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0</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extLst>
                  <a:ext uri="{0D108BD9-81ED-4DB2-BD59-A6C34878D82A}">
                    <a16:rowId xmlns:a16="http://schemas.microsoft.com/office/drawing/2014/main" val="2218326094"/>
                  </a:ext>
                </a:extLst>
              </a:tr>
              <a:tr h="241741">
                <a:tc>
                  <a:txBody>
                    <a:bodyPr/>
                    <a:lstStyle/>
                    <a:p>
                      <a:r>
                        <a:rPr lang="en-US" altLang="zh-CN" sz="1400">
                          <a:effectLst/>
                        </a:rPr>
                        <a:t>8738</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63308</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0</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endParaRPr lang="zh-CN" altLang="en-US"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9007</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178366176</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178</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818936149"/>
                  </a:ext>
                </a:extLst>
              </a:tr>
              <a:tr h="241741">
                <a:tc>
                  <a:txBody>
                    <a:bodyPr/>
                    <a:lstStyle/>
                    <a:p>
                      <a:endParaRPr lang="zh-CN" altLang="en-US"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endParaRPr lang="zh-CN" altLang="en-US"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endParaRPr lang="zh-CN" altLang="en-US"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endParaRPr lang="zh-CN" altLang="en-US"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endParaRPr lang="zh-CN" altLang="en-US"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9013</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71993613</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tc>
                  <a:txBody>
                    <a:bodyPr/>
                    <a:lstStyle/>
                    <a:p>
                      <a:r>
                        <a:rPr lang="en-US" altLang="zh-CN" sz="1400">
                          <a:effectLst/>
                        </a:rPr>
                        <a:t>72</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solidFill>
                      <a:srgbClr val="F8F8F8"/>
                    </a:solidFill>
                  </a:tcPr>
                </a:tc>
                <a:extLst>
                  <a:ext uri="{0D108BD9-81ED-4DB2-BD59-A6C34878D82A}">
                    <a16:rowId xmlns:a16="http://schemas.microsoft.com/office/drawing/2014/main" val="1060297783"/>
                  </a:ext>
                </a:extLst>
              </a:tr>
              <a:tr h="241741">
                <a:tc>
                  <a:txBody>
                    <a:bodyPr/>
                    <a:lstStyle/>
                    <a:p>
                      <a:endParaRPr lang="zh-CN" altLang="en-US"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endParaRPr lang="zh-CN" altLang="en-US"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endParaRPr lang="zh-CN" altLang="en-US"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endParaRPr lang="zh-CN" altLang="en-US"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endParaRPr lang="zh-CN" altLang="en-US" sz="1400">
                        <a:effectLst/>
                      </a:endParaRP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9014</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 sz="1400">
                          <a:effectLst/>
                        </a:rPr>
                        <a:t>postprocasyncs1</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52308</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tc>
                  <a:txBody>
                    <a:bodyPr/>
                    <a:lstStyle/>
                    <a:p>
                      <a:r>
                        <a:rPr lang="en-US" altLang="zh-CN" sz="1400">
                          <a:effectLst/>
                        </a:rPr>
                        <a:t>0</a:t>
                      </a:r>
                    </a:p>
                  </a:txBody>
                  <a:tcPr marL="45153" marR="45153" marT="20840" marB="20840" anchor="ctr">
                    <a:lnL w="9525" cap="flat" cmpd="sng" algn="ctr">
                      <a:solidFill>
                        <a:srgbClr val="DFE2E5"/>
                      </a:solidFill>
                      <a:prstDash val="solid"/>
                      <a:round/>
                      <a:headEnd type="none" w="med" len="med"/>
                      <a:tailEnd type="none" w="med" len="med"/>
                    </a:lnL>
                    <a:lnR w="9525" cap="flat" cmpd="sng" algn="ctr">
                      <a:solidFill>
                        <a:srgbClr val="DFE2E5"/>
                      </a:solidFill>
                      <a:prstDash val="solid"/>
                      <a:round/>
                      <a:headEnd type="none" w="med" len="med"/>
                      <a:tailEnd type="none" w="med" len="med"/>
                    </a:lnR>
                    <a:lnT w="9525" cap="flat" cmpd="sng" algn="ctr">
                      <a:solidFill>
                        <a:srgbClr val="DFE2E5"/>
                      </a:solidFill>
                      <a:prstDash val="solid"/>
                      <a:round/>
                      <a:headEnd type="none" w="med" len="med"/>
                      <a:tailEnd type="none" w="med" len="med"/>
                    </a:lnT>
                    <a:lnB w="9525" cap="flat" cmpd="sng" algn="ctr">
                      <a:solidFill>
                        <a:srgbClr val="DFE2E5"/>
                      </a:solidFill>
                      <a:prstDash val="solid"/>
                      <a:round/>
                      <a:headEnd type="none" w="med" len="med"/>
                      <a:tailEnd type="none" w="med" len="med"/>
                    </a:lnB>
                  </a:tcPr>
                </a:tc>
                <a:extLst>
                  <a:ext uri="{0D108BD9-81ED-4DB2-BD59-A6C34878D82A}">
                    <a16:rowId xmlns:a16="http://schemas.microsoft.com/office/drawing/2014/main" val="2510978111"/>
                  </a:ext>
                </a:extLst>
              </a:tr>
            </a:tbl>
          </a:graphicData>
        </a:graphic>
      </p:graphicFrame>
      <p:sp>
        <p:nvSpPr>
          <p:cNvPr id="4" name="文本框 3">
            <a:extLst>
              <a:ext uri="{FF2B5EF4-FFF2-40B4-BE49-F238E27FC236}">
                <a16:creationId xmlns:a16="http://schemas.microsoft.com/office/drawing/2014/main" id="{E2D771B4-771A-AF00-B13E-9C7CB7B88BF2}"/>
              </a:ext>
            </a:extLst>
          </p:cNvPr>
          <p:cNvSpPr txBox="1"/>
          <p:nvPr/>
        </p:nvSpPr>
        <p:spPr>
          <a:xfrm>
            <a:off x="316615" y="752204"/>
            <a:ext cx="11558770" cy="1291379"/>
          </a:xfrm>
          <a:prstGeom prst="rect">
            <a:avLst/>
          </a:prstGeom>
          <a:noFill/>
        </p:spPr>
        <p:txBody>
          <a:bodyPr wrap="square" rtlCol="0">
            <a:spAutoFit/>
          </a:bodyPr>
          <a:lstStyle/>
          <a:p>
            <a:pPr>
              <a:lnSpc>
                <a:spcPct val="150000"/>
              </a:lnSpc>
            </a:pPr>
            <a:r>
              <a:rPr kumimoji="1" lang="zh-CN" altLang="en-US"/>
              <a:t>继续详细展开</a:t>
            </a:r>
            <a:r>
              <a:rPr kumimoji="1" lang="en-US" altLang="zh-CN"/>
              <a:t>postprocasync1</a:t>
            </a:r>
            <a:r>
              <a:rPr kumimoji="1" lang="zh-CN" altLang="en-US"/>
              <a:t>线程，发现</a:t>
            </a:r>
            <a:r>
              <a:rPr kumimoji="1" lang="en-US" altLang="zh-CN"/>
              <a:t>postprocasync1</a:t>
            </a:r>
            <a:r>
              <a:rPr kumimoji="1" lang="zh-CN" altLang="en-US"/>
              <a:t>线程的数量上一代少了两个，由于上一代的播放次数少，这里数量少了先不关注。继续看该线程的</a:t>
            </a:r>
            <a:r>
              <a:rPr kumimoji="1" lang="en-US" altLang="zh-CN"/>
              <a:t>running</a:t>
            </a:r>
            <a:r>
              <a:rPr kumimoji="1" lang="zh-CN" altLang="en-US"/>
              <a:t>值有三种，</a:t>
            </a:r>
            <a:r>
              <a:rPr kumimoji="1" lang="en-US" altLang="zh-CN"/>
              <a:t>0ms</a:t>
            </a:r>
            <a:r>
              <a:rPr kumimoji="1" lang="zh-CN" altLang="en-US"/>
              <a:t>的</a:t>
            </a:r>
            <a:r>
              <a:rPr kumimoji="1" lang="en-US" altLang="zh-CN"/>
              <a:t>100</a:t>
            </a:r>
            <a:r>
              <a:rPr kumimoji="1" lang="zh-CN" altLang="en-US"/>
              <a:t>以内的和</a:t>
            </a:r>
            <a:r>
              <a:rPr kumimoji="1" lang="en-US" altLang="zh-CN"/>
              <a:t>100+</a:t>
            </a:r>
            <a:r>
              <a:rPr kumimoji="1" lang="zh-CN" altLang="en-US"/>
              <a:t>的。其中</a:t>
            </a:r>
            <a:r>
              <a:rPr kumimoji="1" lang="en-US" altLang="zh-CN"/>
              <a:t>M639</a:t>
            </a:r>
            <a:r>
              <a:rPr kumimoji="1" lang="zh-CN" altLang="en-US"/>
              <a:t>的</a:t>
            </a:r>
            <a:r>
              <a:rPr kumimoji="1" lang="en-US" altLang="zh-CN"/>
              <a:t>100+</a:t>
            </a:r>
            <a:r>
              <a:rPr kumimoji="1" lang="zh-CN" altLang="en-US"/>
              <a:t>的值的数量比上一代要多？</a:t>
            </a:r>
          </a:p>
        </p:txBody>
      </p:sp>
    </p:spTree>
    <p:extLst>
      <p:ext uri="{BB962C8B-B14F-4D97-AF65-F5344CB8AC3E}">
        <p14:creationId xmlns:p14="http://schemas.microsoft.com/office/powerpoint/2010/main" val="561741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圆角矩形 9">
            <a:extLst>
              <a:ext uri="{FF2B5EF4-FFF2-40B4-BE49-F238E27FC236}">
                <a16:creationId xmlns:a16="http://schemas.microsoft.com/office/drawing/2014/main" id="{C4D17DC3-E062-9C1A-1E3C-FA1480284562}"/>
              </a:ext>
            </a:extLst>
          </p:cNvPr>
          <p:cNvSpPr/>
          <p:nvPr/>
        </p:nvSpPr>
        <p:spPr>
          <a:xfrm>
            <a:off x="8432487" y="4910287"/>
            <a:ext cx="3374379" cy="1200329"/>
          </a:xfrm>
          <a:prstGeom prst="roundRect">
            <a:avLst>
              <a:gd name="adj" fmla="val 11948"/>
            </a:avLst>
          </a:prstGeom>
          <a:solidFill>
            <a:schemeClr val="accent1">
              <a:lumMod val="60000"/>
              <a:lumOff val="4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1B4614F1-288C-E26A-A87A-C41DFD1E0A31}"/>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964163BF-AA1E-E33E-8D63-A7274D986238}"/>
              </a:ext>
            </a:extLst>
          </p:cNvPr>
          <p:cNvSpPr txBox="1"/>
          <p:nvPr/>
        </p:nvSpPr>
        <p:spPr>
          <a:xfrm>
            <a:off x="2003482" y="225070"/>
            <a:ext cx="3312125" cy="369332"/>
          </a:xfrm>
          <a:prstGeom prst="rect">
            <a:avLst/>
          </a:prstGeom>
          <a:noFill/>
        </p:spPr>
        <p:txBody>
          <a:bodyPr wrap="none" rtlCol="0">
            <a:spAutoFit/>
          </a:bodyPr>
          <a:lstStyle/>
          <a:p>
            <a:r>
              <a:rPr kumimoji="1" lang="zh-CN" altLang="en-US" b="1">
                <a:latin typeface="Microsoft YaHei" panose="020B0503020204020204" pitchFamily="34" charset="-122"/>
                <a:ea typeface="Microsoft YaHei" panose="020B0503020204020204" pitchFamily="34" charset="-122"/>
              </a:rPr>
              <a:t>场景三：抖音直播间上滑十次</a:t>
            </a:r>
            <a:endParaRPr lang="zh-CN" altLang="en-US" b="1">
              <a:latin typeface="Microsoft YaHei" panose="020B0503020204020204" pitchFamily="34" charset="-122"/>
              <a:ea typeface="Microsoft YaHei" panose="020B0503020204020204" pitchFamily="34" charset="-122"/>
            </a:endParaRPr>
          </a:p>
        </p:txBody>
      </p:sp>
      <p:pic>
        <p:nvPicPr>
          <p:cNvPr id="6" name="图片 5" descr="应用程序&#10;&#10;中度可信度描述已自动生成">
            <a:extLst>
              <a:ext uri="{FF2B5EF4-FFF2-40B4-BE49-F238E27FC236}">
                <a16:creationId xmlns:a16="http://schemas.microsoft.com/office/drawing/2014/main" id="{96B84750-1E3C-32A8-65BA-8C829D8BA9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307" y="2231246"/>
            <a:ext cx="11419386" cy="1482578"/>
          </a:xfrm>
          <a:prstGeom prst="rect">
            <a:avLst/>
          </a:prstGeom>
        </p:spPr>
      </p:pic>
      <p:sp>
        <p:nvSpPr>
          <p:cNvPr id="2" name="文本框 1">
            <a:extLst>
              <a:ext uri="{FF2B5EF4-FFF2-40B4-BE49-F238E27FC236}">
                <a16:creationId xmlns:a16="http://schemas.microsoft.com/office/drawing/2014/main" id="{6F887A63-B452-DE65-BF6C-068B7040FB07}"/>
              </a:ext>
            </a:extLst>
          </p:cNvPr>
          <p:cNvSpPr txBox="1"/>
          <p:nvPr/>
        </p:nvSpPr>
        <p:spPr>
          <a:xfrm>
            <a:off x="307498" y="754693"/>
            <a:ext cx="11620162" cy="1291379"/>
          </a:xfrm>
          <a:prstGeom prst="rect">
            <a:avLst/>
          </a:prstGeom>
          <a:noFill/>
        </p:spPr>
        <p:txBody>
          <a:bodyPr wrap="square" rtlCol="0">
            <a:spAutoFit/>
          </a:bodyPr>
          <a:lstStyle/>
          <a:p>
            <a:pPr>
              <a:lnSpc>
                <a:spcPct val="150000"/>
              </a:lnSpc>
            </a:pPr>
            <a:r>
              <a:rPr kumimoji="1" lang="zh-CN" altLang="en-US"/>
              <a:t>查看</a:t>
            </a:r>
            <a:r>
              <a:rPr kumimoji="1" lang="en-US" altLang="zh-CN"/>
              <a:t>postprocasync1</a:t>
            </a:r>
            <a:r>
              <a:rPr kumimoji="1" lang="zh-CN" altLang="en-US"/>
              <a:t>线程的唤醒关系。发现该线程有两种唤醒关系，一种是间接被</a:t>
            </a:r>
            <a:r>
              <a:rPr kumimoji="1" lang="en-US" altLang="zh-CN"/>
              <a:t>BMCcFetchThread</a:t>
            </a:r>
            <a:r>
              <a:rPr kumimoji="1" lang="zh-CN" altLang="en-US"/>
              <a:t>唤醒，一种是被上一个自身的</a:t>
            </a:r>
            <a:r>
              <a:rPr kumimoji="1" lang="en-US" altLang="zh-CN"/>
              <a:t>running</a:t>
            </a:r>
            <a:r>
              <a:rPr kumimoji="1" lang="zh-CN" altLang="en-US"/>
              <a:t>的状态唤醒，而且唤醒链中存在另一个同名线程</a:t>
            </a:r>
            <a:r>
              <a:rPr kumimoji="1" lang="en-US" altLang="zh-CN"/>
              <a:t>postprocasync1‘</a:t>
            </a:r>
            <a:r>
              <a:rPr kumimoji="1" lang="zh-CN" altLang="en-US"/>
              <a:t>。</a:t>
            </a:r>
            <a:r>
              <a:rPr kumimoji="1" lang="en-US" altLang="zh-CN"/>
              <a:t> postprocasync1‘</a:t>
            </a:r>
            <a:r>
              <a:rPr kumimoji="1" lang="zh-CN" altLang="en-US"/>
              <a:t>的</a:t>
            </a:r>
            <a:r>
              <a:rPr kumimoji="1" lang="en-US" altLang="zh-CN"/>
              <a:t>running</a:t>
            </a:r>
            <a:r>
              <a:rPr kumimoji="1" lang="zh-CN" altLang="en-US"/>
              <a:t>时间相比</a:t>
            </a:r>
            <a:r>
              <a:rPr kumimoji="1" lang="en-US" altLang="zh-CN"/>
              <a:t>postprocasync1</a:t>
            </a:r>
            <a:r>
              <a:rPr kumimoji="1" lang="zh-CN" altLang="en-US"/>
              <a:t>要短一些，这对应上面统计的值的</a:t>
            </a:r>
            <a:r>
              <a:rPr kumimoji="1" lang="en-US" altLang="zh-CN"/>
              <a:t>100</a:t>
            </a:r>
            <a:r>
              <a:rPr kumimoji="1" lang="zh-CN" altLang="en-US"/>
              <a:t>以内的线程。</a:t>
            </a:r>
            <a:endParaRPr kumimoji="1" lang="en-US" altLang="zh-CN"/>
          </a:p>
        </p:txBody>
      </p:sp>
      <p:sp>
        <p:nvSpPr>
          <p:cNvPr id="7" name="文本框 6">
            <a:extLst>
              <a:ext uri="{FF2B5EF4-FFF2-40B4-BE49-F238E27FC236}">
                <a16:creationId xmlns:a16="http://schemas.microsoft.com/office/drawing/2014/main" id="{EF63ED3D-9E22-0FA1-322F-389F54DEB42E}"/>
              </a:ext>
            </a:extLst>
          </p:cNvPr>
          <p:cNvSpPr txBox="1"/>
          <p:nvPr/>
        </p:nvSpPr>
        <p:spPr>
          <a:xfrm>
            <a:off x="307498" y="3874115"/>
            <a:ext cx="11419385" cy="875881"/>
          </a:xfrm>
          <a:prstGeom prst="rect">
            <a:avLst/>
          </a:prstGeom>
          <a:noFill/>
        </p:spPr>
        <p:txBody>
          <a:bodyPr wrap="square">
            <a:spAutoFit/>
          </a:bodyPr>
          <a:lstStyle/>
          <a:p>
            <a:pPr>
              <a:lnSpc>
                <a:spcPct val="150000"/>
              </a:lnSpc>
            </a:pPr>
            <a:r>
              <a:rPr kumimoji="1" lang="zh-CN" altLang="en-US"/>
              <a:t>那么问题是</a:t>
            </a:r>
            <a:r>
              <a:rPr kumimoji="1" lang="en-US" altLang="zh-CN"/>
              <a:t>——</a:t>
            </a:r>
            <a:r>
              <a:rPr kumimoji="1" lang="zh-CN" altLang="en-US"/>
              <a:t>这两个同名线程是同时存在的，</a:t>
            </a:r>
            <a:r>
              <a:rPr kumimoji="1" lang="en-US" altLang="zh-CN"/>
              <a:t>100</a:t>
            </a:r>
            <a:r>
              <a:rPr kumimoji="1" lang="zh-CN" altLang="en-US"/>
              <a:t>以内的数值和</a:t>
            </a:r>
            <a:r>
              <a:rPr kumimoji="1" lang="en-US" altLang="zh-CN"/>
              <a:t>100+</a:t>
            </a:r>
            <a:r>
              <a:rPr kumimoji="1" lang="zh-CN" altLang="en-US"/>
              <a:t>应该是一起存在的。回去看之前的数据分布发现有几个</a:t>
            </a:r>
            <a:r>
              <a:rPr kumimoji="1" lang="en-US" altLang="zh-CN"/>
              <a:t>100</a:t>
            </a:r>
            <a:r>
              <a:rPr kumimoji="1" lang="zh-CN" altLang="en-US"/>
              <a:t>以内的数值缺少</a:t>
            </a:r>
            <a:r>
              <a:rPr kumimoji="1" lang="en-US" altLang="zh-CN"/>
              <a:t>100+</a:t>
            </a:r>
            <a:r>
              <a:rPr kumimoji="1" lang="zh-CN" altLang="en-US"/>
              <a:t>的数值存在。</a:t>
            </a:r>
          </a:p>
        </p:txBody>
      </p:sp>
      <p:pic>
        <p:nvPicPr>
          <p:cNvPr id="8" name="图片 7">
            <a:extLst>
              <a:ext uri="{FF2B5EF4-FFF2-40B4-BE49-F238E27FC236}">
                <a16:creationId xmlns:a16="http://schemas.microsoft.com/office/drawing/2014/main" id="{33F106D3-72F1-3DF1-0F76-276BFF1A55D2}"/>
              </a:ext>
            </a:extLst>
          </p:cNvPr>
          <p:cNvPicPr>
            <a:picLocks noChangeAspect="1"/>
          </p:cNvPicPr>
          <p:nvPr/>
        </p:nvPicPr>
        <p:blipFill rotWithShape="1">
          <a:blip r:embed="rId3"/>
          <a:srcRect b="52472"/>
          <a:stretch/>
        </p:blipFill>
        <p:spPr>
          <a:xfrm>
            <a:off x="417443" y="4826950"/>
            <a:ext cx="7772400" cy="1550215"/>
          </a:xfrm>
          <a:prstGeom prst="rect">
            <a:avLst/>
          </a:prstGeom>
        </p:spPr>
      </p:pic>
      <p:sp>
        <p:nvSpPr>
          <p:cNvPr id="9" name="文本框 8">
            <a:extLst>
              <a:ext uri="{FF2B5EF4-FFF2-40B4-BE49-F238E27FC236}">
                <a16:creationId xmlns:a16="http://schemas.microsoft.com/office/drawing/2014/main" id="{92D6873F-F326-99C2-A8A4-C493A8659BF3}"/>
              </a:ext>
            </a:extLst>
          </p:cNvPr>
          <p:cNvSpPr txBox="1"/>
          <p:nvPr/>
        </p:nvSpPr>
        <p:spPr>
          <a:xfrm>
            <a:off x="8432487" y="4929792"/>
            <a:ext cx="3495173" cy="1200329"/>
          </a:xfrm>
          <a:prstGeom prst="rect">
            <a:avLst/>
          </a:prstGeom>
          <a:noFill/>
        </p:spPr>
        <p:txBody>
          <a:bodyPr wrap="square" rtlCol="0">
            <a:spAutoFit/>
          </a:bodyPr>
          <a:lstStyle/>
          <a:p>
            <a:r>
              <a:rPr kumimoji="1" lang="zh-CN" altLang="en-US"/>
              <a:t>去</a:t>
            </a:r>
            <a:r>
              <a:rPr kumimoji="1" lang="en-US" altLang="zh-CN"/>
              <a:t>trace</a:t>
            </a:r>
            <a:r>
              <a:rPr kumimoji="1" lang="zh-CN" altLang="en-US"/>
              <a:t>中根据唤醒关系去查看对应的另一个同名线程发现是存在的，但是统计的数据中没有，和测试确认为解析工具的统计缺漏。</a:t>
            </a:r>
          </a:p>
        </p:txBody>
      </p:sp>
      <p:cxnSp>
        <p:nvCxnSpPr>
          <p:cNvPr id="12" name="直线箭头连接符 11">
            <a:extLst>
              <a:ext uri="{FF2B5EF4-FFF2-40B4-BE49-F238E27FC236}">
                <a16:creationId xmlns:a16="http://schemas.microsoft.com/office/drawing/2014/main" id="{E003249D-31AA-30E4-3245-9B0E2704E3BA}"/>
              </a:ext>
            </a:extLst>
          </p:cNvPr>
          <p:cNvCxnSpPr>
            <a:cxnSpLocks/>
          </p:cNvCxnSpPr>
          <p:nvPr/>
        </p:nvCxnSpPr>
        <p:spPr>
          <a:xfrm flipH="1" flipV="1">
            <a:off x="3759513" y="5592551"/>
            <a:ext cx="4672973" cy="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5768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1B4614F1-288C-E26A-A87A-C41DFD1E0A31}"/>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964163BF-AA1E-E33E-8D63-A7274D986238}"/>
              </a:ext>
            </a:extLst>
          </p:cNvPr>
          <p:cNvSpPr txBox="1"/>
          <p:nvPr/>
        </p:nvSpPr>
        <p:spPr>
          <a:xfrm>
            <a:off x="2003482" y="225070"/>
            <a:ext cx="3312125" cy="369332"/>
          </a:xfrm>
          <a:prstGeom prst="rect">
            <a:avLst/>
          </a:prstGeom>
          <a:noFill/>
        </p:spPr>
        <p:txBody>
          <a:bodyPr wrap="none" rtlCol="0">
            <a:spAutoFit/>
          </a:bodyPr>
          <a:lstStyle/>
          <a:p>
            <a:r>
              <a:rPr kumimoji="1" lang="zh-CN" altLang="en-US" b="1">
                <a:latin typeface="Microsoft YaHei" panose="020B0503020204020204" pitchFamily="34" charset="-122"/>
                <a:ea typeface="Microsoft YaHei" panose="020B0503020204020204" pitchFamily="34" charset="-122"/>
              </a:rPr>
              <a:t>场景三：抖音直播间上滑十次</a:t>
            </a:r>
            <a:endParaRPr lang="zh-CN" altLang="en-US" b="1">
              <a:latin typeface="Microsoft YaHei" panose="020B0503020204020204" pitchFamily="34" charset="-122"/>
              <a:ea typeface="Microsoft YaHei" panose="020B0503020204020204" pitchFamily="34" charset="-122"/>
            </a:endParaRPr>
          </a:p>
        </p:txBody>
      </p:sp>
      <p:pic>
        <p:nvPicPr>
          <p:cNvPr id="6" name="图片 5" descr="日程表&#10;&#10;描述已自动生成">
            <a:extLst>
              <a:ext uri="{FF2B5EF4-FFF2-40B4-BE49-F238E27FC236}">
                <a16:creationId xmlns:a16="http://schemas.microsoft.com/office/drawing/2014/main" id="{36BF8402-E72C-807D-B4EA-8850F7DDA0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66078" y="1209310"/>
            <a:ext cx="7772400" cy="3108960"/>
          </a:xfrm>
          <a:prstGeom prst="rect">
            <a:avLst/>
          </a:prstGeom>
        </p:spPr>
      </p:pic>
      <p:pic>
        <p:nvPicPr>
          <p:cNvPr id="8" name="图片 7" descr="图形用户界面, 应用程序&#10;&#10;描述已自动生成">
            <a:extLst>
              <a:ext uri="{FF2B5EF4-FFF2-40B4-BE49-F238E27FC236}">
                <a16:creationId xmlns:a16="http://schemas.microsoft.com/office/drawing/2014/main" id="{0DCCCDE3-6AA4-80E8-EA7B-BD8DCA8BB7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6637" y="4318270"/>
            <a:ext cx="7772400" cy="2360826"/>
          </a:xfrm>
          <a:prstGeom prst="rect">
            <a:avLst/>
          </a:prstGeom>
        </p:spPr>
      </p:pic>
      <p:sp>
        <p:nvSpPr>
          <p:cNvPr id="7" name="文本框 6">
            <a:extLst>
              <a:ext uri="{FF2B5EF4-FFF2-40B4-BE49-F238E27FC236}">
                <a16:creationId xmlns:a16="http://schemas.microsoft.com/office/drawing/2014/main" id="{AD1952DA-F72C-5E60-6E23-3C5E1A543F86}"/>
              </a:ext>
            </a:extLst>
          </p:cNvPr>
          <p:cNvSpPr txBox="1"/>
          <p:nvPr/>
        </p:nvSpPr>
        <p:spPr>
          <a:xfrm>
            <a:off x="253522" y="1894040"/>
            <a:ext cx="3912556" cy="1291379"/>
          </a:xfrm>
          <a:prstGeom prst="rect">
            <a:avLst/>
          </a:prstGeom>
          <a:noFill/>
        </p:spPr>
        <p:txBody>
          <a:bodyPr wrap="square" rtlCol="0">
            <a:spAutoFit/>
          </a:bodyPr>
          <a:lstStyle/>
          <a:p>
            <a:pPr>
              <a:lnSpc>
                <a:spcPct val="150000"/>
              </a:lnSpc>
            </a:pPr>
            <a:r>
              <a:rPr kumimoji="1" lang="zh-CN" altLang="en-US"/>
              <a:t>进一步发现上一代的</a:t>
            </a:r>
            <a:r>
              <a:rPr kumimoji="1" lang="en-US" altLang="zh-CN"/>
              <a:t>100</a:t>
            </a:r>
            <a:r>
              <a:rPr kumimoji="1" lang="zh-CN" altLang="en-US"/>
              <a:t>以内的值的大小也有异常，和</a:t>
            </a:r>
            <a:r>
              <a:rPr kumimoji="1" lang="en-US" altLang="zh-CN"/>
              <a:t>trace</a:t>
            </a:r>
            <a:r>
              <a:rPr kumimoji="1" lang="zh-CN" altLang="en-US"/>
              <a:t>比对后发现有部分线程</a:t>
            </a:r>
            <a:r>
              <a:rPr kumimoji="1" lang="en-US" altLang="zh-CN"/>
              <a:t>trace</a:t>
            </a:r>
            <a:r>
              <a:rPr kumimoji="1" lang="zh-CN" altLang="en-US"/>
              <a:t>没有抓到</a:t>
            </a:r>
            <a:r>
              <a:rPr kumimoji="1" lang="en-US" altLang="zh-CN"/>
              <a:t>running</a:t>
            </a:r>
            <a:r>
              <a:rPr kumimoji="1" lang="zh-CN" altLang="en-US"/>
              <a:t>状态。</a:t>
            </a:r>
          </a:p>
        </p:txBody>
      </p:sp>
      <p:sp>
        <p:nvSpPr>
          <p:cNvPr id="9" name="文本框 8">
            <a:extLst>
              <a:ext uri="{FF2B5EF4-FFF2-40B4-BE49-F238E27FC236}">
                <a16:creationId xmlns:a16="http://schemas.microsoft.com/office/drawing/2014/main" id="{D3AB7A01-F5B4-2D97-203F-0FB3C2A9417C}"/>
              </a:ext>
            </a:extLst>
          </p:cNvPr>
          <p:cNvSpPr txBox="1"/>
          <p:nvPr/>
        </p:nvSpPr>
        <p:spPr>
          <a:xfrm>
            <a:off x="8119037" y="5058498"/>
            <a:ext cx="3912556" cy="1295868"/>
          </a:xfrm>
          <a:prstGeom prst="rect">
            <a:avLst/>
          </a:prstGeom>
          <a:noFill/>
        </p:spPr>
        <p:txBody>
          <a:bodyPr wrap="square" rtlCol="0">
            <a:spAutoFit/>
          </a:bodyPr>
          <a:lstStyle/>
          <a:p>
            <a:pPr>
              <a:lnSpc>
                <a:spcPct val="150000"/>
              </a:lnSpc>
            </a:pPr>
            <a:r>
              <a:rPr kumimoji="1" lang="zh-CN" altLang="en-US"/>
              <a:t>线程的状态上不显示，</a:t>
            </a:r>
            <a:r>
              <a:rPr kumimoji="1" lang="en-US" altLang="zh-CN"/>
              <a:t>cpu</a:t>
            </a:r>
            <a:r>
              <a:rPr kumimoji="1" lang="zh-CN" altLang="en-US"/>
              <a:t>中却存在</a:t>
            </a:r>
            <a:r>
              <a:rPr kumimoji="1" lang="en-US" altLang="zh-CN"/>
              <a:t>running</a:t>
            </a:r>
            <a:r>
              <a:rPr kumimoji="1" lang="zh-CN" altLang="en-US"/>
              <a:t>时间块。和测试确认为</a:t>
            </a:r>
            <a:r>
              <a:rPr kumimoji="1" lang="en-US" altLang="zh-CN"/>
              <a:t>trace</a:t>
            </a:r>
            <a:r>
              <a:rPr kumimoji="1" lang="zh-CN" altLang="en-US"/>
              <a:t>问题导致解析工具统计缺漏。</a:t>
            </a:r>
          </a:p>
        </p:txBody>
      </p:sp>
    </p:spTree>
    <p:extLst>
      <p:ext uri="{BB962C8B-B14F-4D97-AF65-F5344CB8AC3E}">
        <p14:creationId xmlns:p14="http://schemas.microsoft.com/office/powerpoint/2010/main" val="28023797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1B4614F1-288C-E26A-A87A-C41DFD1E0A31}"/>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400" b="1" spc="100">
                <a:solidFill>
                  <a:prstClr val="black"/>
                </a:solidFill>
                <a:latin typeface="微软雅黑" panose="020B0503020204020204" pitchFamily="34" charset="-122"/>
                <a:ea typeface="微软雅黑" panose="020B0503020204020204" pitchFamily="34" charset="-122"/>
              </a:rPr>
              <a:t>问题分析</a:t>
            </a:r>
            <a:endPar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964163BF-AA1E-E33E-8D63-A7274D986238}"/>
              </a:ext>
            </a:extLst>
          </p:cNvPr>
          <p:cNvSpPr txBox="1"/>
          <p:nvPr/>
        </p:nvSpPr>
        <p:spPr>
          <a:xfrm>
            <a:off x="2003482" y="225070"/>
            <a:ext cx="3312125" cy="369332"/>
          </a:xfrm>
          <a:prstGeom prst="rect">
            <a:avLst/>
          </a:prstGeom>
          <a:noFill/>
        </p:spPr>
        <p:txBody>
          <a:bodyPr wrap="none" rtlCol="0">
            <a:spAutoFit/>
          </a:bodyPr>
          <a:lstStyle/>
          <a:p>
            <a:r>
              <a:rPr kumimoji="1" lang="zh-CN" altLang="en-US" b="1">
                <a:latin typeface="Microsoft YaHei" panose="020B0503020204020204" pitchFamily="34" charset="-122"/>
                <a:ea typeface="Microsoft YaHei" panose="020B0503020204020204" pitchFamily="34" charset="-122"/>
              </a:rPr>
              <a:t>场景三：抖音直播间上滑十次</a:t>
            </a:r>
            <a:endParaRPr lang="zh-CN" altLang="en-US" b="1">
              <a:latin typeface="Microsoft YaHei" panose="020B0503020204020204" pitchFamily="34" charset="-122"/>
              <a:ea typeface="Microsoft YaHei" panose="020B0503020204020204" pitchFamily="34" charset="-122"/>
            </a:endParaRPr>
          </a:p>
        </p:txBody>
      </p:sp>
      <p:graphicFrame>
        <p:nvGraphicFramePr>
          <p:cNvPr id="4" name="表格 3">
            <a:extLst>
              <a:ext uri="{FF2B5EF4-FFF2-40B4-BE49-F238E27FC236}">
                <a16:creationId xmlns:a16="http://schemas.microsoft.com/office/drawing/2014/main" id="{C58F3C8B-E965-B436-DC59-C8C170469B1B}"/>
              </a:ext>
            </a:extLst>
          </p:cNvPr>
          <p:cNvGraphicFramePr>
            <a:graphicFrameLocks noGrp="1"/>
          </p:cNvGraphicFramePr>
          <p:nvPr>
            <p:extLst>
              <p:ext uri="{D42A27DB-BD31-4B8C-83A1-F6EECF244321}">
                <p14:modId xmlns:p14="http://schemas.microsoft.com/office/powerpoint/2010/main" val="1946134558"/>
              </p:ext>
            </p:extLst>
          </p:nvPr>
        </p:nvGraphicFramePr>
        <p:xfrm>
          <a:off x="451951" y="2017600"/>
          <a:ext cx="11542587" cy="4661496"/>
        </p:xfrm>
        <a:graphic>
          <a:graphicData uri="http://schemas.openxmlformats.org/drawingml/2006/table">
            <a:tbl>
              <a:tblPr>
                <a:tableStyleId>{5C22544A-7EE6-4342-B048-85BDC9FD1C3A}</a:tableStyleId>
              </a:tblPr>
              <a:tblGrid>
                <a:gridCol w="3847529">
                  <a:extLst>
                    <a:ext uri="{9D8B030D-6E8A-4147-A177-3AD203B41FA5}">
                      <a16:colId xmlns:a16="http://schemas.microsoft.com/office/drawing/2014/main" val="51405649"/>
                    </a:ext>
                  </a:extLst>
                </a:gridCol>
                <a:gridCol w="3847529">
                  <a:extLst>
                    <a:ext uri="{9D8B030D-6E8A-4147-A177-3AD203B41FA5}">
                      <a16:colId xmlns:a16="http://schemas.microsoft.com/office/drawing/2014/main" val="2605982432"/>
                    </a:ext>
                  </a:extLst>
                </a:gridCol>
                <a:gridCol w="3847529">
                  <a:extLst>
                    <a:ext uri="{9D8B030D-6E8A-4147-A177-3AD203B41FA5}">
                      <a16:colId xmlns:a16="http://schemas.microsoft.com/office/drawing/2014/main" val="4041553117"/>
                    </a:ext>
                  </a:extLst>
                </a:gridCol>
              </a:tblGrid>
              <a:tr h="265717">
                <a:tc>
                  <a:txBody>
                    <a:bodyPr/>
                    <a:lstStyle/>
                    <a:p>
                      <a:pPr algn="l" fontAlgn="ctr"/>
                      <a:r>
                        <a:rPr lang="en" sz="1400" u="none" strike="noStrike">
                          <a:effectLst/>
                        </a:rPr>
                        <a:t>Round 1</a:t>
                      </a:r>
                      <a:endParaRPr lang="en" sz="1400" b="1"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 sz="1400" u="none" strike="noStrike">
                          <a:effectLst/>
                        </a:rPr>
                        <a:t>上一代</a:t>
                      </a:r>
                      <a:endParaRPr lang="e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 sz="1400" u="none" strike="noStrike">
                          <a:effectLst/>
                        </a:rPr>
                        <a:t>M639</a:t>
                      </a:r>
                      <a:endParaRPr lang="e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extLst>
                  <a:ext uri="{0D108BD9-81ED-4DB2-BD59-A6C34878D82A}">
                    <a16:rowId xmlns:a16="http://schemas.microsoft.com/office/drawing/2014/main" val="816336601"/>
                  </a:ext>
                </a:extLst>
              </a:tr>
              <a:tr h="408128">
                <a:tc>
                  <a:txBody>
                    <a:bodyPr/>
                    <a:lstStyle/>
                    <a:p>
                      <a:pPr algn="l" fontAlgn="ctr"/>
                      <a:r>
                        <a:rPr lang="en" sz="1400" u="none" strike="noStrike">
                          <a:effectLst/>
                        </a:rPr>
                        <a:t>postprocasyncs1</a:t>
                      </a:r>
                      <a:endParaRPr lang="en" sz="1400" b="1"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1856</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2303</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extLst>
                  <a:ext uri="{0D108BD9-81ED-4DB2-BD59-A6C34878D82A}">
                    <a16:rowId xmlns:a16="http://schemas.microsoft.com/office/drawing/2014/main" val="3803489055"/>
                  </a:ext>
                </a:extLst>
              </a:tr>
              <a:tr h="273949">
                <a:tc>
                  <a:txBody>
                    <a:bodyPr/>
                    <a:lstStyle/>
                    <a:p>
                      <a:pPr algn="l" fontAlgn="ctr"/>
                      <a:r>
                        <a:rPr lang="en" sz="1400" u="none" strike="noStrike">
                          <a:effectLst/>
                        </a:rPr>
                        <a:t>BMFetchThread</a:t>
                      </a:r>
                      <a:endParaRPr lang="en" sz="1400" b="1"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49</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53</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extLst>
                  <a:ext uri="{0D108BD9-81ED-4DB2-BD59-A6C34878D82A}">
                    <a16:rowId xmlns:a16="http://schemas.microsoft.com/office/drawing/2014/main" val="3408325195"/>
                  </a:ext>
                </a:extLst>
              </a:tr>
              <a:tr h="408128">
                <a:tc>
                  <a:txBody>
                    <a:bodyPr/>
                    <a:lstStyle/>
                    <a:p>
                      <a:pPr algn="l" fontAlgn="ctr"/>
                      <a:r>
                        <a:rPr lang="en" sz="1400" u="none" strike="noStrike">
                          <a:effectLst/>
                        </a:rPr>
                        <a:t>postprocasyncs2</a:t>
                      </a:r>
                      <a:endParaRPr lang="en" sz="1400" b="1"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414</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496</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extLst>
                  <a:ext uri="{0D108BD9-81ED-4DB2-BD59-A6C34878D82A}">
                    <a16:rowId xmlns:a16="http://schemas.microsoft.com/office/drawing/2014/main" val="1083977571"/>
                  </a:ext>
                </a:extLst>
              </a:tr>
              <a:tr h="408128">
                <a:tc>
                  <a:txBody>
                    <a:bodyPr/>
                    <a:lstStyle/>
                    <a:p>
                      <a:pPr algn="l" fontAlgn="ctr"/>
                      <a:r>
                        <a:rPr lang="en" sz="1400" u="none" strike="noStrike">
                          <a:effectLst/>
                        </a:rPr>
                        <a:t>BMCcFetchThread</a:t>
                      </a:r>
                      <a:endParaRPr lang="en" sz="1400" b="1"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792</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900</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extLst>
                  <a:ext uri="{0D108BD9-81ED-4DB2-BD59-A6C34878D82A}">
                    <a16:rowId xmlns:a16="http://schemas.microsoft.com/office/drawing/2014/main" val="3466753925"/>
                  </a:ext>
                </a:extLst>
              </a:tr>
              <a:tr h="408128">
                <a:tc>
                  <a:txBody>
                    <a:bodyPr/>
                    <a:lstStyle/>
                    <a:p>
                      <a:pPr algn="l" fontAlgn="ctr"/>
                      <a:r>
                        <a:rPr lang="en" sz="1400" u="none" strike="noStrike">
                          <a:effectLst/>
                        </a:rPr>
                        <a:t>c2@1.2-mediatek</a:t>
                      </a:r>
                      <a:endParaRPr lang="en" sz="1400" b="1"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209</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17</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extLst>
                  <a:ext uri="{0D108BD9-81ED-4DB2-BD59-A6C34878D82A}">
                    <a16:rowId xmlns:a16="http://schemas.microsoft.com/office/drawing/2014/main" val="868331861"/>
                  </a:ext>
                </a:extLst>
              </a:tr>
              <a:tr h="273949">
                <a:tc>
                  <a:txBody>
                    <a:bodyPr/>
                    <a:lstStyle/>
                    <a:p>
                      <a:pPr algn="l" fontAlgn="ctr"/>
                      <a:r>
                        <a:rPr lang="en" sz="1400" u="none" strike="noStrike">
                          <a:effectLst/>
                        </a:rPr>
                        <a:t>decoder.preproc</a:t>
                      </a:r>
                      <a:endParaRPr lang="en" sz="1400" b="1"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3</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2</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extLst>
                  <a:ext uri="{0D108BD9-81ED-4DB2-BD59-A6C34878D82A}">
                    <a16:rowId xmlns:a16="http://schemas.microsoft.com/office/drawing/2014/main" val="1396861341"/>
                  </a:ext>
                </a:extLst>
              </a:tr>
              <a:tr h="273949">
                <a:tc>
                  <a:txBody>
                    <a:bodyPr/>
                    <a:lstStyle/>
                    <a:p>
                      <a:pPr algn="l" fontAlgn="ctr"/>
                      <a:r>
                        <a:rPr lang="en" sz="1400" u="none" strike="noStrike">
                          <a:effectLst/>
                        </a:rPr>
                        <a:t>ecoder.postproc</a:t>
                      </a:r>
                      <a:endParaRPr lang="en" sz="1400" b="1"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3</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2.5</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extLst>
                  <a:ext uri="{0D108BD9-81ED-4DB2-BD59-A6C34878D82A}">
                    <a16:rowId xmlns:a16="http://schemas.microsoft.com/office/drawing/2014/main" val="1572642400"/>
                  </a:ext>
                </a:extLst>
              </a:tr>
              <a:tr h="273949">
                <a:tc>
                  <a:txBody>
                    <a:bodyPr/>
                    <a:lstStyle/>
                    <a:p>
                      <a:pPr algn="l" fontAlgn="ctr"/>
                      <a:r>
                        <a:rPr lang="en" sz="1400" u="none" strike="noStrike">
                          <a:effectLst/>
                        </a:rPr>
                        <a:t>HwBinder</a:t>
                      </a:r>
                      <a:endParaRPr lang="en" sz="1400" b="1"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833</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1008</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extLst>
                  <a:ext uri="{0D108BD9-81ED-4DB2-BD59-A6C34878D82A}">
                    <a16:rowId xmlns:a16="http://schemas.microsoft.com/office/drawing/2014/main" val="3408989002"/>
                  </a:ext>
                </a:extLst>
              </a:tr>
              <a:tr h="273949">
                <a:tc>
                  <a:txBody>
                    <a:bodyPr/>
                    <a:lstStyle/>
                    <a:p>
                      <a:pPr algn="l" fontAlgn="ctr"/>
                      <a:r>
                        <a:rPr lang="en" sz="1400" u="none" strike="noStrike">
                          <a:effectLst/>
                        </a:rPr>
                        <a:t>tk.hevc.decoder</a:t>
                      </a:r>
                      <a:endParaRPr lang="en" sz="1400" b="1"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279</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241</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extLst>
                  <a:ext uri="{0D108BD9-81ED-4DB2-BD59-A6C34878D82A}">
                    <a16:rowId xmlns:a16="http://schemas.microsoft.com/office/drawing/2014/main" val="256649790"/>
                  </a:ext>
                </a:extLst>
              </a:tr>
              <a:tr h="273949">
                <a:tc>
                  <a:txBody>
                    <a:bodyPr/>
                    <a:lstStyle/>
                    <a:p>
                      <a:pPr algn="l" fontAlgn="ctr"/>
                      <a:r>
                        <a:rPr lang="en" sz="1400" u="none" strike="noStrike">
                          <a:effectLst/>
                        </a:rPr>
                        <a:t>VcodecPoll</a:t>
                      </a:r>
                      <a:endParaRPr lang="en" sz="1400" b="1"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186</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162</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extLst>
                  <a:ext uri="{0D108BD9-81ED-4DB2-BD59-A6C34878D82A}">
                    <a16:rowId xmlns:a16="http://schemas.microsoft.com/office/drawing/2014/main" val="312380169"/>
                  </a:ext>
                </a:extLst>
              </a:tr>
              <a:tr h="273949">
                <a:tc>
                  <a:txBody>
                    <a:bodyPr/>
                    <a:lstStyle/>
                    <a:p>
                      <a:pPr algn="l" fontAlgn="ctr"/>
                      <a:r>
                        <a:rPr lang="en" sz="1400" u="none" strike="noStrike">
                          <a:effectLst/>
                        </a:rPr>
                        <a:t>VcodecProcess</a:t>
                      </a:r>
                      <a:endParaRPr lang="en" sz="1400" b="1"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1287</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1267</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extLst>
                  <a:ext uri="{0D108BD9-81ED-4DB2-BD59-A6C34878D82A}">
                    <a16:rowId xmlns:a16="http://schemas.microsoft.com/office/drawing/2014/main" val="777204137"/>
                  </a:ext>
                </a:extLst>
              </a:tr>
              <a:tr h="141633">
                <a:tc>
                  <a:txBody>
                    <a:bodyPr/>
                    <a:lstStyle/>
                    <a:p>
                      <a:pPr algn="l" fontAlgn="ctr"/>
                      <a:r>
                        <a:rPr lang="en" sz="1400" u="none" strike="noStrike">
                          <a:effectLst/>
                        </a:rPr>
                        <a:t>Total</a:t>
                      </a:r>
                      <a:endParaRPr lang="en" sz="1400" b="1"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5911</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6451.5</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extLst>
                  <a:ext uri="{0D108BD9-81ED-4DB2-BD59-A6C34878D82A}">
                    <a16:rowId xmlns:a16="http://schemas.microsoft.com/office/drawing/2014/main" val="2636194705"/>
                  </a:ext>
                </a:extLst>
              </a:tr>
              <a:tr h="141633">
                <a:tc>
                  <a:txBody>
                    <a:bodyPr/>
                    <a:lstStyle/>
                    <a:p>
                      <a:pPr algn="l" fontAlgn="ctr"/>
                      <a:r>
                        <a:rPr lang="en" sz="1400" u="none" strike="noStrike">
                          <a:effectLst/>
                        </a:rPr>
                        <a:t>Count</a:t>
                      </a:r>
                      <a:endParaRPr lang="en" sz="1400" b="1"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8</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10</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extLst>
                  <a:ext uri="{0D108BD9-81ED-4DB2-BD59-A6C34878D82A}">
                    <a16:rowId xmlns:a16="http://schemas.microsoft.com/office/drawing/2014/main" val="1501882282"/>
                  </a:ext>
                </a:extLst>
              </a:tr>
              <a:tr h="408128">
                <a:tc>
                  <a:txBody>
                    <a:bodyPr/>
                    <a:lstStyle/>
                    <a:p>
                      <a:pPr algn="l" fontAlgn="ctr"/>
                      <a:r>
                        <a:rPr lang="en" sz="1400" u="none" strike="noStrike">
                          <a:effectLst/>
                        </a:rPr>
                        <a:t>Average per round</a:t>
                      </a:r>
                      <a:endParaRPr lang="en" sz="1400" b="1"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738.875</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tc>
                  <a:txBody>
                    <a:bodyPr/>
                    <a:lstStyle/>
                    <a:p>
                      <a:pPr algn="ctr" fontAlgn="ctr"/>
                      <a:r>
                        <a:rPr lang="en-US" altLang="zh-CN" sz="1400" u="none" strike="noStrike">
                          <a:effectLst/>
                        </a:rPr>
                        <a:t>645.15</a:t>
                      </a:r>
                      <a:endParaRPr lang="en-US" altLang="zh-CN" sz="1400" b="0" i="0" u="none" strike="noStrike">
                        <a:solidFill>
                          <a:srgbClr val="333333"/>
                        </a:solidFill>
                        <a:effectLst/>
                        <a:latin typeface="Helvetica Neue" panose="02000503000000020004" pitchFamily="2" charset="0"/>
                        <a:ea typeface="等线" panose="02010600030101010101" pitchFamily="2" charset="-122"/>
                      </a:endParaRPr>
                    </a:p>
                  </a:txBody>
                  <a:tcPr marL="5388" marR="5388" marT="5388" marB="0" anchor="ctr"/>
                </a:tc>
                <a:extLst>
                  <a:ext uri="{0D108BD9-81ED-4DB2-BD59-A6C34878D82A}">
                    <a16:rowId xmlns:a16="http://schemas.microsoft.com/office/drawing/2014/main" val="2455663554"/>
                  </a:ext>
                </a:extLst>
              </a:tr>
            </a:tbl>
          </a:graphicData>
        </a:graphic>
      </p:graphicFrame>
      <p:sp>
        <p:nvSpPr>
          <p:cNvPr id="2" name="文本框 1">
            <a:extLst>
              <a:ext uri="{FF2B5EF4-FFF2-40B4-BE49-F238E27FC236}">
                <a16:creationId xmlns:a16="http://schemas.microsoft.com/office/drawing/2014/main" id="{D023195A-C9E2-2DEA-7ED2-5D3ED2BB7FBF}"/>
              </a:ext>
            </a:extLst>
          </p:cNvPr>
          <p:cNvSpPr txBox="1"/>
          <p:nvPr/>
        </p:nvSpPr>
        <p:spPr>
          <a:xfrm>
            <a:off x="313906" y="640569"/>
            <a:ext cx="11646123" cy="1295868"/>
          </a:xfrm>
          <a:prstGeom prst="rect">
            <a:avLst/>
          </a:prstGeom>
          <a:noFill/>
        </p:spPr>
        <p:txBody>
          <a:bodyPr wrap="square" rtlCol="0">
            <a:spAutoFit/>
          </a:bodyPr>
          <a:lstStyle/>
          <a:p>
            <a:pPr>
              <a:lnSpc>
                <a:spcPct val="150000"/>
              </a:lnSpc>
            </a:pPr>
            <a:r>
              <a:rPr kumimoji="1" lang="zh-CN" altLang="en-US"/>
              <a:t>继续查看另外的差异较大的线程发现都有以上两种统计缺漏的情况，重新补上缺漏的线程和线程缺漏的</a:t>
            </a:r>
            <a:r>
              <a:rPr kumimoji="1" lang="en-US" altLang="zh-CN"/>
              <a:t>running</a:t>
            </a:r>
            <a:r>
              <a:rPr kumimoji="1" lang="zh-CN" altLang="en-US"/>
              <a:t>时间重新统计，两者解码时的常驻线程耗时基本一致，非常驻线程的耗时比例接近硬解码播放次数</a:t>
            </a:r>
            <a:r>
              <a:rPr kumimoji="1" lang="en-US" altLang="zh-CN"/>
              <a:t>8</a:t>
            </a:r>
            <a:r>
              <a:rPr kumimoji="1" lang="zh-CN" altLang="en-US"/>
              <a:t>比</a:t>
            </a:r>
            <a:r>
              <a:rPr kumimoji="1" lang="en-US" altLang="zh-CN"/>
              <a:t>10</a:t>
            </a:r>
            <a:r>
              <a:rPr kumimoji="1" lang="zh-CN" altLang="en-US"/>
              <a:t>。按平均每次播放去对比</a:t>
            </a:r>
            <a:r>
              <a:rPr kumimoji="1" lang="en-US" altLang="zh-CN"/>
              <a:t>media.c2</a:t>
            </a:r>
            <a:r>
              <a:rPr kumimoji="1" lang="zh-CN" altLang="en-US"/>
              <a:t>的耗时是不差于上一代的。</a:t>
            </a:r>
          </a:p>
        </p:txBody>
      </p:sp>
    </p:spTree>
    <p:extLst>
      <p:ext uri="{BB962C8B-B14F-4D97-AF65-F5344CB8AC3E}">
        <p14:creationId xmlns:p14="http://schemas.microsoft.com/office/powerpoint/2010/main" val="11069396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04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解决方案</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8F43E74-18D3-DB52-02FC-A0CA73273B49}"/>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解决方案</a:t>
            </a:r>
          </a:p>
        </p:txBody>
      </p:sp>
      <p:graphicFrame>
        <p:nvGraphicFramePr>
          <p:cNvPr id="3" name="表格 2">
            <a:extLst>
              <a:ext uri="{FF2B5EF4-FFF2-40B4-BE49-F238E27FC236}">
                <a16:creationId xmlns:a16="http://schemas.microsoft.com/office/drawing/2014/main" id="{7F90DDB7-E0B6-9EC4-34E6-C2786D067613}"/>
              </a:ext>
            </a:extLst>
          </p:cNvPr>
          <p:cNvGraphicFramePr>
            <a:graphicFrameLocks noGrp="1"/>
          </p:cNvGraphicFramePr>
          <p:nvPr>
            <p:extLst>
              <p:ext uri="{D42A27DB-BD31-4B8C-83A1-F6EECF244321}">
                <p14:modId xmlns:p14="http://schemas.microsoft.com/office/powerpoint/2010/main" val="3671313556"/>
              </p:ext>
            </p:extLst>
          </p:nvPr>
        </p:nvGraphicFramePr>
        <p:xfrm>
          <a:off x="450134" y="970742"/>
          <a:ext cx="11291732" cy="1943100"/>
        </p:xfrm>
        <a:graphic>
          <a:graphicData uri="http://schemas.openxmlformats.org/drawingml/2006/table">
            <a:tbl>
              <a:tblPr firstRow="1" bandRow="1">
                <a:tableStyleId>{5C22544A-7EE6-4342-B048-85BDC9FD1C3A}</a:tableStyleId>
              </a:tblPr>
              <a:tblGrid>
                <a:gridCol w="2634422">
                  <a:extLst>
                    <a:ext uri="{9D8B030D-6E8A-4147-A177-3AD203B41FA5}">
                      <a16:colId xmlns:a16="http://schemas.microsoft.com/office/drawing/2014/main" val="1336693994"/>
                    </a:ext>
                  </a:extLst>
                </a:gridCol>
                <a:gridCol w="2009646">
                  <a:extLst>
                    <a:ext uri="{9D8B030D-6E8A-4147-A177-3AD203B41FA5}">
                      <a16:colId xmlns:a16="http://schemas.microsoft.com/office/drawing/2014/main" val="2757259051"/>
                    </a:ext>
                  </a:extLst>
                </a:gridCol>
                <a:gridCol w="3263333">
                  <a:extLst>
                    <a:ext uri="{9D8B030D-6E8A-4147-A177-3AD203B41FA5}">
                      <a16:colId xmlns:a16="http://schemas.microsoft.com/office/drawing/2014/main" val="3261887950"/>
                    </a:ext>
                  </a:extLst>
                </a:gridCol>
                <a:gridCol w="1602248">
                  <a:extLst>
                    <a:ext uri="{9D8B030D-6E8A-4147-A177-3AD203B41FA5}">
                      <a16:colId xmlns:a16="http://schemas.microsoft.com/office/drawing/2014/main" val="874051452"/>
                    </a:ext>
                  </a:extLst>
                </a:gridCol>
                <a:gridCol w="1782083">
                  <a:extLst>
                    <a:ext uri="{9D8B030D-6E8A-4147-A177-3AD203B41FA5}">
                      <a16:colId xmlns:a16="http://schemas.microsoft.com/office/drawing/2014/main" val="1081414543"/>
                    </a:ext>
                  </a:extLst>
                </a:gridCol>
              </a:tblGrid>
              <a:tr h="370840">
                <a:tc>
                  <a:txBody>
                    <a:bodyPr/>
                    <a:lstStyle/>
                    <a:p>
                      <a:r>
                        <a:rPr lang="zh-CN" altLang="en-US">
                          <a:latin typeface="+mn-ea"/>
                          <a:ea typeface="+mn-ea"/>
                        </a:rPr>
                        <a:t>问题场景</a:t>
                      </a:r>
                    </a:p>
                  </a:txBody>
                  <a:tcPr/>
                </a:tc>
                <a:tc>
                  <a:txBody>
                    <a:bodyPr/>
                    <a:lstStyle/>
                    <a:p>
                      <a:r>
                        <a:rPr lang="zh-CN" altLang="en-US">
                          <a:latin typeface="+mn-ea"/>
                          <a:ea typeface="+mn-ea"/>
                        </a:rPr>
                        <a:t>统计指标</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1">
                          <a:effectLst/>
                          <a:latin typeface="+mn-ea"/>
                          <a:ea typeface="+mn-ea"/>
                        </a:rPr>
                        <a:t>进程名</a:t>
                      </a:r>
                    </a:p>
                  </a:txBody>
                  <a:tcPr marL="123825" marR="123825" marT="57150" marB="57150" anchor="ctr"/>
                </a:tc>
                <a:tc>
                  <a:txBody>
                    <a:bodyPr/>
                    <a:lstStyle/>
                    <a:p>
                      <a:r>
                        <a:rPr lang="en" b="1">
                          <a:effectLst/>
                          <a:latin typeface="+mn-ea"/>
                          <a:ea typeface="+mn-ea"/>
                        </a:rPr>
                        <a:t>M639</a:t>
                      </a:r>
                    </a:p>
                  </a:txBody>
                  <a:tcPr marL="123825" marR="123825" marT="57150" marB="57150" anchor="ctr"/>
                </a:tc>
                <a:tc>
                  <a:txBody>
                    <a:bodyPr/>
                    <a:lstStyle/>
                    <a:p>
                      <a:r>
                        <a:rPr lang="en" b="1">
                          <a:effectLst/>
                          <a:latin typeface="+mn-ea"/>
                          <a:ea typeface="+mn-ea"/>
                        </a:rPr>
                        <a:t>上一代</a:t>
                      </a:r>
                    </a:p>
                  </a:txBody>
                  <a:tcPr marL="123825" marR="123825" marT="57150" marB="57150" anchor="ctr"/>
                </a:tc>
                <a:extLst>
                  <a:ext uri="{0D108BD9-81ED-4DB2-BD59-A6C34878D82A}">
                    <a16:rowId xmlns:a16="http://schemas.microsoft.com/office/drawing/2014/main" val="3297988467"/>
                  </a:ext>
                </a:extLst>
              </a:tr>
              <a:tr h="370840">
                <a:tc rowSpan="2">
                  <a:txBody>
                    <a:bodyPr/>
                    <a:lstStyle/>
                    <a:p>
                      <a:pPr algn="l"/>
                      <a:r>
                        <a:rPr lang="zh-CN" altLang="en-US">
                          <a:latin typeface="+mn-ea"/>
                          <a:ea typeface="+mn-ea"/>
                        </a:rPr>
                        <a:t>图库冷启动</a:t>
                      </a:r>
                    </a:p>
                  </a:txBody>
                  <a:tcPr anchor="ctr"/>
                </a:tc>
                <a:tc rowSpan="3">
                  <a:txBody>
                    <a:bodyPr/>
                    <a:lstStyle/>
                    <a:p>
                      <a:pPr algn="ctr"/>
                      <a:r>
                        <a:rPr lang="zh-CN" altLang="en-US">
                          <a:latin typeface="+mn-ea"/>
                          <a:ea typeface="+mn-ea"/>
                        </a:rPr>
                        <a:t>同步</a:t>
                      </a:r>
                      <a:r>
                        <a:rPr lang="en-US" altLang="zh-CN">
                          <a:latin typeface="+mn-ea"/>
                          <a:ea typeface="+mn-ea"/>
                        </a:rPr>
                        <a:t>Binder</a:t>
                      </a:r>
                      <a:r>
                        <a:rPr lang="zh-CN" altLang="en-US">
                          <a:latin typeface="+mn-ea"/>
                          <a:ea typeface="+mn-ea"/>
                        </a:rPr>
                        <a:t>次数</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a:effectLst/>
                          <a:latin typeface="+mn-ea"/>
                          <a:ea typeface="+mn-ea"/>
                        </a:rPr>
                        <a:t>mediaserver</a:t>
                      </a:r>
                    </a:p>
                  </a:txBody>
                  <a:tcPr marL="123825" marR="123825" marT="57150" marB="57150" anchor="ctr"/>
                </a:tc>
                <a:tc>
                  <a:txBody>
                    <a:bodyPr/>
                    <a:lstStyle/>
                    <a:p>
                      <a:r>
                        <a:rPr lang="en-US" altLang="zh-CN">
                          <a:effectLst/>
                          <a:latin typeface="+mn-ea"/>
                          <a:ea typeface="+mn-ea"/>
                        </a:rPr>
                        <a:t>31</a:t>
                      </a:r>
                    </a:p>
                  </a:txBody>
                  <a:tcPr marL="123825" marR="123825" marT="57150" marB="57150" anchor="ctr"/>
                </a:tc>
                <a:tc>
                  <a:txBody>
                    <a:bodyPr/>
                    <a:lstStyle/>
                    <a:p>
                      <a:r>
                        <a:rPr lang="en-US" altLang="zh-CN">
                          <a:effectLst/>
                          <a:latin typeface="+mn-ea"/>
                          <a:ea typeface="+mn-ea"/>
                        </a:rPr>
                        <a:t>0</a:t>
                      </a:r>
                    </a:p>
                  </a:txBody>
                  <a:tcPr marL="123825" marR="123825" marT="57150" marB="57150" anchor="ctr"/>
                </a:tc>
                <a:extLst>
                  <a:ext uri="{0D108BD9-81ED-4DB2-BD59-A6C34878D82A}">
                    <a16:rowId xmlns:a16="http://schemas.microsoft.com/office/drawing/2014/main" val="109787957"/>
                  </a:ext>
                </a:extLst>
              </a:tr>
              <a:tr h="370840">
                <a:tc vMerge="1">
                  <a:txBody>
                    <a:bodyPr/>
                    <a:lstStyle/>
                    <a:p>
                      <a:endParaRPr lang="zh-CN" altLang="en-US"/>
                    </a:p>
                  </a:txBody>
                  <a:tcPr/>
                </a:tc>
                <a:tc vMerge="1">
                  <a:txBody>
                    <a:bodyPr/>
                    <a:lstStyle/>
                    <a:p>
                      <a:endParaRPr lang="zh-CN"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a:effectLst/>
                          <a:latin typeface="+mn-ea"/>
                          <a:ea typeface="+mn-ea"/>
                        </a:rPr>
                        <a:t>media.extractor</a:t>
                      </a:r>
                    </a:p>
                  </a:txBody>
                  <a:tcPr marL="123825" marR="123825" marT="57150" marB="57150" anchor="ctr"/>
                </a:tc>
                <a:tc>
                  <a:txBody>
                    <a:bodyPr/>
                    <a:lstStyle/>
                    <a:p>
                      <a:r>
                        <a:rPr lang="en-US" altLang="zh-CN">
                          <a:effectLst/>
                          <a:latin typeface="+mn-ea"/>
                          <a:ea typeface="+mn-ea"/>
                        </a:rPr>
                        <a:t>106</a:t>
                      </a:r>
                    </a:p>
                  </a:txBody>
                  <a:tcPr marL="123825" marR="123825" marT="57150" marB="57150" anchor="ctr"/>
                </a:tc>
                <a:tc>
                  <a:txBody>
                    <a:bodyPr/>
                    <a:lstStyle/>
                    <a:p>
                      <a:r>
                        <a:rPr lang="en-US" altLang="zh-CN">
                          <a:effectLst/>
                          <a:latin typeface="+mn-ea"/>
                          <a:ea typeface="+mn-ea"/>
                        </a:rPr>
                        <a:t>0</a:t>
                      </a:r>
                    </a:p>
                  </a:txBody>
                  <a:tcPr marL="123825" marR="123825" marT="57150" marB="57150" anchor="ctr"/>
                </a:tc>
                <a:extLst>
                  <a:ext uri="{0D108BD9-81ED-4DB2-BD59-A6C34878D82A}">
                    <a16:rowId xmlns:a16="http://schemas.microsoft.com/office/drawing/2014/main" val="2214857429"/>
                  </a:ext>
                </a:extLst>
              </a:tr>
              <a:tr h="370840">
                <a:tc>
                  <a:txBody>
                    <a:bodyPr/>
                    <a:lstStyle/>
                    <a:p>
                      <a:r>
                        <a:rPr lang="zh-CN" altLang="en-US">
                          <a:latin typeface="+mn-ea"/>
                          <a:ea typeface="+mn-ea"/>
                        </a:rPr>
                        <a:t>无干扰冷启动</a:t>
                      </a:r>
                    </a:p>
                  </a:txBody>
                  <a:tcPr anchor="ctr"/>
                </a:tc>
                <a:tc vMerge="1">
                  <a:txBody>
                    <a:bodyPr/>
                    <a:lstStyle/>
                    <a:p>
                      <a:endParaRPr lang="zh-CN" alt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b="0">
                          <a:effectLst/>
                          <a:latin typeface="+mn-ea"/>
                          <a:ea typeface="+mn-ea"/>
                        </a:rPr>
                        <a:t>mediaserver</a:t>
                      </a:r>
                    </a:p>
                  </a:txBody>
                  <a:tcPr marL="123825" marR="123825" marT="57150" marB="57150" anchor="ctr"/>
                </a:tc>
                <a:tc>
                  <a:txBody>
                    <a:bodyPr/>
                    <a:lstStyle/>
                    <a:p>
                      <a:r>
                        <a:rPr lang="en-US" altLang="zh-CN">
                          <a:effectLst/>
                          <a:latin typeface="+mn-ea"/>
                          <a:ea typeface="+mn-ea"/>
                        </a:rPr>
                        <a:t>26.4</a:t>
                      </a:r>
                    </a:p>
                  </a:txBody>
                  <a:tcPr marL="123825" marR="123825" marT="57150" marB="57150" anchor="ctr"/>
                </a:tc>
                <a:tc>
                  <a:txBody>
                    <a:bodyPr/>
                    <a:lstStyle/>
                    <a:p>
                      <a:r>
                        <a:rPr lang="en-US" altLang="zh-CN">
                          <a:effectLst/>
                          <a:latin typeface="+mn-ea"/>
                          <a:ea typeface="+mn-ea"/>
                        </a:rPr>
                        <a:t>0</a:t>
                      </a:r>
                    </a:p>
                  </a:txBody>
                  <a:tcPr marL="123825" marR="123825" marT="57150" marB="57150" anchor="ctr"/>
                </a:tc>
                <a:extLst>
                  <a:ext uri="{0D108BD9-81ED-4DB2-BD59-A6C34878D82A}">
                    <a16:rowId xmlns:a16="http://schemas.microsoft.com/office/drawing/2014/main" val="763327658"/>
                  </a:ext>
                </a:extLst>
              </a:tr>
              <a:tr h="370840">
                <a:tc>
                  <a:txBody>
                    <a:bodyPr/>
                    <a:lstStyle/>
                    <a:p>
                      <a:r>
                        <a:rPr lang="zh-CN" altLang="en-US">
                          <a:latin typeface="+mn-ea"/>
                          <a:ea typeface="+mn-ea"/>
                        </a:rPr>
                        <a:t>抖音直播间上滑十次</a:t>
                      </a:r>
                    </a:p>
                  </a:txBody>
                  <a:tcPr anchor="ctr"/>
                </a:tc>
                <a:tc>
                  <a:txBody>
                    <a:bodyPr/>
                    <a:lstStyle/>
                    <a:p>
                      <a:r>
                        <a:rPr lang="zh-CN" altLang="en-US">
                          <a:latin typeface="+mn-ea"/>
                          <a:ea typeface="+mn-ea"/>
                        </a:rPr>
                        <a:t>   进程耗时</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800" kern="1200">
                          <a:solidFill>
                            <a:schemeClr val="dk1"/>
                          </a:solidFill>
                          <a:latin typeface="+mn-ea"/>
                          <a:ea typeface="+mn-ea"/>
                          <a:cs typeface="+mn-cs"/>
                        </a:rPr>
                        <a:t>媒体框架进程</a:t>
                      </a:r>
                    </a:p>
                  </a:txBody>
                  <a:tcPr marL="123825" marR="123825" marT="57150" marB="57150" anchor="ctr"/>
                </a:tc>
                <a:tc>
                  <a:txBody>
                    <a:bodyPr/>
                    <a:lstStyle/>
                    <a:p>
                      <a:r>
                        <a:rPr lang="en-US" altLang="zh-CN">
                          <a:effectLst/>
                          <a:latin typeface="+mn-ea"/>
                          <a:ea typeface="+mn-ea"/>
                        </a:rPr>
                        <a:t>6,694.31</a:t>
                      </a:r>
                    </a:p>
                  </a:txBody>
                  <a:tcPr marL="123825" marR="123825" marT="57150" marB="57150" anchor="ctr"/>
                </a:tc>
                <a:tc>
                  <a:txBody>
                    <a:bodyPr/>
                    <a:lstStyle/>
                    <a:p>
                      <a:r>
                        <a:rPr lang="en-US" altLang="zh-CN">
                          <a:effectLst/>
                          <a:latin typeface="+mn-ea"/>
                          <a:ea typeface="+mn-ea"/>
                        </a:rPr>
                        <a:t>4,818.71</a:t>
                      </a:r>
                    </a:p>
                  </a:txBody>
                  <a:tcPr marL="123825" marR="123825" marT="57150" marB="57150" anchor="ctr"/>
                </a:tc>
                <a:extLst>
                  <a:ext uri="{0D108BD9-81ED-4DB2-BD59-A6C34878D82A}">
                    <a16:rowId xmlns:a16="http://schemas.microsoft.com/office/drawing/2014/main" val="1963127937"/>
                  </a:ext>
                </a:extLst>
              </a:tr>
            </a:tbl>
          </a:graphicData>
        </a:graphic>
      </p:graphicFrame>
      <p:sp>
        <p:nvSpPr>
          <p:cNvPr id="4" name="文本框 3">
            <a:extLst>
              <a:ext uri="{FF2B5EF4-FFF2-40B4-BE49-F238E27FC236}">
                <a16:creationId xmlns:a16="http://schemas.microsoft.com/office/drawing/2014/main" id="{7E7A062C-BB84-6AED-42EB-8055AC34A6B8}"/>
              </a:ext>
            </a:extLst>
          </p:cNvPr>
          <p:cNvSpPr txBox="1"/>
          <p:nvPr/>
        </p:nvSpPr>
        <p:spPr>
          <a:xfrm>
            <a:off x="417443" y="2913842"/>
            <a:ext cx="11263694" cy="3784369"/>
          </a:xfrm>
          <a:prstGeom prst="rect">
            <a:avLst/>
          </a:prstGeom>
          <a:noFill/>
        </p:spPr>
        <p:txBody>
          <a:bodyPr wrap="square" rtlCol="0">
            <a:spAutoFit/>
          </a:bodyPr>
          <a:lstStyle/>
          <a:p>
            <a:pPr>
              <a:lnSpc>
                <a:spcPct val="150000"/>
              </a:lnSpc>
            </a:pPr>
            <a:r>
              <a:rPr kumimoji="1" lang="en-US" altLang="zh-CN"/>
              <a:t>1.</a:t>
            </a:r>
            <a:r>
              <a:rPr kumimoji="1" lang="zh-CN" altLang="en-US"/>
              <a:t>图库冷启动</a:t>
            </a:r>
            <a:endParaRPr kumimoji="1" lang="en-US" altLang="zh-CN"/>
          </a:p>
          <a:p>
            <a:pPr>
              <a:lnSpc>
                <a:spcPct val="150000"/>
              </a:lnSpc>
            </a:pPr>
            <a:r>
              <a:rPr kumimoji="1" lang="zh-CN" altLang="en-US"/>
              <a:t>由于新一代系统中的图库代码变动，导致图库的</a:t>
            </a:r>
            <a:r>
              <a:rPr kumimoji="1" lang="en-US" altLang="zh-CN"/>
              <a:t>ml</a:t>
            </a:r>
            <a:r>
              <a:rPr kumimoji="1" lang="zh-CN" altLang="en-US"/>
              <a:t>进程会跟随图库冷启动，</a:t>
            </a:r>
            <a:r>
              <a:rPr kumimoji="1" lang="en-US" altLang="zh-CN"/>
              <a:t>ml</a:t>
            </a:r>
            <a:r>
              <a:rPr kumimoji="1" lang="zh-CN" altLang="en-US"/>
              <a:t>本质上是</a:t>
            </a:r>
            <a:r>
              <a:rPr kumimoji="1" lang="en-US" altLang="zh-CN"/>
              <a:t>medialibrary</a:t>
            </a:r>
            <a:r>
              <a:rPr kumimoji="1" lang="zh-CN" altLang="en-US"/>
              <a:t>，冷启动会与</a:t>
            </a:r>
            <a:r>
              <a:rPr kumimoji="1" lang="en-US" altLang="zh-CN"/>
              <a:t>mediaserver</a:t>
            </a:r>
            <a:r>
              <a:rPr kumimoji="1" lang="zh-CN" altLang="en-US"/>
              <a:t>进程</a:t>
            </a:r>
            <a:r>
              <a:rPr kumimoji="1" lang="en-US" altLang="zh-CN"/>
              <a:t>binder</a:t>
            </a:r>
            <a:r>
              <a:rPr kumimoji="1" lang="zh-CN" altLang="en-US"/>
              <a:t>交互进行媒体数据的同步。</a:t>
            </a:r>
            <a:endParaRPr kumimoji="1" lang="en-US" altLang="zh-CN"/>
          </a:p>
          <a:p>
            <a:pPr>
              <a:lnSpc>
                <a:spcPct val="150000"/>
              </a:lnSpc>
            </a:pPr>
            <a:r>
              <a:rPr kumimoji="1" lang="en-US" altLang="zh-CN"/>
              <a:t>2.</a:t>
            </a:r>
            <a:r>
              <a:rPr kumimoji="1" lang="zh-CN" altLang="en-US"/>
              <a:t>无干扰冷启动</a:t>
            </a:r>
            <a:endParaRPr kumimoji="1" lang="en-US" altLang="zh-CN"/>
          </a:p>
          <a:p>
            <a:pPr>
              <a:lnSpc>
                <a:spcPct val="150000"/>
              </a:lnSpc>
            </a:pPr>
            <a:r>
              <a:rPr kumimoji="1" lang="zh-CN" altLang="en-US"/>
              <a:t>在打开位置服务的情况下，小概率会触发图库的文件更新。上一代也同样有这个问题，测试次数不够没能触发这个小概率事件。</a:t>
            </a:r>
            <a:endParaRPr kumimoji="1" lang="en-US" altLang="zh-CN"/>
          </a:p>
          <a:p>
            <a:pPr>
              <a:lnSpc>
                <a:spcPct val="150000"/>
              </a:lnSpc>
            </a:pPr>
            <a:r>
              <a:rPr kumimoji="1" lang="en-US" altLang="zh-CN"/>
              <a:t>3.</a:t>
            </a:r>
            <a:r>
              <a:rPr lang="zh-CN" altLang="en-US">
                <a:latin typeface="+mn-ea"/>
              </a:rPr>
              <a:t>抖音直播间上滑十次</a:t>
            </a:r>
          </a:p>
          <a:p>
            <a:pPr>
              <a:lnSpc>
                <a:spcPct val="150000"/>
              </a:lnSpc>
            </a:pPr>
            <a:r>
              <a:rPr kumimoji="1" lang="zh-CN" altLang="en-US"/>
              <a:t>由于</a:t>
            </a:r>
            <a:r>
              <a:rPr kumimoji="1" lang="en-US" altLang="zh-CN"/>
              <a:t>trace</a:t>
            </a:r>
            <a:r>
              <a:rPr kumimoji="1" lang="zh-CN" altLang="en-US"/>
              <a:t>的问题和统计缺漏导致了上一代的数据偏小，重新统计后从平均每次播放上对比</a:t>
            </a:r>
            <a:r>
              <a:rPr kumimoji="1" lang="en-US" altLang="zh-CN"/>
              <a:t>media.c2</a:t>
            </a:r>
            <a:r>
              <a:rPr kumimoji="1" lang="zh-CN" altLang="en-US"/>
              <a:t>进程的耗时来看，两者相差不多。</a:t>
            </a:r>
          </a:p>
        </p:txBody>
      </p:sp>
    </p:spTree>
    <p:extLst>
      <p:ext uri="{BB962C8B-B14F-4D97-AF65-F5344CB8AC3E}">
        <p14:creationId xmlns:p14="http://schemas.microsoft.com/office/powerpoint/2010/main" val="41466828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0B14840B-D976-AE45-ABB6-82BDF03E8645}"/>
              </a:ext>
            </a:extLst>
          </p:cNvPr>
          <p:cNvSpPr txBox="1"/>
          <p:nvPr/>
        </p:nvSpPr>
        <p:spPr>
          <a:xfrm>
            <a:off x="417443" y="178904"/>
            <a:ext cx="146706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10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解决方案</a:t>
            </a:r>
          </a:p>
        </p:txBody>
      </p:sp>
      <p:sp>
        <p:nvSpPr>
          <p:cNvPr id="6" name="文本框 5">
            <a:extLst>
              <a:ext uri="{FF2B5EF4-FFF2-40B4-BE49-F238E27FC236}">
                <a16:creationId xmlns:a16="http://schemas.microsoft.com/office/drawing/2014/main" id="{10D0BE4B-93A1-CDD8-4689-0E4CD3159FEC}"/>
              </a:ext>
            </a:extLst>
          </p:cNvPr>
          <p:cNvSpPr txBox="1"/>
          <p:nvPr/>
        </p:nvSpPr>
        <p:spPr>
          <a:xfrm>
            <a:off x="310393" y="855677"/>
            <a:ext cx="4937762" cy="461665"/>
          </a:xfrm>
          <a:prstGeom prst="rect">
            <a:avLst/>
          </a:prstGeom>
          <a:noFill/>
        </p:spPr>
        <p:txBody>
          <a:bodyPr wrap="none" rtlCol="0">
            <a:spAutoFit/>
          </a:bodyPr>
          <a:lstStyle/>
          <a:p>
            <a:r>
              <a:rPr kumimoji="1" lang="en-US" altLang="zh-CN" sz="2400" b="1"/>
              <a:t>Python</a:t>
            </a:r>
            <a:r>
              <a:rPr kumimoji="1" lang="zh-CN" altLang="en-US" sz="2400" b="1"/>
              <a:t>定制化</a:t>
            </a:r>
            <a:r>
              <a:rPr kumimoji="1" lang="en-US" altLang="zh-CN" sz="2400" b="1"/>
              <a:t>trace</a:t>
            </a:r>
            <a:r>
              <a:rPr kumimoji="1" lang="zh-CN" altLang="en-US" sz="2400" b="1"/>
              <a:t>数据解析与处理</a:t>
            </a:r>
          </a:p>
        </p:txBody>
      </p:sp>
      <p:sp>
        <p:nvSpPr>
          <p:cNvPr id="8" name="文本框 7">
            <a:extLst>
              <a:ext uri="{FF2B5EF4-FFF2-40B4-BE49-F238E27FC236}">
                <a16:creationId xmlns:a16="http://schemas.microsoft.com/office/drawing/2014/main" id="{7C63F20B-8751-E464-759C-FB973C4E7347}"/>
              </a:ext>
            </a:extLst>
          </p:cNvPr>
          <p:cNvSpPr txBox="1"/>
          <p:nvPr/>
        </p:nvSpPr>
        <p:spPr>
          <a:xfrm>
            <a:off x="310393" y="1440117"/>
            <a:ext cx="11464164" cy="5355312"/>
          </a:xfrm>
          <a:prstGeom prst="rect">
            <a:avLst/>
          </a:prstGeom>
          <a:noFill/>
        </p:spPr>
        <p:txBody>
          <a:bodyPr wrap="square">
            <a:spAutoFit/>
          </a:bodyPr>
          <a:lstStyle/>
          <a:p>
            <a:r>
              <a:rPr lang="zh-CN" altLang="en-US"/>
              <a:t>from perfetto.trace_processor import TraceProcessor</a:t>
            </a:r>
            <a:r>
              <a:rPr lang="en-US" altLang="zh-CN"/>
              <a:t>,TraceProcessorConfig</a:t>
            </a:r>
            <a:endParaRPr lang="zh-CN" altLang="en-US"/>
          </a:p>
          <a:p>
            <a:endParaRPr lang="zh-CN" altLang="en-US"/>
          </a:p>
          <a:p>
            <a:r>
              <a:rPr lang="zh-CN" altLang="en-US"/>
              <a:t># 加载 trace 文件</a:t>
            </a:r>
          </a:p>
          <a:p>
            <a:r>
              <a:rPr lang="zh-CN" altLang="en-US"/>
              <a:t>tp = TraceProcessor(trace=</a:t>
            </a:r>
            <a:r>
              <a:rPr lang="en-US" altLang="zh-CN"/>
              <a:t>‘</a:t>
            </a:r>
            <a:r>
              <a:rPr lang="zh-CN" altLang="en-US"/>
              <a:t>trace.perfetto-trace</a:t>
            </a:r>
            <a:r>
              <a:rPr lang="en-US" altLang="zh-CN"/>
              <a:t>’ , config= TraceProcessorConfig(bin_path=‘’)</a:t>
            </a:r>
            <a:r>
              <a:rPr lang="zh-CN" altLang="en-US"/>
              <a:t>)</a:t>
            </a:r>
          </a:p>
          <a:p>
            <a:endParaRPr lang="zh-CN" altLang="en-US"/>
          </a:p>
          <a:p>
            <a:r>
              <a:rPr lang="zh-CN" altLang="en-US"/>
              <a:t># 查询数据</a:t>
            </a:r>
          </a:p>
          <a:p>
            <a:r>
              <a:rPr lang="zh-CN" altLang="en-US"/>
              <a:t>query = """查询语句"""</a:t>
            </a:r>
          </a:p>
          <a:p>
            <a:r>
              <a:rPr lang="zh-CN" altLang="en-US"/>
              <a:t>it = tp.query(query)</a:t>
            </a:r>
          </a:p>
          <a:p>
            <a:r>
              <a:rPr lang="zh-CN" altLang="en-US"/>
              <a:t>for row in it:</a:t>
            </a:r>
          </a:p>
          <a:p>
            <a:r>
              <a:rPr lang="zh-CN" altLang="en-US"/>
              <a:t>    print(row.ts, row.dur, row.name, row.track_id)</a:t>
            </a:r>
          </a:p>
          <a:p>
            <a:endParaRPr lang="zh-CN" altLang="en-US"/>
          </a:p>
          <a:p>
            <a:r>
              <a:rPr lang="zh-CN" altLang="en-US"/>
              <a:t># 或者转换为 Pandas DataFrame</a:t>
            </a:r>
          </a:p>
          <a:p>
            <a:r>
              <a:rPr lang="zh-CN" altLang="en-US"/>
              <a:t>df = tp.query(query).as_pandas_dataframe()</a:t>
            </a:r>
          </a:p>
          <a:p>
            <a:r>
              <a:rPr lang="zh-CN" altLang="en-US"/>
              <a:t>print(df.head())</a:t>
            </a:r>
          </a:p>
          <a:p>
            <a:endParaRPr lang="zh-CN" altLang="en-US"/>
          </a:p>
          <a:p>
            <a:r>
              <a:rPr lang="zh-CN" altLang="en-US"/>
              <a:t># 关闭处理器</a:t>
            </a:r>
          </a:p>
          <a:p>
            <a:r>
              <a:rPr lang="zh-CN" altLang="en-US"/>
              <a:t>tp.close()</a:t>
            </a:r>
            <a:endParaRPr lang="en-US" altLang="zh-CN"/>
          </a:p>
          <a:p>
            <a:endParaRPr lang="en-US" altLang="zh-CN"/>
          </a:p>
          <a:p>
            <a:r>
              <a:rPr lang="en-US" altLang="zh-CN"/>
              <a:t>#</a:t>
            </a:r>
            <a:r>
              <a:rPr lang="zh-CN" altLang="en-US"/>
              <a:t>后续数据处理</a:t>
            </a:r>
          </a:p>
        </p:txBody>
      </p:sp>
      <p:grpSp>
        <p:nvGrpSpPr>
          <p:cNvPr id="13" name="组合 12">
            <a:extLst>
              <a:ext uri="{FF2B5EF4-FFF2-40B4-BE49-F238E27FC236}">
                <a16:creationId xmlns:a16="http://schemas.microsoft.com/office/drawing/2014/main" id="{F0D9FA5D-13B5-F7E6-5845-A922D38F8968}"/>
              </a:ext>
            </a:extLst>
          </p:cNvPr>
          <p:cNvGrpSpPr/>
          <p:nvPr/>
        </p:nvGrpSpPr>
        <p:grpSpPr>
          <a:xfrm>
            <a:off x="6096000" y="2976275"/>
            <a:ext cx="5785607" cy="3693319"/>
            <a:chOff x="6096000" y="2976275"/>
            <a:chExt cx="5785607" cy="3693319"/>
          </a:xfrm>
        </p:grpSpPr>
        <p:sp>
          <p:nvSpPr>
            <p:cNvPr id="11" name="文本框 10">
              <a:extLst>
                <a:ext uri="{FF2B5EF4-FFF2-40B4-BE49-F238E27FC236}">
                  <a16:creationId xmlns:a16="http://schemas.microsoft.com/office/drawing/2014/main" id="{D8EFF839-6DC7-ABE7-8AD3-C447D8171267}"/>
                </a:ext>
              </a:extLst>
            </p:cNvPr>
            <p:cNvSpPr txBox="1"/>
            <p:nvPr/>
          </p:nvSpPr>
          <p:spPr>
            <a:xfrm>
              <a:off x="6160315" y="2976275"/>
              <a:ext cx="5721292" cy="3693319"/>
            </a:xfrm>
            <a:prstGeom prst="rect">
              <a:avLst/>
            </a:prstGeom>
            <a:noFill/>
          </p:spPr>
          <p:txBody>
            <a:bodyPr wrap="square">
              <a:spAutoFit/>
            </a:bodyPr>
            <a:lstStyle/>
            <a:p>
              <a:r>
                <a:rPr lang="zh-CN" altLang="en-US"/>
                <a:t>SELECT</a:t>
              </a:r>
            </a:p>
            <a:p>
              <a:r>
                <a:rPr lang="zh-CN" altLang="en-US"/>
                <a:t>  thread.name AS thread_name,</a:t>
              </a:r>
            </a:p>
            <a:p>
              <a:r>
                <a:rPr lang="zh-CN" altLang="en-US"/>
                <a:t>  SUM(sched.dur) / 1e6 AS total_cpu_time_ms,</a:t>
              </a:r>
            </a:p>
            <a:p>
              <a:r>
                <a:rPr lang="zh-CN" altLang="en-US"/>
                <a:t>  COUNT(*) AS schedule_count,</a:t>
              </a:r>
            </a:p>
            <a:p>
              <a:r>
                <a:rPr lang="zh-CN" altLang="en-US"/>
                <a:t>  SUM(sched.dur) / 1e6 / (MAX(sched.ts + sched.dur) - MIN(sched.ts)) * 1e9 AS cpu_usage_percentage</a:t>
              </a:r>
            </a:p>
            <a:p>
              <a:r>
                <a:rPr lang="zh-CN" altLang="en-US"/>
                <a:t>FROM sched</a:t>
              </a:r>
            </a:p>
            <a:p>
              <a:r>
                <a:rPr lang="zh-CN" altLang="en-US"/>
                <a:t>JOIN thread ON sched.utid = thread.utid</a:t>
              </a:r>
            </a:p>
            <a:p>
              <a:r>
                <a:rPr lang="zh-CN" altLang="en-US"/>
                <a:t>JOIN process ON thread.upid = process.upid</a:t>
              </a:r>
            </a:p>
            <a:p>
              <a:r>
                <a:rPr lang="zh-CN" altLang="en-US"/>
                <a:t>WHERE process.name = '你的进程名'  -- 替换为你要查询的进程名</a:t>
              </a:r>
            </a:p>
            <a:p>
              <a:r>
                <a:rPr lang="zh-CN" altLang="en-US"/>
                <a:t>GROUP BY thread.name</a:t>
              </a:r>
            </a:p>
            <a:p>
              <a:r>
                <a:rPr lang="zh-CN" altLang="en-US"/>
                <a:t>ORDER BY total_cpu_time_ms DESC;</a:t>
              </a:r>
            </a:p>
          </p:txBody>
        </p:sp>
        <p:sp>
          <p:nvSpPr>
            <p:cNvPr id="12" name="圆角矩形 11">
              <a:extLst>
                <a:ext uri="{FF2B5EF4-FFF2-40B4-BE49-F238E27FC236}">
                  <a16:creationId xmlns:a16="http://schemas.microsoft.com/office/drawing/2014/main" id="{2FFA8446-CA27-52DC-69FF-C70B5EAE30BC}"/>
                </a:ext>
              </a:extLst>
            </p:cNvPr>
            <p:cNvSpPr/>
            <p:nvPr/>
          </p:nvSpPr>
          <p:spPr>
            <a:xfrm>
              <a:off x="6096000" y="2989939"/>
              <a:ext cx="5589864" cy="3665989"/>
            </a:xfrm>
            <a:prstGeom prst="roundRect">
              <a:avLst>
                <a:gd name="adj" fmla="val 5225"/>
              </a:avLst>
            </a:prstGeom>
            <a:no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4" name="右箭头 13">
            <a:extLst>
              <a:ext uri="{FF2B5EF4-FFF2-40B4-BE49-F238E27FC236}">
                <a16:creationId xmlns:a16="http://schemas.microsoft.com/office/drawing/2014/main" id="{E8E657D2-142B-F4A4-AE80-9015ADAE77E8}"/>
              </a:ext>
            </a:extLst>
          </p:cNvPr>
          <p:cNvSpPr/>
          <p:nvPr/>
        </p:nvSpPr>
        <p:spPr>
          <a:xfrm>
            <a:off x="2951461" y="3050628"/>
            <a:ext cx="3037489" cy="378372"/>
          </a:xfrm>
          <a:prstGeom prst="rightArrow">
            <a:avLst/>
          </a:prstGeom>
          <a:solidFill>
            <a:schemeClr val="accent1">
              <a:lumMod val="75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490672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2602523" y="2708031"/>
            <a:ext cx="6978162" cy="7209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05 </a:t>
            </a:r>
            <a:r>
              <a:rPr kumimoji="0" lang="zh-CN" altLang="en-US" sz="4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总结</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A8ADB167-A94C-995D-C456-5CF82381DED2}"/>
              </a:ext>
            </a:extLst>
          </p:cNvPr>
          <p:cNvSpPr/>
          <p:nvPr/>
        </p:nvSpPr>
        <p:spPr>
          <a:xfrm>
            <a:off x="417443" y="5559901"/>
            <a:ext cx="11562036" cy="763743"/>
          </a:xfrm>
          <a:prstGeom prst="rect">
            <a:avLst/>
          </a:prstGeom>
          <a:solidFill>
            <a:schemeClr val="accent1">
              <a:lumMod val="60000"/>
              <a:lumOff val="40000"/>
            </a:schemeClr>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a:solidFill>
                  <a:schemeClr val="tx1"/>
                </a:solidFill>
              </a:rPr>
              <a:t>Trace</a:t>
            </a:r>
            <a:r>
              <a:rPr kumimoji="1" lang="zh-CN" altLang="en-US">
                <a:solidFill>
                  <a:schemeClr val="tx1"/>
                </a:solidFill>
              </a:rPr>
              <a:t>的本地</a:t>
            </a:r>
            <a:r>
              <a:rPr kumimoji="1" lang="en-US" altLang="zh-CN">
                <a:solidFill>
                  <a:schemeClr val="tx1"/>
                </a:solidFill>
              </a:rPr>
              <a:t>Python</a:t>
            </a:r>
            <a:r>
              <a:rPr kumimoji="1" lang="zh-CN" altLang="en-US">
                <a:solidFill>
                  <a:schemeClr val="tx1"/>
                </a:solidFill>
              </a:rPr>
              <a:t>定制化解析可以为这类问题的分析上增添一大助力，不单单是省去了人工数据对比的时间，更是可以支持</a:t>
            </a:r>
            <a:r>
              <a:rPr kumimoji="1" lang="en-US" altLang="zh-CN">
                <a:solidFill>
                  <a:schemeClr val="tx1"/>
                </a:solidFill>
              </a:rPr>
              <a:t>pandas</a:t>
            </a:r>
            <a:r>
              <a:rPr kumimoji="1" lang="zh-CN" altLang="en-US">
                <a:solidFill>
                  <a:schemeClr val="tx1"/>
                </a:solidFill>
              </a:rPr>
              <a:t>大数据的处理，极大的拓展了开发人员对更多</a:t>
            </a:r>
            <a:r>
              <a:rPr kumimoji="1" lang="en-US" altLang="zh-CN">
                <a:solidFill>
                  <a:schemeClr val="tx1"/>
                </a:solidFill>
              </a:rPr>
              <a:t>trace</a:t>
            </a:r>
            <a:r>
              <a:rPr kumimoji="1" lang="zh-CN" altLang="en-US">
                <a:solidFill>
                  <a:schemeClr val="tx1"/>
                </a:solidFill>
              </a:rPr>
              <a:t>问题的分析手段。</a:t>
            </a:r>
          </a:p>
        </p:txBody>
      </p:sp>
      <p:sp>
        <p:nvSpPr>
          <p:cNvPr id="5" name="文本框 4"/>
          <p:cNvSpPr txBox="1"/>
          <p:nvPr/>
        </p:nvSpPr>
        <p:spPr>
          <a:xfrm>
            <a:off x="417443" y="178904"/>
            <a:ext cx="825867" cy="461665"/>
          </a:xfrm>
          <a:prstGeom prst="rect">
            <a:avLst/>
          </a:prstGeom>
          <a:noFill/>
        </p:spPr>
        <p:txBody>
          <a:bodyPr wrap="none" rtlCol="0">
            <a:spAutoFit/>
          </a:bodyPr>
          <a:lstStyle/>
          <a:p>
            <a:r>
              <a:rPr lang="zh-CN" altLang="en-US" sz="2400" b="1" spc="100" dirty="0">
                <a:latin typeface="微软雅黑" panose="020B0503020204020204" pitchFamily="34" charset="-122"/>
                <a:ea typeface="微软雅黑" panose="020B0503020204020204" pitchFamily="34" charset="-122"/>
              </a:rPr>
              <a:t>总结</a:t>
            </a:r>
          </a:p>
        </p:txBody>
      </p:sp>
      <p:sp>
        <p:nvSpPr>
          <p:cNvPr id="2" name="文本框 1">
            <a:extLst>
              <a:ext uri="{FF2B5EF4-FFF2-40B4-BE49-F238E27FC236}">
                <a16:creationId xmlns:a16="http://schemas.microsoft.com/office/drawing/2014/main" id="{BF259E42-A9DF-1568-A780-F170EEE91EF0}"/>
              </a:ext>
            </a:extLst>
          </p:cNvPr>
          <p:cNvSpPr txBox="1"/>
          <p:nvPr/>
        </p:nvSpPr>
        <p:spPr>
          <a:xfrm>
            <a:off x="419182" y="819294"/>
            <a:ext cx="1127232" cy="461665"/>
          </a:xfrm>
          <a:prstGeom prst="rect">
            <a:avLst/>
          </a:prstGeom>
          <a:noFill/>
        </p:spPr>
        <p:txBody>
          <a:bodyPr wrap="none" rtlCol="0">
            <a:spAutoFit/>
          </a:bodyPr>
          <a:lstStyle/>
          <a:p>
            <a:r>
              <a:rPr kumimoji="1" lang="zh-CN" altLang="en-US" sz="2400" b="1"/>
              <a:t>方法论</a:t>
            </a:r>
          </a:p>
        </p:txBody>
      </p:sp>
      <p:sp>
        <p:nvSpPr>
          <p:cNvPr id="3" name="文本框 2">
            <a:extLst>
              <a:ext uri="{FF2B5EF4-FFF2-40B4-BE49-F238E27FC236}">
                <a16:creationId xmlns:a16="http://schemas.microsoft.com/office/drawing/2014/main" id="{26BA6592-311E-D267-22E7-B745835040E0}"/>
              </a:ext>
            </a:extLst>
          </p:cNvPr>
          <p:cNvSpPr txBox="1"/>
          <p:nvPr/>
        </p:nvSpPr>
        <p:spPr>
          <a:xfrm>
            <a:off x="417443" y="1191237"/>
            <a:ext cx="11494924" cy="4199868"/>
          </a:xfrm>
          <a:prstGeom prst="rect">
            <a:avLst/>
          </a:prstGeom>
          <a:noFill/>
        </p:spPr>
        <p:txBody>
          <a:bodyPr wrap="square" rtlCol="0">
            <a:spAutoFit/>
          </a:bodyPr>
          <a:lstStyle/>
          <a:p>
            <a:pPr>
              <a:lnSpc>
                <a:spcPct val="150000"/>
              </a:lnSpc>
            </a:pPr>
            <a:r>
              <a:rPr kumimoji="1" lang="zh-CN" altLang="en-US"/>
              <a:t>负载模型的问题按负载类型区分主要有两大类：一个是同步</a:t>
            </a:r>
            <a:r>
              <a:rPr kumimoji="1" lang="en-US" altLang="zh-CN"/>
              <a:t>binder</a:t>
            </a:r>
            <a:r>
              <a:rPr kumimoji="1" lang="zh-CN" altLang="en-US"/>
              <a:t>负载，一个是</a:t>
            </a:r>
            <a:r>
              <a:rPr kumimoji="1" lang="en-US" altLang="zh-CN"/>
              <a:t>CPU</a:t>
            </a:r>
            <a:r>
              <a:rPr kumimoji="1" lang="zh-CN" altLang="en-US"/>
              <a:t>耗时负载。两者虽然在形式上有着本质的区别，但是分析方法上都是一致的，那就是定位出超出的部分并去寻找原因。</a:t>
            </a:r>
            <a:endParaRPr kumimoji="1" lang="en-US" altLang="zh-CN"/>
          </a:p>
          <a:p>
            <a:pPr>
              <a:lnSpc>
                <a:spcPct val="150000"/>
              </a:lnSpc>
            </a:pPr>
            <a:r>
              <a:rPr kumimoji="1" lang="zh-CN" altLang="en-US"/>
              <a:t>        </a:t>
            </a:r>
            <a:r>
              <a:rPr kumimoji="1" lang="en-US" altLang="zh-CN"/>
              <a:t>1.Binder</a:t>
            </a:r>
            <a:r>
              <a:rPr kumimoji="1" lang="zh-CN" altLang="en-US"/>
              <a:t>的分析上主要是要遍历所有</a:t>
            </a:r>
            <a:r>
              <a:rPr kumimoji="1" lang="en-US" altLang="zh-CN"/>
              <a:t>binder</a:t>
            </a:r>
            <a:r>
              <a:rPr kumimoji="1" lang="zh-CN" altLang="en-US"/>
              <a:t>，将</a:t>
            </a:r>
            <a:r>
              <a:rPr kumimoji="1" lang="en-US" altLang="zh-CN"/>
              <a:t>binder</a:t>
            </a:r>
            <a:r>
              <a:rPr kumimoji="1" lang="zh-CN" altLang="en-US"/>
              <a:t>进行归类，区分不同的调用源。再根据不同的调用源头去找对应的领域去分析差异。</a:t>
            </a:r>
            <a:endParaRPr kumimoji="1" lang="en-US" altLang="zh-CN"/>
          </a:p>
          <a:p>
            <a:pPr>
              <a:lnSpc>
                <a:spcPct val="150000"/>
              </a:lnSpc>
            </a:pPr>
            <a:r>
              <a:rPr kumimoji="1" lang="zh-CN" altLang="en-US"/>
              <a:t>       </a:t>
            </a:r>
            <a:r>
              <a:rPr kumimoji="1" lang="en-US" altLang="zh-CN"/>
              <a:t>2.CPU</a:t>
            </a:r>
            <a:r>
              <a:rPr kumimoji="1" lang="zh-CN" altLang="en-US"/>
              <a:t>的耗时分析要复杂一些，不像</a:t>
            </a:r>
            <a:r>
              <a:rPr kumimoji="1" lang="en-US" altLang="zh-CN"/>
              <a:t>binder</a:t>
            </a:r>
            <a:r>
              <a:rPr kumimoji="1" lang="zh-CN" altLang="en-US"/>
              <a:t>只是从数量上就可以解析清楚。往往一个进程的耗时是多个方面的因素共同作用的，不但是业务上可能存在的差别，线程数量上和不同线程运行的运行时间往往也是不同的。对于这类问题最好的分析方式就是先抓大放小，在找到一个根因后去进行类推，这种方式不仅逻辑清晰且高效，保证问题的分析始终朝着真相的方向前进。对于场景三来说，由于影响的因素众多，单从硬解码的次数上直接去对问题进行定量是不够的。这时候找出一个差异的最大组，再将两者之间线程的耗时进行逐个比对，选出差异最大的线程顺藤摸瓜后就可以发现问题的真正原因。</a:t>
            </a:r>
            <a:endParaRPr kumimoji="1" lang="en-US" altLang="zh-C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2"/>
          <a:stretch>
            <a:fillRect/>
          </a:stretch>
        </a:blipFill>
        <a:effectLst/>
      </p:bgPr>
    </p:bg>
    <p:spTree>
      <p:nvGrpSpPr>
        <p:cNvPr id="1" name=""/>
        <p:cNvGrpSpPr/>
        <p:nvPr/>
      </p:nvGrpSpPr>
      <p:grpSpPr>
        <a:xfrm>
          <a:off x="0" y="0"/>
          <a:ext cx="0" cy="0"/>
          <a:chOff x="0" y="0"/>
          <a:chExt cx="0" cy="0"/>
        </a:xfrm>
      </p:grpSpPr>
      <p:sp>
        <p:nvSpPr>
          <p:cNvPr id="7" name="矩形 6"/>
          <p:cNvSpPr/>
          <p:nvPr/>
        </p:nvSpPr>
        <p:spPr>
          <a:xfrm>
            <a:off x="4219827" y="2572068"/>
            <a:ext cx="6552730" cy="922020"/>
          </a:xfrm>
          <a:prstGeom prst="rect">
            <a:avLst/>
          </a:prstGeom>
          <a:noFill/>
          <a:effectLst/>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愿景</a:t>
            </a:r>
            <a:br>
              <a:rPr kumimoji="0" lang="en-US" altLang="zh-CN" sz="2400" b="1" i="0" u="none" strike="noStrike" kern="1200" cap="none" spc="0" normalizeH="0" baseline="0" noProof="0" dirty="0">
                <a:ln>
                  <a:noFill/>
                </a:ln>
                <a:solidFill>
                  <a:prstClr val="white"/>
                </a:solidFill>
                <a:effectLst>
                  <a:reflection blurRad="6350" stA="26000" endPos="60000" dist="60007" dir="5400000" sy="-100000" algn="bl" rotWithShape="0"/>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br>
            <a:r>
              <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微软雅黑" panose="020B0503020204020204" pitchFamily="34" charset="-122"/>
                <a:sym typeface="+mn-lt"/>
              </a:rPr>
              <a:t>成为领先的智能产品和服务提供商</a:t>
            </a:r>
          </a:p>
        </p:txBody>
      </p:sp>
      <p:sp>
        <p:nvSpPr>
          <p:cNvPr id="8" name="矩形 7"/>
          <p:cNvSpPr/>
          <p:nvPr/>
        </p:nvSpPr>
        <p:spPr>
          <a:xfrm>
            <a:off x="4219827" y="1593273"/>
            <a:ext cx="6552730" cy="922020"/>
          </a:xfrm>
          <a:prstGeom prst="rect">
            <a:avLst/>
          </a:prstGeom>
          <a:noFill/>
          <a:effec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使命</a:t>
            </a:r>
            <a:br>
              <a:rPr kumimoji="0" lang="en-US" altLang="zh-CN" sz="1600" b="1" i="0" u="none" strike="noStrike" kern="1200" cap="none" spc="0" normalizeH="0" baseline="0" noProof="0" dirty="0">
                <a:ln>
                  <a:noFill/>
                </a:ln>
                <a:solidFill>
                  <a:prstClr val="white"/>
                </a:solidFill>
                <a:effectLst>
                  <a:reflection blurRad="6350" stA="26000" endPos="60000" dist="60007" dir="5400000" sy="-100000" algn="bl" rotWithShape="0"/>
                </a:effectLst>
                <a:uLnTx/>
                <a:uFillTx/>
                <a:latin typeface="Arial" panose="020B0604020202020204"/>
                <a:ea typeface="黑体" panose="02010609060101010101" pitchFamily="49" charset="-122"/>
                <a:cs typeface="+mn-ea"/>
                <a:sym typeface="+mn-lt"/>
              </a:rPr>
            </a:br>
            <a:r>
              <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用科技为社会创造新价值</a:t>
            </a:r>
          </a:p>
        </p:txBody>
      </p:sp>
      <p:sp>
        <p:nvSpPr>
          <p:cNvPr id="9" name="矩形 8"/>
          <p:cNvSpPr/>
          <p:nvPr/>
        </p:nvSpPr>
        <p:spPr>
          <a:xfrm>
            <a:off x="4208735" y="3556261"/>
            <a:ext cx="3320619" cy="1660525"/>
          </a:xfrm>
          <a:prstGeom prst="rect">
            <a:avLst/>
          </a:prstGeom>
          <a:effec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核心价值观</a:t>
            </a:r>
            <a:br>
              <a:rPr kumimoji="0" lang="en-US" altLang="zh-CN" sz="2400" b="1" i="0" u="none" strike="noStrike" kern="1200" cap="none" spc="0" normalizeH="0" baseline="0" noProof="0" dirty="0">
                <a:ln>
                  <a:noFill/>
                </a:ln>
                <a:solidFill>
                  <a:prstClr val="white"/>
                </a:solidFill>
                <a:effectLst>
                  <a:reflection blurRad="6350" stA="26000" endPos="60000" dist="60007" dir="5400000" sy="-100000" algn="bl" rotWithShape="0"/>
                </a:effectLst>
                <a:uLnTx/>
                <a:uFillTx/>
                <a:latin typeface="Arial" panose="020B0604020202020204"/>
                <a:ea typeface="黑体" panose="02010609060101010101" pitchFamily="49" charset="-122"/>
                <a:cs typeface="+mn-ea"/>
                <a:sym typeface="+mn-lt"/>
              </a:rPr>
            </a:br>
            <a:r>
              <a:rPr kumimoji="0" lang="en-US" altLang="zh-CN" sz="1600" b="0"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以客户为中心</a:t>
            </a:r>
            <a:endPar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以贡献者为本</a:t>
            </a:r>
            <a:endPar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1600" b="0"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ea"/>
                <a:sym typeface="+mn-lt"/>
              </a:rPr>
              <a:t>长期主义</a:t>
            </a:r>
            <a:endParaRPr kumimoji="0" lang="en-US" altLang="zh-CN" sz="16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ea"/>
              <a:sym typeface="+mn-lt"/>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14743de0-5e1a-441d-be10-301dd693b907"/>
  <p:tag name="COMMONDATA" val="eyJoZGlkIjoiMGRmYjFhMjIwNDUzYWFiMGEwYTJlN2M1MTIxYjZmYTIifQ=="/>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c2cf2efd-bf1c-49fc-87d7-9106375ae17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5400">
          <a:solidFill>
            <a:srgbClr val="FF0000"/>
          </a:solidFill>
        </a:ln>
      </a:spPr>
      <a:bodyPr rtlCol="0" anchor="ctr"/>
      <a:lstStyle>
        <a:defPPr algn="ctr">
          <a:defRPr kumimoji="1"/>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3785</Words>
  <Application>Microsoft Macintosh PowerPoint</Application>
  <PresentationFormat>宽屏</PresentationFormat>
  <Paragraphs>637</Paragraphs>
  <Slides>29</Slides>
  <Notes>0</Notes>
  <HiddenSlides>0</HiddenSlides>
  <MMClips>0</MMClips>
  <ScaleCrop>false</ScaleCrop>
  <HeadingPairs>
    <vt:vector size="6" baseType="variant">
      <vt:variant>
        <vt:lpstr>已用的字体</vt:lpstr>
      </vt:variant>
      <vt:variant>
        <vt:i4>11</vt:i4>
      </vt:variant>
      <vt:variant>
        <vt:lpstr>主题</vt:lpstr>
      </vt:variant>
      <vt:variant>
        <vt:i4>4</vt:i4>
      </vt:variant>
      <vt:variant>
        <vt:lpstr>幻灯片标题</vt:lpstr>
      </vt:variant>
      <vt:variant>
        <vt:i4>29</vt:i4>
      </vt:variant>
    </vt:vector>
  </HeadingPairs>
  <TitlesOfParts>
    <vt:vector size="44" baseType="lpstr">
      <vt:lpstr>等线</vt:lpstr>
      <vt:lpstr>等线 Light</vt:lpstr>
      <vt:lpstr>楷体</vt:lpstr>
      <vt:lpstr>Microsoft YaHei</vt:lpstr>
      <vt:lpstr>Microsoft YaHei</vt:lpstr>
      <vt:lpstr>Arial</vt:lpstr>
      <vt:lpstr>Arial Black</vt:lpstr>
      <vt:lpstr>Calibri</vt:lpstr>
      <vt:lpstr>Consolas</vt:lpstr>
      <vt:lpstr>Helvetica Neue</vt:lpstr>
      <vt:lpstr>Open Sans</vt:lpstr>
      <vt:lpstr>Office 主题</vt:lpstr>
      <vt:lpstr>1_Office 主题​​</vt:lpstr>
      <vt:lpstr>Office 主题​​</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2025-02-28T01:38:42Z</dcterms:created>
  <dcterms:modified xsi:type="dcterms:W3CDTF">2025-09-07T14:20:54Z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13D70385650B408FAEB72BEBD79E2F81</vt:lpwstr>
  </property>
  <property fmtid="{D5CDD505-2E9C-101B-9397-08002B2CF9AE}" pid="3" name="KSOProductBuildVer">
    <vt:lpwstr>2052-0.0.0.0</vt:lpwstr>
  </property>
</Properties>
</file>